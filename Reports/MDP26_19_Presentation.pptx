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slideLayouts/slideLayout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59" r:id="rId2"/>
    <p:sldMasterId id="2147483888" r:id="rId3"/>
  </p:sldMasterIdLst>
  <p:notesMasterIdLst>
    <p:notesMasterId r:id="rId27"/>
  </p:notesMasterIdLst>
  <p:handoutMasterIdLst>
    <p:handoutMasterId r:id="rId28"/>
  </p:handoutMasterIdLst>
  <p:sldIdLst>
    <p:sldId id="276" r:id="rId4"/>
    <p:sldId id="259" r:id="rId5"/>
    <p:sldId id="260" r:id="rId6"/>
    <p:sldId id="263" r:id="rId7"/>
    <p:sldId id="268" r:id="rId8"/>
    <p:sldId id="270" r:id="rId9"/>
    <p:sldId id="272" r:id="rId10"/>
    <p:sldId id="278" r:id="rId11"/>
    <p:sldId id="269" r:id="rId12"/>
    <p:sldId id="264" r:id="rId13"/>
    <p:sldId id="279" r:id="rId14"/>
    <p:sldId id="286" r:id="rId15"/>
    <p:sldId id="283" r:id="rId16"/>
    <p:sldId id="285" r:id="rId17"/>
    <p:sldId id="282" r:id="rId18"/>
    <p:sldId id="271" r:id="rId19"/>
    <p:sldId id="280" r:id="rId20"/>
    <p:sldId id="287" r:id="rId21"/>
    <p:sldId id="281" r:id="rId22"/>
    <p:sldId id="277" r:id="rId23"/>
    <p:sldId id="265" r:id="rId24"/>
    <p:sldId id="288" r:id="rId25"/>
    <p:sldId id="261" r:id="rId26"/>
  </p:sldIdLst>
  <p:sldSz cx="9144000" cy="6858000" type="screen4x3"/>
  <p:notesSz cx="6858000" cy="9144000"/>
  <p:defaultTex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C72"/>
    <a:srgbClr val="336699"/>
    <a:srgbClr val="000099"/>
    <a:srgbClr val="AF191D"/>
    <a:srgbClr val="CD28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54" autoAdjust="0"/>
    <p:restoredTop sz="79078"/>
  </p:normalViewPr>
  <p:slideViewPr>
    <p:cSldViewPr snapToGrid="0" snapToObjects="1">
      <p:cViewPr varScale="1">
        <p:scale>
          <a:sx n="102" d="100"/>
          <a:sy n="102" d="100"/>
        </p:scale>
        <p:origin x="1800" y="168"/>
      </p:cViewPr>
      <p:guideLst>
        <p:guide orient="horz" pos="2160"/>
        <p:guide pos="2880"/>
      </p:guideLst>
    </p:cSldViewPr>
  </p:slideViewPr>
  <p:notesTextViewPr>
    <p:cViewPr>
      <p:scale>
        <a:sx n="100" d="100"/>
        <a:sy n="100" d="100"/>
      </p:scale>
      <p:origin x="0" y="0"/>
    </p:cViewPr>
  </p:notesTextViewPr>
  <p:notesViewPr>
    <p:cSldViewPr snapToGrid="0" snapToObjects="1">
      <p:cViewPr varScale="1">
        <p:scale>
          <a:sx n="86" d="100"/>
          <a:sy n="86" d="100"/>
        </p:scale>
        <p:origin x="3000"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645CD1E-21EE-E042-B3AF-ADA902B525E3}" type="doc">
      <dgm:prSet loTypeId="urn:microsoft.com/office/officeart/2005/8/layout/process1" loCatId="" qsTypeId="urn:microsoft.com/office/officeart/2005/8/quickstyle/simple1" qsCatId="simple" csTypeId="urn:microsoft.com/office/officeart/2005/8/colors/accent0_1" csCatId="mainScheme" phldr="1"/>
      <dgm:spPr/>
    </dgm:pt>
    <dgm:pt modelId="{C53A8FEA-1768-2245-AF38-ADBB5C594FCB}">
      <dgm:prSet phldrT="[Text]" custT="1"/>
      <dgm:spPr/>
      <dgm:t>
        <a:bodyPr/>
        <a:lstStyle/>
        <a:p>
          <a:r>
            <a:rPr lang="en-US" sz="1400" dirty="0">
              <a:latin typeface="Nadeem" pitchFamily="2" charset="-78"/>
              <a:cs typeface="Nadeem" pitchFamily="2" charset="-78"/>
            </a:rPr>
            <a:t>Satellite Data</a:t>
          </a:r>
        </a:p>
      </dgm:t>
    </dgm:pt>
    <dgm:pt modelId="{22A522E5-580A-A140-B2B2-EBA8C498F4A2}" type="parTrans" cxnId="{04D6101E-94E8-3B47-A238-2F2F3F45DBCE}">
      <dgm:prSet/>
      <dgm:spPr/>
      <dgm:t>
        <a:bodyPr/>
        <a:lstStyle/>
        <a:p>
          <a:endParaRPr lang="en-US" sz="1400">
            <a:latin typeface="Nadeem" pitchFamily="2" charset="-78"/>
            <a:cs typeface="Nadeem" pitchFamily="2" charset="-78"/>
          </a:endParaRPr>
        </a:p>
      </dgm:t>
    </dgm:pt>
    <dgm:pt modelId="{ADAFC135-4526-9748-BA6C-C8F9A03F36C7}" type="sibTrans" cxnId="{04D6101E-94E8-3B47-A238-2F2F3F45DBCE}">
      <dgm:prSet custT="1"/>
      <dgm:spPr>
        <a:solidFill>
          <a:schemeClr val="accent1">
            <a:lumMod val="20000"/>
            <a:lumOff val="80000"/>
          </a:schemeClr>
        </a:solidFill>
        <a:ln>
          <a:solidFill>
            <a:schemeClr val="dk1">
              <a:shade val="80000"/>
              <a:hueOff val="0"/>
              <a:satOff val="0"/>
              <a:lumOff val="0"/>
            </a:schemeClr>
          </a:solidFill>
        </a:ln>
      </dgm:spPr>
      <dgm:t>
        <a:bodyPr/>
        <a:lstStyle/>
        <a:p>
          <a:pPr rtl="0"/>
          <a:endParaRPr lang="en-US" sz="1400">
            <a:latin typeface="Nadeem" pitchFamily="2" charset="-78"/>
            <a:cs typeface="Nadeem" pitchFamily="2" charset="-78"/>
          </a:endParaRPr>
        </a:p>
      </dgm:t>
    </dgm:pt>
    <dgm:pt modelId="{DE918562-1BCA-8F43-81E9-BFDA1A3F66CE}">
      <dgm:prSet phldrT="[Text]" custT="1"/>
      <dgm:spPr/>
      <dgm:t>
        <a:bodyPr/>
        <a:lstStyle/>
        <a:p>
          <a:r>
            <a:rPr lang="en-US" sz="1400" dirty="0">
              <a:latin typeface="Nadeem" pitchFamily="2" charset="-78"/>
              <a:cs typeface="Nadeem" pitchFamily="2" charset="-78"/>
            </a:rPr>
            <a:t>Forecast</a:t>
          </a:r>
        </a:p>
      </dgm:t>
    </dgm:pt>
    <dgm:pt modelId="{8E232C59-D5F4-254F-AB20-068591DD6AC4}" type="parTrans" cxnId="{8074059B-B25E-414A-BF17-8E1E3C605DEA}">
      <dgm:prSet/>
      <dgm:spPr/>
      <dgm:t>
        <a:bodyPr/>
        <a:lstStyle/>
        <a:p>
          <a:endParaRPr lang="en-US" sz="1400">
            <a:latin typeface="Nadeem" pitchFamily="2" charset="-78"/>
            <a:cs typeface="Nadeem" pitchFamily="2" charset="-78"/>
          </a:endParaRPr>
        </a:p>
      </dgm:t>
    </dgm:pt>
    <dgm:pt modelId="{7DBF5B1B-6846-E54F-839B-5FCABBABC1FD}" type="sibTrans" cxnId="{8074059B-B25E-414A-BF17-8E1E3C605DEA}">
      <dgm:prSet/>
      <dgm:spPr/>
      <dgm:t>
        <a:bodyPr/>
        <a:lstStyle/>
        <a:p>
          <a:endParaRPr lang="en-US" sz="1400">
            <a:latin typeface="Nadeem" pitchFamily="2" charset="-78"/>
            <a:cs typeface="Nadeem" pitchFamily="2" charset="-78"/>
          </a:endParaRPr>
        </a:p>
      </dgm:t>
    </dgm:pt>
    <dgm:pt modelId="{B4D0E1F9-7B8A-D94C-BB58-521B7AA54C2D}">
      <dgm:prSet custT="1"/>
      <dgm:spPr/>
      <dgm:t>
        <a:bodyPr/>
        <a:lstStyle/>
        <a:p>
          <a:r>
            <a:rPr lang="en-US" sz="1400" dirty="0">
              <a:latin typeface="Nadeem" pitchFamily="2" charset="-78"/>
              <a:cs typeface="Nadeem" pitchFamily="2" charset="-78"/>
            </a:rPr>
            <a:t>Preprocessing</a:t>
          </a:r>
        </a:p>
      </dgm:t>
    </dgm:pt>
    <dgm:pt modelId="{E602F0E1-024A-5943-96CD-648C58745FC5}" type="parTrans" cxnId="{2E36D094-A26B-684D-BBF8-31ABB72C2AF6}">
      <dgm:prSet/>
      <dgm:spPr/>
      <dgm:t>
        <a:bodyPr/>
        <a:lstStyle/>
        <a:p>
          <a:endParaRPr lang="en-US" sz="1400">
            <a:latin typeface="Nadeem" pitchFamily="2" charset="-78"/>
            <a:cs typeface="Nadeem" pitchFamily="2" charset="-78"/>
          </a:endParaRPr>
        </a:p>
      </dgm:t>
    </dgm:pt>
    <dgm:pt modelId="{900468DC-A44A-4241-B10A-E2D21A7C9745}" type="sibTrans" cxnId="{2E36D094-A26B-684D-BBF8-31ABB72C2AF6}">
      <dgm:prSet custT="1"/>
      <dgm:spPr>
        <a:solidFill>
          <a:schemeClr val="accent1">
            <a:lumMod val="20000"/>
            <a:lumOff val="80000"/>
          </a:schemeClr>
        </a:solidFill>
        <a:ln>
          <a:solidFill>
            <a:schemeClr val="dk1">
              <a:shade val="80000"/>
              <a:hueOff val="0"/>
              <a:satOff val="0"/>
              <a:lumOff val="0"/>
            </a:schemeClr>
          </a:solidFill>
        </a:ln>
      </dgm:spPr>
      <dgm:t>
        <a:bodyPr/>
        <a:lstStyle/>
        <a:p>
          <a:pPr rtl="0"/>
          <a:endParaRPr lang="en-US" sz="1400">
            <a:latin typeface="Nadeem" pitchFamily="2" charset="-78"/>
            <a:cs typeface="Nadeem" pitchFamily="2" charset="-78"/>
          </a:endParaRPr>
        </a:p>
      </dgm:t>
    </dgm:pt>
    <dgm:pt modelId="{4B5852E1-5CC3-BC40-952F-1E5DE1FB03D2}">
      <dgm:prSet custT="1"/>
      <dgm:spPr/>
      <dgm:t>
        <a:bodyPr/>
        <a:lstStyle/>
        <a:p>
          <a:r>
            <a:rPr lang="en-US" sz="1400" dirty="0">
              <a:latin typeface="Nadeem" pitchFamily="2" charset="-78"/>
              <a:cs typeface="Nadeem" pitchFamily="2" charset="-78"/>
            </a:rPr>
            <a:t>LSTM Model</a:t>
          </a:r>
        </a:p>
      </dgm:t>
    </dgm:pt>
    <dgm:pt modelId="{4EFBE252-6A86-0D41-8802-D93243F16E71}" type="parTrans" cxnId="{4953CBC3-8610-CD4B-A364-9C1DC5430F65}">
      <dgm:prSet/>
      <dgm:spPr/>
      <dgm:t>
        <a:bodyPr/>
        <a:lstStyle/>
        <a:p>
          <a:endParaRPr lang="en-US" sz="1400">
            <a:latin typeface="Nadeem" pitchFamily="2" charset="-78"/>
            <a:cs typeface="Nadeem" pitchFamily="2" charset="-78"/>
          </a:endParaRPr>
        </a:p>
      </dgm:t>
    </dgm:pt>
    <dgm:pt modelId="{C7D3B008-3490-1E4A-A69E-9F796DD11D15}" type="sibTrans" cxnId="{4953CBC3-8610-CD4B-A364-9C1DC5430F65}">
      <dgm:prSet custT="1"/>
      <dgm:spPr>
        <a:solidFill>
          <a:schemeClr val="accent1">
            <a:lumMod val="20000"/>
            <a:lumOff val="80000"/>
          </a:schemeClr>
        </a:solidFill>
        <a:ln>
          <a:solidFill>
            <a:schemeClr val="dk1">
              <a:shade val="80000"/>
              <a:hueOff val="0"/>
              <a:satOff val="0"/>
              <a:lumOff val="0"/>
            </a:schemeClr>
          </a:solidFill>
        </a:ln>
      </dgm:spPr>
      <dgm:t>
        <a:bodyPr/>
        <a:lstStyle/>
        <a:p>
          <a:pPr rtl="0"/>
          <a:endParaRPr lang="en-US" sz="1400">
            <a:latin typeface="Nadeem" pitchFamily="2" charset="-78"/>
            <a:cs typeface="Nadeem" pitchFamily="2" charset="-78"/>
          </a:endParaRPr>
        </a:p>
      </dgm:t>
    </dgm:pt>
    <dgm:pt modelId="{D092312D-90B2-374E-B6C1-CB9EE502E5A9}" type="pres">
      <dgm:prSet presAssocID="{3645CD1E-21EE-E042-B3AF-ADA902B525E3}" presName="Name0" presStyleCnt="0">
        <dgm:presLayoutVars>
          <dgm:dir/>
          <dgm:resizeHandles val="exact"/>
        </dgm:presLayoutVars>
      </dgm:prSet>
      <dgm:spPr/>
    </dgm:pt>
    <dgm:pt modelId="{A0B35B71-3C1F-D742-BF07-2FAED650BE01}" type="pres">
      <dgm:prSet presAssocID="{C53A8FEA-1768-2245-AF38-ADBB5C594FCB}" presName="node" presStyleLbl="node1" presStyleIdx="0" presStyleCnt="4">
        <dgm:presLayoutVars>
          <dgm:bulletEnabled val="1"/>
        </dgm:presLayoutVars>
      </dgm:prSet>
      <dgm:spPr/>
    </dgm:pt>
    <dgm:pt modelId="{72CD8F94-B397-754C-AFF0-366B2E057B3E}" type="pres">
      <dgm:prSet presAssocID="{ADAFC135-4526-9748-BA6C-C8F9A03F36C7}" presName="sibTrans" presStyleLbl="sibTrans2D1" presStyleIdx="0" presStyleCnt="3"/>
      <dgm:spPr/>
    </dgm:pt>
    <dgm:pt modelId="{220BE91D-9858-9941-96EC-4C456ABC0E3F}" type="pres">
      <dgm:prSet presAssocID="{ADAFC135-4526-9748-BA6C-C8F9A03F36C7}" presName="connectorText" presStyleLbl="sibTrans2D1" presStyleIdx="0" presStyleCnt="3"/>
      <dgm:spPr/>
    </dgm:pt>
    <dgm:pt modelId="{D1B8797C-607C-334B-AB3C-B84708B320D2}" type="pres">
      <dgm:prSet presAssocID="{B4D0E1F9-7B8A-D94C-BB58-521B7AA54C2D}" presName="node" presStyleLbl="node1" presStyleIdx="1" presStyleCnt="4">
        <dgm:presLayoutVars>
          <dgm:bulletEnabled val="1"/>
        </dgm:presLayoutVars>
      </dgm:prSet>
      <dgm:spPr/>
    </dgm:pt>
    <dgm:pt modelId="{8577F221-6194-144E-90AF-F385F73D72A0}" type="pres">
      <dgm:prSet presAssocID="{900468DC-A44A-4241-B10A-E2D21A7C9745}" presName="sibTrans" presStyleLbl="sibTrans2D1" presStyleIdx="1" presStyleCnt="3"/>
      <dgm:spPr/>
    </dgm:pt>
    <dgm:pt modelId="{203B5948-AB1C-1A47-806E-918FDD650919}" type="pres">
      <dgm:prSet presAssocID="{900468DC-A44A-4241-B10A-E2D21A7C9745}" presName="connectorText" presStyleLbl="sibTrans2D1" presStyleIdx="1" presStyleCnt="3"/>
      <dgm:spPr/>
    </dgm:pt>
    <dgm:pt modelId="{E58FC875-57D9-A443-A720-879C9C7F16D6}" type="pres">
      <dgm:prSet presAssocID="{4B5852E1-5CC3-BC40-952F-1E5DE1FB03D2}" presName="node" presStyleLbl="node1" presStyleIdx="2" presStyleCnt="4">
        <dgm:presLayoutVars>
          <dgm:bulletEnabled val="1"/>
        </dgm:presLayoutVars>
      </dgm:prSet>
      <dgm:spPr/>
    </dgm:pt>
    <dgm:pt modelId="{A5B936F1-36B3-FF47-813C-DED1A453E66C}" type="pres">
      <dgm:prSet presAssocID="{C7D3B008-3490-1E4A-A69E-9F796DD11D15}" presName="sibTrans" presStyleLbl="sibTrans2D1" presStyleIdx="2" presStyleCnt="3"/>
      <dgm:spPr/>
    </dgm:pt>
    <dgm:pt modelId="{1934D3D2-41CA-7542-B22A-7D55AC813608}" type="pres">
      <dgm:prSet presAssocID="{C7D3B008-3490-1E4A-A69E-9F796DD11D15}" presName="connectorText" presStyleLbl="sibTrans2D1" presStyleIdx="2" presStyleCnt="3"/>
      <dgm:spPr/>
    </dgm:pt>
    <dgm:pt modelId="{70A644C4-8E92-6943-B04D-76F359AD2648}" type="pres">
      <dgm:prSet presAssocID="{DE918562-1BCA-8F43-81E9-BFDA1A3F66CE}" presName="node" presStyleLbl="node1" presStyleIdx="3" presStyleCnt="4">
        <dgm:presLayoutVars>
          <dgm:bulletEnabled val="1"/>
        </dgm:presLayoutVars>
      </dgm:prSet>
      <dgm:spPr/>
    </dgm:pt>
  </dgm:ptLst>
  <dgm:cxnLst>
    <dgm:cxn modelId="{1F81F703-1658-8845-A3E0-B4A2B15EF896}" type="presOf" srcId="{B4D0E1F9-7B8A-D94C-BB58-521B7AA54C2D}" destId="{D1B8797C-607C-334B-AB3C-B84708B320D2}" srcOrd="0" destOrd="0" presId="urn:microsoft.com/office/officeart/2005/8/layout/process1"/>
    <dgm:cxn modelId="{087ACD0A-87B9-BA4C-93A8-D0486A6B06EE}" type="presOf" srcId="{900468DC-A44A-4241-B10A-E2D21A7C9745}" destId="{8577F221-6194-144E-90AF-F385F73D72A0}" srcOrd="0" destOrd="0" presId="urn:microsoft.com/office/officeart/2005/8/layout/process1"/>
    <dgm:cxn modelId="{46E7D51A-6EA3-634F-B642-C0414858A557}" type="presOf" srcId="{DE918562-1BCA-8F43-81E9-BFDA1A3F66CE}" destId="{70A644C4-8E92-6943-B04D-76F359AD2648}" srcOrd="0" destOrd="0" presId="urn:microsoft.com/office/officeart/2005/8/layout/process1"/>
    <dgm:cxn modelId="{04D6101E-94E8-3B47-A238-2F2F3F45DBCE}" srcId="{3645CD1E-21EE-E042-B3AF-ADA902B525E3}" destId="{C53A8FEA-1768-2245-AF38-ADBB5C594FCB}" srcOrd="0" destOrd="0" parTransId="{22A522E5-580A-A140-B2B2-EBA8C498F4A2}" sibTransId="{ADAFC135-4526-9748-BA6C-C8F9A03F36C7}"/>
    <dgm:cxn modelId="{08B7BB3E-280A-8B4C-A9C0-9C2764744E6B}" type="presOf" srcId="{900468DC-A44A-4241-B10A-E2D21A7C9745}" destId="{203B5948-AB1C-1A47-806E-918FDD650919}" srcOrd="1" destOrd="0" presId="urn:microsoft.com/office/officeart/2005/8/layout/process1"/>
    <dgm:cxn modelId="{87AAEA4E-1940-9345-A699-944CCE62CCA3}" type="presOf" srcId="{ADAFC135-4526-9748-BA6C-C8F9A03F36C7}" destId="{72CD8F94-B397-754C-AFF0-366B2E057B3E}" srcOrd="0" destOrd="0" presId="urn:microsoft.com/office/officeart/2005/8/layout/process1"/>
    <dgm:cxn modelId="{B566D06C-960F-4844-B4E3-AE33C7215C5A}" type="presOf" srcId="{3645CD1E-21EE-E042-B3AF-ADA902B525E3}" destId="{D092312D-90B2-374E-B6C1-CB9EE502E5A9}" srcOrd="0" destOrd="0" presId="urn:microsoft.com/office/officeart/2005/8/layout/process1"/>
    <dgm:cxn modelId="{16141272-6671-9640-9277-C1E557B5259E}" type="presOf" srcId="{C7D3B008-3490-1E4A-A69E-9F796DD11D15}" destId="{1934D3D2-41CA-7542-B22A-7D55AC813608}" srcOrd="1" destOrd="0" presId="urn:microsoft.com/office/officeart/2005/8/layout/process1"/>
    <dgm:cxn modelId="{2E36D094-A26B-684D-BBF8-31ABB72C2AF6}" srcId="{3645CD1E-21EE-E042-B3AF-ADA902B525E3}" destId="{B4D0E1F9-7B8A-D94C-BB58-521B7AA54C2D}" srcOrd="1" destOrd="0" parTransId="{E602F0E1-024A-5943-96CD-648C58745FC5}" sibTransId="{900468DC-A44A-4241-B10A-E2D21A7C9745}"/>
    <dgm:cxn modelId="{8074059B-B25E-414A-BF17-8E1E3C605DEA}" srcId="{3645CD1E-21EE-E042-B3AF-ADA902B525E3}" destId="{DE918562-1BCA-8F43-81E9-BFDA1A3F66CE}" srcOrd="3" destOrd="0" parTransId="{8E232C59-D5F4-254F-AB20-068591DD6AC4}" sibTransId="{7DBF5B1B-6846-E54F-839B-5FCABBABC1FD}"/>
    <dgm:cxn modelId="{5D8B83A2-249E-1047-BB36-79BCA8BE9084}" type="presOf" srcId="{4B5852E1-5CC3-BC40-952F-1E5DE1FB03D2}" destId="{E58FC875-57D9-A443-A720-879C9C7F16D6}" srcOrd="0" destOrd="0" presId="urn:microsoft.com/office/officeart/2005/8/layout/process1"/>
    <dgm:cxn modelId="{EC33A0A4-DB4C-C54B-8A93-8B9DB34A05DF}" type="presOf" srcId="{C53A8FEA-1768-2245-AF38-ADBB5C594FCB}" destId="{A0B35B71-3C1F-D742-BF07-2FAED650BE01}" srcOrd="0" destOrd="0" presId="urn:microsoft.com/office/officeart/2005/8/layout/process1"/>
    <dgm:cxn modelId="{97ECB4AD-E5CC-7548-A71D-6A42E4545107}" type="presOf" srcId="{C7D3B008-3490-1E4A-A69E-9F796DD11D15}" destId="{A5B936F1-36B3-FF47-813C-DED1A453E66C}" srcOrd="0" destOrd="0" presId="urn:microsoft.com/office/officeart/2005/8/layout/process1"/>
    <dgm:cxn modelId="{4953CBC3-8610-CD4B-A364-9C1DC5430F65}" srcId="{3645CD1E-21EE-E042-B3AF-ADA902B525E3}" destId="{4B5852E1-5CC3-BC40-952F-1E5DE1FB03D2}" srcOrd="2" destOrd="0" parTransId="{4EFBE252-6A86-0D41-8802-D93243F16E71}" sibTransId="{C7D3B008-3490-1E4A-A69E-9F796DD11D15}"/>
    <dgm:cxn modelId="{26DC62DF-7945-BC4F-93F5-9652BFF9B7E3}" type="presOf" srcId="{ADAFC135-4526-9748-BA6C-C8F9A03F36C7}" destId="{220BE91D-9858-9941-96EC-4C456ABC0E3F}" srcOrd="1" destOrd="0" presId="urn:microsoft.com/office/officeart/2005/8/layout/process1"/>
    <dgm:cxn modelId="{072AD8EF-7D6A-2D4C-87E2-FAA2E128C4CB}" type="presParOf" srcId="{D092312D-90B2-374E-B6C1-CB9EE502E5A9}" destId="{A0B35B71-3C1F-D742-BF07-2FAED650BE01}" srcOrd="0" destOrd="0" presId="urn:microsoft.com/office/officeart/2005/8/layout/process1"/>
    <dgm:cxn modelId="{60EDC802-1EFE-2044-8E47-835179D03A93}" type="presParOf" srcId="{D092312D-90B2-374E-B6C1-CB9EE502E5A9}" destId="{72CD8F94-B397-754C-AFF0-366B2E057B3E}" srcOrd="1" destOrd="0" presId="urn:microsoft.com/office/officeart/2005/8/layout/process1"/>
    <dgm:cxn modelId="{83AB851A-09E8-714C-9A4A-A6F82E781092}" type="presParOf" srcId="{72CD8F94-B397-754C-AFF0-366B2E057B3E}" destId="{220BE91D-9858-9941-96EC-4C456ABC0E3F}" srcOrd="0" destOrd="0" presId="urn:microsoft.com/office/officeart/2005/8/layout/process1"/>
    <dgm:cxn modelId="{271E1E36-4451-CA4F-9C2F-2E1E93F31678}" type="presParOf" srcId="{D092312D-90B2-374E-B6C1-CB9EE502E5A9}" destId="{D1B8797C-607C-334B-AB3C-B84708B320D2}" srcOrd="2" destOrd="0" presId="urn:microsoft.com/office/officeart/2005/8/layout/process1"/>
    <dgm:cxn modelId="{D75301E4-B3EE-134D-B0C9-7B41EB2398BA}" type="presParOf" srcId="{D092312D-90B2-374E-B6C1-CB9EE502E5A9}" destId="{8577F221-6194-144E-90AF-F385F73D72A0}" srcOrd="3" destOrd="0" presId="urn:microsoft.com/office/officeart/2005/8/layout/process1"/>
    <dgm:cxn modelId="{AFA7D1D4-8ED2-2945-8C2B-937F63D887F7}" type="presParOf" srcId="{8577F221-6194-144E-90AF-F385F73D72A0}" destId="{203B5948-AB1C-1A47-806E-918FDD650919}" srcOrd="0" destOrd="0" presId="urn:microsoft.com/office/officeart/2005/8/layout/process1"/>
    <dgm:cxn modelId="{FB850E43-C7E0-5840-8A70-FB059FF70D92}" type="presParOf" srcId="{D092312D-90B2-374E-B6C1-CB9EE502E5A9}" destId="{E58FC875-57D9-A443-A720-879C9C7F16D6}" srcOrd="4" destOrd="0" presId="urn:microsoft.com/office/officeart/2005/8/layout/process1"/>
    <dgm:cxn modelId="{935986CB-2659-694E-9D8B-9BDF4E68E157}" type="presParOf" srcId="{D092312D-90B2-374E-B6C1-CB9EE502E5A9}" destId="{A5B936F1-36B3-FF47-813C-DED1A453E66C}" srcOrd="5" destOrd="0" presId="urn:microsoft.com/office/officeart/2005/8/layout/process1"/>
    <dgm:cxn modelId="{893FB95E-5770-B04B-B754-073ABF963698}" type="presParOf" srcId="{A5B936F1-36B3-FF47-813C-DED1A453E66C}" destId="{1934D3D2-41CA-7542-B22A-7D55AC813608}" srcOrd="0" destOrd="0" presId="urn:microsoft.com/office/officeart/2005/8/layout/process1"/>
    <dgm:cxn modelId="{BD786F93-BEA6-A547-BDCA-5CB9CFA1BA5E}" type="presParOf" srcId="{D092312D-90B2-374E-B6C1-CB9EE502E5A9}" destId="{70A644C4-8E92-6943-B04D-76F359AD2648}"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45CD1E-21EE-E042-B3AF-ADA902B525E3}" type="doc">
      <dgm:prSet loTypeId="urn:microsoft.com/office/officeart/2005/8/layout/process1" loCatId="" qsTypeId="urn:microsoft.com/office/officeart/2005/8/quickstyle/simple1" qsCatId="simple" csTypeId="urn:microsoft.com/office/officeart/2005/8/colors/accent0_1" csCatId="mainScheme" phldr="1"/>
      <dgm:spPr/>
    </dgm:pt>
    <dgm:pt modelId="{C53A8FEA-1768-2245-AF38-ADBB5C594FCB}">
      <dgm:prSet phldrT="[Text]"/>
      <dgm:spPr/>
      <dgm:t>
        <a:bodyPr/>
        <a:lstStyle/>
        <a:p>
          <a:r>
            <a:rPr lang="en-US">
              <a:latin typeface="Nadeem" pitchFamily="2" charset="-78"/>
              <a:cs typeface="Nadeem" pitchFamily="2" charset="-78"/>
            </a:rPr>
            <a:t>Data Extraction</a:t>
          </a:r>
        </a:p>
      </dgm:t>
    </dgm:pt>
    <dgm:pt modelId="{22A522E5-580A-A140-B2B2-EBA8C498F4A2}" type="parTrans" cxnId="{04D6101E-94E8-3B47-A238-2F2F3F45DBCE}">
      <dgm:prSet/>
      <dgm:spPr/>
      <dgm:t>
        <a:bodyPr/>
        <a:lstStyle/>
        <a:p>
          <a:endParaRPr lang="en-US">
            <a:latin typeface="Nadeem" pitchFamily="2" charset="-78"/>
            <a:cs typeface="Nadeem" pitchFamily="2" charset="-78"/>
          </a:endParaRPr>
        </a:p>
      </dgm:t>
    </dgm:pt>
    <dgm:pt modelId="{ADAFC135-4526-9748-BA6C-C8F9A03F36C7}" type="sibTrans" cxnId="{04D6101E-94E8-3B47-A238-2F2F3F45DBCE}">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DE918562-1BCA-8F43-81E9-BFDA1A3F66CE}">
      <dgm:prSet phldrT="[Text]"/>
      <dgm:spPr/>
      <dgm:t>
        <a:bodyPr/>
        <a:lstStyle/>
        <a:p>
          <a:r>
            <a:rPr lang="en-US">
              <a:latin typeface="Nadeem" pitchFamily="2" charset="-78"/>
              <a:cs typeface="Nadeem" pitchFamily="2" charset="-78"/>
            </a:rPr>
            <a:t>LSTM Model</a:t>
          </a:r>
        </a:p>
      </dgm:t>
    </dgm:pt>
    <dgm:pt modelId="{8E232C59-D5F4-254F-AB20-068591DD6AC4}" type="parTrans" cxnId="{8074059B-B25E-414A-BF17-8E1E3C605DEA}">
      <dgm:prSet/>
      <dgm:spPr/>
      <dgm:t>
        <a:bodyPr/>
        <a:lstStyle/>
        <a:p>
          <a:endParaRPr lang="en-US">
            <a:latin typeface="Nadeem" pitchFamily="2" charset="-78"/>
            <a:cs typeface="Nadeem" pitchFamily="2" charset="-78"/>
          </a:endParaRPr>
        </a:p>
      </dgm:t>
    </dgm:pt>
    <dgm:pt modelId="{7DBF5B1B-6846-E54F-839B-5FCABBABC1FD}" type="sibTrans" cxnId="{8074059B-B25E-414A-BF17-8E1E3C605DEA}">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EE07424A-0C74-484A-8EAF-3F871EFFB703}">
      <dgm:prSet phldrT="[Text]"/>
      <dgm:spPr/>
      <dgm:t>
        <a:bodyPr/>
        <a:lstStyle/>
        <a:p>
          <a:r>
            <a:rPr lang="en-US">
              <a:latin typeface="Nadeem" pitchFamily="2" charset="-78"/>
              <a:cs typeface="Nadeem" pitchFamily="2" charset="-78"/>
            </a:rPr>
            <a:t>Prediction</a:t>
          </a:r>
        </a:p>
      </dgm:t>
    </dgm:pt>
    <dgm:pt modelId="{EA30323C-030E-C740-AD62-EAA4CC49A54D}" type="parTrans" cxnId="{864A4BC5-F905-1646-BF04-9BBB9BB727F5}">
      <dgm:prSet/>
      <dgm:spPr/>
      <dgm:t>
        <a:bodyPr/>
        <a:lstStyle/>
        <a:p>
          <a:endParaRPr lang="en-US">
            <a:latin typeface="Nadeem" pitchFamily="2" charset="-78"/>
            <a:cs typeface="Nadeem" pitchFamily="2" charset="-78"/>
          </a:endParaRPr>
        </a:p>
      </dgm:t>
    </dgm:pt>
    <dgm:pt modelId="{E315CA13-3A18-F047-A3B3-02AF7ABC7165}" type="sibTrans" cxnId="{864A4BC5-F905-1646-BF04-9BBB9BB727F5}">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B4D0E1F9-7B8A-D94C-BB58-521B7AA54C2D}">
      <dgm:prSet/>
      <dgm:spPr/>
      <dgm:t>
        <a:bodyPr/>
        <a:lstStyle/>
        <a:p>
          <a:r>
            <a:rPr lang="en-US">
              <a:latin typeface="Nadeem" pitchFamily="2" charset="-78"/>
              <a:cs typeface="Nadeem" pitchFamily="2" charset="-78"/>
            </a:rPr>
            <a:t>Preprocessing</a:t>
          </a:r>
        </a:p>
      </dgm:t>
    </dgm:pt>
    <dgm:pt modelId="{E602F0E1-024A-5943-96CD-648C58745FC5}" type="parTrans" cxnId="{2E36D094-A26B-684D-BBF8-31ABB72C2AF6}">
      <dgm:prSet/>
      <dgm:spPr/>
      <dgm:t>
        <a:bodyPr/>
        <a:lstStyle/>
        <a:p>
          <a:endParaRPr lang="en-US">
            <a:latin typeface="Nadeem" pitchFamily="2" charset="-78"/>
            <a:cs typeface="Nadeem" pitchFamily="2" charset="-78"/>
          </a:endParaRPr>
        </a:p>
      </dgm:t>
    </dgm:pt>
    <dgm:pt modelId="{900468DC-A44A-4241-B10A-E2D21A7C9745}" type="sibTrans" cxnId="{2E36D094-A26B-684D-BBF8-31ABB72C2AF6}">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4B5852E1-5CC3-BC40-952F-1E5DE1FB03D2}">
      <dgm:prSet/>
      <dgm:spPr/>
      <dgm:t>
        <a:bodyPr/>
        <a:lstStyle/>
        <a:p>
          <a:r>
            <a:rPr lang="en-US">
              <a:latin typeface="Nadeem" pitchFamily="2" charset="-78"/>
              <a:cs typeface="Nadeem" pitchFamily="2" charset="-78"/>
            </a:rPr>
            <a:t>Sequence Construction</a:t>
          </a:r>
        </a:p>
      </dgm:t>
    </dgm:pt>
    <dgm:pt modelId="{4EFBE252-6A86-0D41-8802-D93243F16E71}" type="parTrans" cxnId="{4953CBC3-8610-CD4B-A364-9C1DC5430F65}">
      <dgm:prSet/>
      <dgm:spPr/>
      <dgm:t>
        <a:bodyPr/>
        <a:lstStyle/>
        <a:p>
          <a:endParaRPr lang="en-US">
            <a:latin typeface="Nadeem" pitchFamily="2" charset="-78"/>
            <a:cs typeface="Nadeem" pitchFamily="2" charset="-78"/>
          </a:endParaRPr>
        </a:p>
      </dgm:t>
    </dgm:pt>
    <dgm:pt modelId="{C7D3B008-3490-1E4A-A69E-9F796DD11D15}" type="sibTrans" cxnId="{4953CBC3-8610-CD4B-A364-9C1DC5430F65}">
      <dgm:prSet/>
      <dgm:spPr>
        <a:solidFill>
          <a:schemeClr val="accent1">
            <a:lumMod val="20000"/>
            <a:lumOff val="80000"/>
          </a:schemeClr>
        </a:solidFill>
        <a:ln>
          <a:solidFill>
            <a:schemeClr val="tx1"/>
          </a:solidFill>
        </a:ln>
      </dgm:spPr>
      <dgm:t>
        <a:bodyPr/>
        <a:lstStyle/>
        <a:p>
          <a:pPr rtl="0"/>
          <a:endParaRPr lang="en-US">
            <a:latin typeface="Nadeem" pitchFamily="2" charset="-78"/>
            <a:cs typeface="Nadeem" pitchFamily="2" charset="-78"/>
          </a:endParaRPr>
        </a:p>
      </dgm:t>
    </dgm:pt>
    <dgm:pt modelId="{0C9E08C3-BACA-2C44-B4C3-A60AC4F84C5B}">
      <dgm:prSet/>
      <dgm:spPr/>
      <dgm:t>
        <a:bodyPr/>
        <a:lstStyle/>
        <a:p>
          <a:r>
            <a:rPr lang="en-US">
              <a:latin typeface="Nadeem" pitchFamily="2" charset="-78"/>
              <a:cs typeface="Nadeem" pitchFamily="2" charset="-78"/>
            </a:rPr>
            <a:t>Evaluation &amp; Visualization</a:t>
          </a:r>
        </a:p>
      </dgm:t>
    </dgm:pt>
    <dgm:pt modelId="{6F2AC85B-BECA-8542-9F20-2EC38F4B012F}" type="parTrans" cxnId="{9B1FFD10-031C-5743-8F28-3B03260CD209}">
      <dgm:prSet/>
      <dgm:spPr/>
      <dgm:t>
        <a:bodyPr/>
        <a:lstStyle/>
        <a:p>
          <a:endParaRPr lang="en-US">
            <a:latin typeface="Nadeem" pitchFamily="2" charset="-78"/>
            <a:cs typeface="Nadeem" pitchFamily="2" charset="-78"/>
          </a:endParaRPr>
        </a:p>
      </dgm:t>
    </dgm:pt>
    <dgm:pt modelId="{6D1D6CAA-4164-724A-97D3-AE93B695BAFF}" type="sibTrans" cxnId="{9B1FFD10-031C-5743-8F28-3B03260CD209}">
      <dgm:prSet/>
      <dgm:spPr/>
      <dgm:t>
        <a:bodyPr/>
        <a:lstStyle/>
        <a:p>
          <a:endParaRPr lang="en-US">
            <a:latin typeface="Nadeem" pitchFamily="2" charset="-78"/>
            <a:cs typeface="Nadeem" pitchFamily="2" charset="-78"/>
          </a:endParaRPr>
        </a:p>
      </dgm:t>
    </dgm:pt>
    <dgm:pt modelId="{D092312D-90B2-374E-B6C1-CB9EE502E5A9}" type="pres">
      <dgm:prSet presAssocID="{3645CD1E-21EE-E042-B3AF-ADA902B525E3}" presName="Name0" presStyleCnt="0">
        <dgm:presLayoutVars>
          <dgm:dir/>
          <dgm:resizeHandles val="exact"/>
        </dgm:presLayoutVars>
      </dgm:prSet>
      <dgm:spPr/>
    </dgm:pt>
    <dgm:pt modelId="{A0B35B71-3C1F-D742-BF07-2FAED650BE01}" type="pres">
      <dgm:prSet presAssocID="{C53A8FEA-1768-2245-AF38-ADBB5C594FCB}" presName="node" presStyleLbl="node1" presStyleIdx="0" presStyleCnt="6">
        <dgm:presLayoutVars>
          <dgm:bulletEnabled val="1"/>
        </dgm:presLayoutVars>
      </dgm:prSet>
      <dgm:spPr/>
    </dgm:pt>
    <dgm:pt modelId="{72CD8F94-B397-754C-AFF0-366B2E057B3E}" type="pres">
      <dgm:prSet presAssocID="{ADAFC135-4526-9748-BA6C-C8F9A03F36C7}" presName="sibTrans" presStyleLbl="sibTrans2D1" presStyleIdx="0" presStyleCnt="5"/>
      <dgm:spPr/>
    </dgm:pt>
    <dgm:pt modelId="{220BE91D-9858-9941-96EC-4C456ABC0E3F}" type="pres">
      <dgm:prSet presAssocID="{ADAFC135-4526-9748-BA6C-C8F9A03F36C7}" presName="connectorText" presStyleLbl="sibTrans2D1" presStyleIdx="0" presStyleCnt="5"/>
      <dgm:spPr/>
    </dgm:pt>
    <dgm:pt modelId="{D1B8797C-607C-334B-AB3C-B84708B320D2}" type="pres">
      <dgm:prSet presAssocID="{B4D0E1F9-7B8A-D94C-BB58-521B7AA54C2D}" presName="node" presStyleLbl="node1" presStyleIdx="1" presStyleCnt="6">
        <dgm:presLayoutVars>
          <dgm:bulletEnabled val="1"/>
        </dgm:presLayoutVars>
      </dgm:prSet>
      <dgm:spPr/>
    </dgm:pt>
    <dgm:pt modelId="{8577F221-6194-144E-90AF-F385F73D72A0}" type="pres">
      <dgm:prSet presAssocID="{900468DC-A44A-4241-B10A-E2D21A7C9745}" presName="sibTrans" presStyleLbl="sibTrans2D1" presStyleIdx="1" presStyleCnt="5"/>
      <dgm:spPr/>
    </dgm:pt>
    <dgm:pt modelId="{203B5948-AB1C-1A47-806E-918FDD650919}" type="pres">
      <dgm:prSet presAssocID="{900468DC-A44A-4241-B10A-E2D21A7C9745}" presName="connectorText" presStyleLbl="sibTrans2D1" presStyleIdx="1" presStyleCnt="5"/>
      <dgm:spPr/>
    </dgm:pt>
    <dgm:pt modelId="{E58FC875-57D9-A443-A720-879C9C7F16D6}" type="pres">
      <dgm:prSet presAssocID="{4B5852E1-5CC3-BC40-952F-1E5DE1FB03D2}" presName="node" presStyleLbl="node1" presStyleIdx="2" presStyleCnt="6">
        <dgm:presLayoutVars>
          <dgm:bulletEnabled val="1"/>
        </dgm:presLayoutVars>
      </dgm:prSet>
      <dgm:spPr/>
    </dgm:pt>
    <dgm:pt modelId="{A5B936F1-36B3-FF47-813C-DED1A453E66C}" type="pres">
      <dgm:prSet presAssocID="{C7D3B008-3490-1E4A-A69E-9F796DD11D15}" presName="sibTrans" presStyleLbl="sibTrans2D1" presStyleIdx="2" presStyleCnt="5"/>
      <dgm:spPr/>
    </dgm:pt>
    <dgm:pt modelId="{1934D3D2-41CA-7542-B22A-7D55AC813608}" type="pres">
      <dgm:prSet presAssocID="{C7D3B008-3490-1E4A-A69E-9F796DD11D15}" presName="connectorText" presStyleLbl="sibTrans2D1" presStyleIdx="2" presStyleCnt="5"/>
      <dgm:spPr/>
    </dgm:pt>
    <dgm:pt modelId="{70A644C4-8E92-6943-B04D-76F359AD2648}" type="pres">
      <dgm:prSet presAssocID="{DE918562-1BCA-8F43-81E9-BFDA1A3F66CE}" presName="node" presStyleLbl="node1" presStyleIdx="3" presStyleCnt="6">
        <dgm:presLayoutVars>
          <dgm:bulletEnabled val="1"/>
        </dgm:presLayoutVars>
      </dgm:prSet>
      <dgm:spPr/>
    </dgm:pt>
    <dgm:pt modelId="{4147CE74-ACAA-CD46-B59F-2CB4BE23CF56}" type="pres">
      <dgm:prSet presAssocID="{7DBF5B1B-6846-E54F-839B-5FCABBABC1FD}" presName="sibTrans" presStyleLbl="sibTrans2D1" presStyleIdx="3" presStyleCnt="5"/>
      <dgm:spPr/>
    </dgm:pt>
    <dgm:pt modelId="{3048B015-8507-5841-9F48-5EE60E9167DD}" type="pres">
      <dgm:prSet presAssocID="{7DBF5B1B-6846-E54F-839B-5FCABBABC1FD}" presName="connectorText" presStyleLbl="sibTrans2D1" presStyleIdx="3" presStyleCnt="5"/>
      <dgm:spPr/>
    </dgm:pt>
    <dgm:pt modelId="{9AD4C349-E64B-4043-9BB3-FC92741695E4}" type="pres">
      <dgm:prSet presAssocID="{EE07424A-0C74-484A-8EAF-3F871EFFB703}" presName="node" presStyleLbl="node1" presStyleIdx="4" presStyleCnt="6">
        <dgm:presLayoutVars>
          <dgm:bulletEnabled val="1"/>
        </dgm:presLayoutVars>
      </dgm:prSet>
      <dgm:spPr/>
    </dgm:pt>
    <dgm:pt modelId="{988BBFA2-845F-FA44-BB0C-2F6E1F1DBCF8}" type="pres">
      <dgm:prSet presAssocID="{E315CA13-3A18-F047-A3B3-02AF7ABC7165}" presName="sibTrans" presStyleLbl="sibTrans2D1" presStyleIdx="4" presStyleCnt="5"/>
      <dgm:spPr/>
    </dgm:pt>
    <dgm:pt modelId="{55906273-93F1-A342-8CE4-8363771FF19F}" type="pres">
      <dgm:prSet presAssocID="{E315CA13-3A18-F047-A3B3-02AF7ABC7165}" presName="connectorText" presStyleLbl="sibTrans2D1" presStyleIdx="4" presStyleCnt="5"/>
      <dgm:spPr/>
    </dgm:pt>
    <dgm:pt modelId="{BBF9855D-5AF2-534E-BE3B-1A72E2A8644E}" type="pres">
      <dgm:prSet presAssocID="{0C9E08C3-BACA-2C44-B4C3-A60AC4F84C5B}" presName="node" presStyleLbl="node1" presStyleIdx="5" presStyleCnt="6">
        <dgm:presLayoutVars>
          <dgm:bulletEnabled val="1"/>
        </dgm:presLayoutVars>
      </dgm:prSet>
      <dgm:spPr/>
    </dgm:pt>
  </dgm:ptLst>
  <dgm:cxnLst>
    <dgm:cxn modelId="{727CB600-6975-8D4C-A270-D5847F44A84F}" type="presOf" srcId="{E315CA13-3A18-F047-A3B3-02AF7ABC7165}" destId="{988BBFA2-845F-FA44-BB0C-2F6E1F1DBCF8}" srcOrd="0" destOrd="0" presId="urn:microsoft.com/office/officeart/2005/8/layout/process1"/>
    <dgm:cxn modelId="{1F81F703-1658-8845-A3E0-B4A2B15EF896}" type="presOf" srcId="{B4D0E1F9-7B8A-D94C-BB58-521B7AA54C2D}" destId="{D1B8797C-607C-334B-AB3C-B84708B320D2}" srcOrd="0" destOrd="0" presId="urn:microsoft.com/office/officeart/2005/8/layout/process1"/>
    <dgm:cxn modelId="{087ACD0A-87B9-BA4C-93A8-D0486A6B06EE}" type="presOf" srcId="{900468DC-A44A-4241-B10A-E2D21A7C9745}" destId="{8577F221-6194-144E-90AF-F385F73D72A0}" srcOrd="0" destOrd="0" presId="urn:microsoft.com/office/officeart/2005/8/layout/process1"/>
    <dgm:cxn modelId="{9B1FFD10-031C-5743-8F28-3B03260CD209}" srcId="{3645CD1E-21EE-E042-B3AF-ADA902B525E3}" destId="{0C9E08C3-BACA-2C44-B4C3-A60AC4F84C5B}" srcOrd="5" destOrd="0" parTransId="{6F2AC85B-BECA-8542-9F20-2EC38F4B012F}" sibTransId="{6D1D6CAA-4164-724A-97D3-AE93B695BAFF}"/>
    <dgm:cxn modelId="{46E7D51A-6EA3-634F-B642-C0414858A557}" type="presOf" srcId="{DE918562-1BCA-8F43-81E9-BFDA1A3F66CE}" destId="{70A644C4-8E92-6943-B04D-76F359AD2648}" srcOrd="0" destOrd="0" presId="urn:microsoft.com/office/officeart/2005/8/layout/process1"/>
    <dgm:cxn modelId="{04D6101E-94E8-3B47-A238-2F2F3F45DBCE}" srcId="{3645CD1E-21EE-E042-B3AF-ADA902B525E3}" destId="{C53A8FEA-1768-2245-AF38-ADBB5C594FCB}" srcOrd="0" destOrd="0" parTransId="{22A522E5-580A-A140-B2B2-EBA8C498F4A2}" sibTransId="{ADAFC135-4526-9748-BA6C-C8F9A03F36C7}"/>
    <dgm:cxn modelId="{08B7BB3E-280A-8B4C-A9C0-9C2764744E6B}" type="presOf" srcId="{900468DC-A44A-4241-B10A-E2D21A7C9745}" destId="{203B5948-AB1C-1A47-806E-918FDD650919}" srcOrd="1" destOrd="0" presId="urn:microsoft.com/office/officeart/2005/8/layout/process1"/>
    <dgm:cxn modelId="{87AAEA4E-1940-9345-A699-944CCE62CCA3}" type="presOf" srcId="{ADAFC135-4526-9748-BA6C-C8F9A03F36C7}" destId="{72CD8F94-B397-754C-AFF0-366B2E057B3E}" srcOrd="0" destOrd="0" presId="urn:microsoft.com/office/officeart/2005/8/layout/process1"/>
    <dgm:cxn modelId="{3E1B1B56-A7F7-2B45-91EC-3AF7501B043C}" type="presOf" srcId="{0C9E08C3-BACA-2C44-B4C3-A60AC4F84C5B}" destId="{BBF9855D-5AF2-534E-BE3B-1A72E2A8644E}" srcOrd="0" destOrd="0" presId="urn:microsoft.com/office/officeart/2005/8/layout/process1"/>
    <dgm:cxn modelId="{340FC157-AC83-3C4C-92D3-D54CF19943FF}" type="presOf" srcId="{7DBF5B1B-6846-E54F-839B-5FCABBABC1FD}" destId="{3048B015-8507-5841-9F48-5EE60E9167DD}" srcOrd="1" destOrd="0" presId="urn:microsoft.com/office/officeart/2005/8/layout/process1"/>
    <dgm:cxn modelId="{8E3F715C-15D0-FD47-976E-0C262CFD16DF}" type="presOf" srcId="{7DBF5B1B-6846-E54F-839B-5FCABBABC1FD}" destId="{4147CE74-ACAA-CD46-B59F-2CB4BE23CF56}" srcOrd="0" destOrd="0" presId="urn:microsoft.com/office/officeart/2005/8/layout/process1"/>
    <dgm:cxn modelId="{B566D06C-960F-4844-B4E3-AE33C7215C5A}" type="presOf" srcId="{3645CD1E-21EE-E042-B3AF-ADA902B525E3}" destId="{D092312D-90B2-374E-B6C1-CB9EE502E5A9}" srcOrd="0" destOrd="0" presId="urn:microsoft.com/office/officeart/2005/8/layout/process1"/>
    <dgm:cxn modelId="{16141272-6671-9640-9277-C1E557B5259E}" type="presOf" srcId="{C7D3B008-3490-1E4A-A69E-9F796DD11D15}" destId="{1934D3D2-41CA-7542-B22A-7D55AC813608}" srcOrd="1" destOrd="0" presId="urn:microsoft.com/office/officeart/2005/8/layout/process1"/>
    <dgm:cxn modelId="{2E36D094-A26B-684D-BBF8-31ABB72C2AF6}" srcId="{3645CD1E-21EE-E042-B3AF-ADA902B525E3}" destId="{B4D0E1F9-7B8A-D94C-BB58-521B7AA54C2D}" srcOrd="1" destOrd="0" parTransId="{E602F0E1-024A-5943-96CD-648C58745FC5}" sibTransId="{900468DC-A44A-4241-B10A-E2D21A7C9745}"/>
    <dgm:cxn modelId="{8074059B-B25E-414A-BF17-8E1E3C605DEA}" srcId="{3645CD1E-21EE-E042-B3AF-ADA902B525E3}" destId="{DE918562-1BCA-8F43-81E9-BFDA1A3F66CE}" srcOrd="3" destOrd="0" parTransId="{8E232C59-D5F4-254F-AB20-068591DD6AC4}" sibTransId="{7DBF5B1B-6846-E54F-839B-5FCABBABC1FD}"/>
    <dgm:cxn modelId="{5D8B83A2-249E-1047-BB36-79BCA8BE9084}" type="presOf" srcId="{4B5852E1-5CC3-BC40-952F-1E5DE1FB03D2}" destId="{E58FC875-57D9-A443-A720-879C9C7F16D6}" srcOrd="0" destOrd="0" presId="urn:microsoft.com/office/officeart/2005/8/layout/process1"/>
    <dgm:cxn modelId="{EC33A0A4-DB4C-C54B-8A93-8B9DB34A05DF}" type="presOf" srcId="{C53A8FEA-1768-2245-AF38-ADBB5C594FCB}" destId="{A0B35B71-3C1F-D742-BF07-2FAED650BE01}" srcOrd="0" destOrd="0" presId="urn:microsoft.com/office/officeart/2005/8/layout/process1"/>
    <dgm:cxn modelId="{97ECB4AD-E5CC-7548-A71D-6A42E4545107}" type="presOf" srcId="{C7D3B008-3490-1E4A-A69E-9F796DD11D15}" destId="{A5B936F1-36B3-FF47-813C-DED1A453E66C}" srcOrd="0" destOrd="0" presId="urn:microsoft.com/office/officeart/2005/8/layout/process1"/>
    <dgm:cxn modelId="{AEB874BB-98BF-8447-AD3B-2D881524FB1D}" type="presOf" srcId="{EE07424A-0C74-484A-8EAF-3F871EFFB703}" destId="{9AD4C349-E64B-4043-9BB3-FC92741695E4}" srcOrd="0" destOrd="0" presId="urn:microsoft.com/office/officeart/2005/8/layout/process1"/>
    <dgm:cxn modelId="{4953CBC3-8610-CD4B-A364-9C1DC5430F65}" srcId="{3645CD1E-21EE-E042-B3AF-ADA902B525E3}" destId="{4B5852E1-5CC3-BC40-952F-1E5DE1FB03D2}" srcOrd="2" destOrd="0" parTransId="{4EFBE252-6A86-0D41-8802-D93243F16E71}" sibTransId="{C7D3B008-3490-1E4A-A69E-9F796DD11D15}"/>
    <dgm:cxn modelId="{864A4BC5-F905-1646-BF04-9BBB9BB727F5}" srcId="{3645CD1E-21EE-E042-B3AF-ADA902B525E3}" destId="{EE07424A-0C74-484A-8EAF-3F871EFFB703}" srcOrd="4" destOrd="0" parTransId="{EA30323C-030E-C740-AD62-EAA4CC49A54D}" sibTransId="{E315CA13-3A18-F047-A3B3-02AF7ABC7165}"/>
    <dgm:cxn modelId="{26DC62DF-7945-BC4F-93F5-9652BFF9B7E3}" type="presOf" srcId="{ADAFC135-4526-9748-BA6C-C8F9A03F36C7}" destId="{220BE91D-9858-9941-96EC-4C456ABC0E3F}" srcOrd="1" destOrd="0" presId="urn:microsoft.com/office/officeart/2005/8/layout/process1"/>
    <dgm:cxn modelId="{26C8B5FE-DD6A-6A4D-9654-5F0CEC7A0C99}" type="presOf" srcId="{E315CA13-3A18-F047-A3B3-02AF7ABC7165}" destId="{55906273-93F1-A342-8CE4-8363771FF19F}" srcOrd="1" destOrd="0" presId="urn:microsoft.com/office/officeart/2005/8/layout/process1"/>
    <dgm:cxn modelId="{072AD8EF-7D6A-2D4C-87E2-FAA2E128C4CB}" type="presParOf" srcId="{D092312D-90B2-374E-B6C1-CB9EE502E5A9}" destId="{A0B35B71-3C1F-D742-BF07-2FAED650BE01}" srcOrd="0" destOrd="0" presId="urn:microsoft.com/office/officeart/2005/8/layout/process1"/>
    <dgm:cxn modelId="{60EDC802-1EFE-2044-8E47-835179D03A93}" type="presParOf" srcId="{D092312D-90B2-374E-B6C1-CB9EE502E5A9}" destId="{72CD8F94-B397-754C-AFF0-366B2E057B3E}" srcOrd="1" destOrd="0" presId="urn:microsoft.com/office/officeart/2005/8/layout/process1"/>
    <dgm:cxn modelId="{83AB851A-09E8-714C-9A4A-A6F82E781092}" type="presParOf" srcId="{72CD8F94-B397-754C-AFF0-366B2E057B3E}" destId="{220BE91D-9858-9941-96EC-4C456ABC0E3F}" srcOrd="0" destOrd="0" presId="urn:microsoft.com/office/officeart/2005/8/layout/process1"/>
    <dgm:cxn modelId="{271E1E36-4451-CA4F-9C2F-2E1E93F31678}" type="presParOf" srcId="{D092312D-90B2-374E-B6C1-CB9EE502E5A9}" destId="{D1B8797C-607C-334B-AB3C-B84708B320D2}" srcOrd="2" destOrd="0" presId="urn:microsoft.com/office/officeart/2005/8/layout/process1"/>
    <dgm:cxn modelId="{D75301E4-B3EE-134D-B0C9-7B41EB2398BA}" type="presParOf" srcId="{D092312D-90B2-374E-B6C1-CB9EE502E5A9}" destId="{8577F221-6194-144E-90AF-F385F73D72A0}" srcOrd="3" destOrd="0" presId="urn:microsoft.com/office/officeart/2005/8/layout/process1"/>
    <dgm:cxn modelId="{AFA7D1D4-8ED2-2945-8C2B-937F63D887F7}" type="presParOf" srcId="{8577F221-6194-144E-90AF-F385F73D72A0}" destId="{203B5948-AB1C-1A47-806E-918FDD650919}" srcOrd="0" destOrd="0" presId="urn:microsoft.com/office/officeart/2005/8/layout/process1"/>
    <dgm:cxn modelId="{FB850E43-C7E0-5840-8A70-FB059FF70D92}" type="presParOf" srcId="{D092312D-90B2-374E-B6C1-CB9EE502E5A9}" destId="{E58FC875-57D9-A443-A720-879C9C7F16D6}" srcOrd="4" destOrd="0" presId="urn:microsoft.com/office/officeart/2005/8/layout/process1"/>
    <dgm:cxn modelId="{935986CB-2659-694E-9D8B-9BDF4E68E157}" type="presParOf" srcId="{D092312D-90B2-374E-B6C1-CB9EE502E5A9}" destId="{A5B936F1-36B3-FF47-813C-DED1A453E66C}" srcOrd="5" destOrd="0" presId="urn:microsoft.com/office/officeart/2005/8/layout/process1"/>
    <dgm:cxn modelId="{893FB95E-5770-B04B-B754-073ABF963698}" type="presParOf" srcId="{A5B936F1-36B3-FF47-813C-DED1A453E66C}" destId="{1934D3D2-41CA-7542-B22A-7D55AC813608}" srcOrd="0" destOrd="0" presId="urn:microsoft.com/office/officeart/2005/8/layout/process1"/>
    <dgm:cxn modelId="{BD786F93-BEA6-A547-BDCA-5CB9CFA1BA5E}" type="presParOf" srcId="{D092312D-90B2-374E-B6C1-CB9EE502E5A9}" destId="{70A644C4-8E92-6943-B04D-76F359AD2648}" srcOrd="6" destOrd="0" presId="urn:microsoft.com/office/officeart/2005/8/layout/process1"/>
    <dgm:cxn modelId="{FDB16764-AE70-D14A-84F7-8E8C88012EB7}" type="presParOf" srcId="{D092312D-90B2-374E-B6C1-CB9EE502E5A9}" destId="{4147CE74-ACAA-CD46-B59F-2CB4BE23CF56}" srcOrd="7" destOrd="0" presId="urn:microsoft.com/office/officeart/2005/8/layout/process1"/>
    <dgm:cxn modelId="{86CAE65B-9309-1B44-9D6F-53438B2847C5}" type="presParOf" srcId="{4147CE74-ACAA-CD46-B59F-2CB4BE23CF56}" destId="{3048B015-8507-5841-9F48-5EE60E9167DD}" srcOrd="0" destOrd="0" presId="urn:microsoft.com/office/officeart/2005/8/layout/process1"/>
    <dgm:cxn modelId="{63B83406-78FC-744F-A866-00CC1A815AF6}" type="presParOf" srcId="{D092312D-90B2-374E-B6C1-CB9EE502E5A9}" destId="{9AD4C349-E64B-4043-9BB3-FC92741695E4}" srcOrd="8" destOrd="0" presId="urn:microsoft.com/office/officeart/2005/8/layout/process1"/>
    <dgm:cxn modelId="{225D0298-0A13-1E47-AEC1-4CB4FE0951A3}" type="presParOf" srcId="{D092312D-90B2-374E-B6C1-CB9EE502E5A9}" destId="{988BBFA2-845F-FA44-BB0C-2F6E1F1DBCF8}" srcOrd="9" destOrd="0" presId="urn:microsoft.com/office/officeart/2005/8/layout/process1"/>
    <dgm:cxn modelId="{8BF71ECD-B203-5F4A-BB22-701BE2ED3AA9}" type="presParOf" srcId="{988BBFA2-845F-FA44-BB0C-2F6E1F1DBCF8}" destId="{55906273-93F1-A342-8CE4-8363771FF19F}" srcOrd="0" destOrd="0" presId="urn:microsoft.com/office/officeart/2005/8/layout/process1"/>
    <dgm:cxn modelId="{C9E94A7E-ECAC-5E4E-9C0B-771F2D700BB0}" type="presParOf" srcId="{D092312D-90B2-374E-B6C1-CB9EE502E5A9}" destId="{BBF9855D-5AF2-534E-BE3B-1A72E2A8644E}" srcOrd="10"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41D226-B2A5-7949-A6E3-ADA45FDC30B2}" type="doc">
      <dgm:prSet loTypeId="urn:microsoft.com/office/officeart/2005/8/layout/StepDownProcess" loCatId="" qsTypeId="urn:microsoft.com/office/officeart/2005/8/quickstyle/simple1" qsCatId="simple" csTypeId="urn:microsoft.com/office/officeart/2005/8/colors/accent0_1" csCatId="mainScheme" phldr="1"/>
      <dgm:spPr/>
      <dgm:t>
        <a:bodyPr/>
        <a:lstStyle/>
        <a:p>
          <a:endParaRPr lang="en-US"/>
        </a:p>
      </dgm:t>
    </dgm:pt>
    <dgm:pt modelId="{483F8E6A-989F-404E-85A5-6A15DDCB6EE8}">
      <dgm:prSet phldrT="[Text]" custT="1"/>
      <dgm:spPr/>
      <dgm:t>
        <a:bodyPr/>
        <a:lstStyle/>
        <a:p>
          <a:pPr rtl="0"/>
          <a:r>
            <a:rPr lang="en-US" sz="1400" dirty="0">
              <a:latin typeface="Nadeem" pitchFamily="2" charset="-78"/>
              <a:cs typeface="Nadeem" pitchFamily="2" charset="-78"/>
            </a:rPr>
            <a:t>Satellite Data</a:t>
          </a:r>
        </a:p>
      </dgm:t>
    </dgm:pt>
    <dgm:pt modelId="{0510FD8C-A480-434F-BF88-B92F2C891832}" type="parTrans" cxnId="{5C8F6C87-1EEA-FA45-B560-9594E8E6FA8C}">
      <dgm:prSet/>
      <dgm:spPr/>
      <dgm:t>
        <a:bodyPr/>
        <a:lstStyle/>
        <a:p>
          <a:endParaRPr lang="en-US" sz="1400">
            <a:latin typeface="Nadeem" pitchFamily="2" charset="-78"/>
            <a:cs typeface="Nadeem" pitchFamily="2" charset="-78"/>
          </a:endParaRPr>
        </a:p>
      </dgm:t>
    </dgm:pt>
    <dgm:pt modelId="{DF59527F-A484-A74F-8A89-10F29C880554}" type="sibTrans" cxnId="{5C8F6C87-1EEA-FA45-B560-9594E8E6FA8C}">
      <dgm:prSet/>
      <dgm:spPr/>
      <dgm:t>
        <a:bodyPr/>
        <a:lstStyle/>
        <a:p>
          <a:endParaRPr lang="en-US" sz="1400">
            <a:latin typeface="Nadeem" pitchFamily="2" charset="-78"/>
            <a:cs typeface="Nadeem" pitchFamily="2" charset="-78"/>
          </a:endParaRPr>
        </a:p>
      </dgm:t>
    </dgm:pt>
    <dgm:pt modelId="{C38B32C9-38D6-3041-892D-0FC95D54249B}">
      <dgm:prSet phldrT="[Text]" custT="1"/>
      <dgm:spPr/>
      <dgm:t>
        <a:bodyPr/>
        <a:lstStyle/>
        <a:p>
          <a:pPr rtl="0"/>
          <a:r>
            <a:rPr lang="en-US" sz="1400" dirty="0">
              <a:latin typeface="Nadeem" pitchFamily="2" charset="-78"/>
              <a:cs typeface="Nadeem" pitchFamily="2" charset="-78"/>
            </a:rPr>
            <a:t>Data Cleaning </a:t>
          </a:r>
        </a:p>
      </dgm:t>
    </dgm:pt>
    <dgm:pt modelId="{3021F09B-9FE8-0742-B3B3-57E1B5D32B4D}" type="parTrans" cxnId="{33A72B90-8702-F64E-A29D-91554962DDC0}">
      <dgm:prSet/>
      <dgm:spPr/>
      <dgm:t>
        <a:bodyPr/>
        <a:lstStyle/>
        <a:p>
          <a:endParaRPr lang="en-US" sz="1400">
            <a:latin typeface="Nadeem" pitchFamily="2" charset="-78"/>
            <a:cs typeface="Nadeem" pitchFamily="2" charset="-78"/>
          </a:endParaRPr>
        </a:p>
      </dgm:t>
    </dgm:pt>
    <dgm:pt modelId="{42165E9C-4A35-204A-85B2-0359DB247582}" type="sibTrans" cxnId="{33A72B90-8702-F64E-A29D-91554962DDC0}">
      <dgm:prSet/>
      <dgm:spPr/>
      <dgm:t>
        <a:bodyPr/>
        <a:lstStyle/>
        <a:p>
          <a:endParaRPr lang="en-US" sz="1400">
            <a:latin typeface="Nadeem" pitchFamily="2" charset="-78"/>
            <a:cs typeface="Nadeem" pitchFamily="2" charset="-78"/>
          </a:endParaRPr>
        </a:p>
      </dgm:t>
    </dgm:pt>
    <dgm:pt modelId="{339299D9-252D-654C-833B-00F9EB94FD54}">
      <dgm:prSet phldrT="[Text]" custT="1"/>
      <dgm:spPr/>
      <dgm:t>
        <a:bodyPr/>
        <a:lstStyle/>
        <a:p>
          <a:pPr rtl="0"/>
          <a:r>
            <a:rPr lang="en-US" sz="1400" dirty="0">
              <a:latin typeface="Nadeem" pitchFamily="2" charset="-78"/>
              <a:cs typeface="Nadeem" pitchFamily="2" charset="-78"/>
            </a:rPr>
            <a:t>Feature Engineering</a:t>
          </a:r>
        </a:p>
      </dgm:t>
    </dgm:pt>
    <dgm:pt modelId="{375D41D2-0462-F54B-ADB5-016E40547711}" type="parTrans" cxnId="{DC0FECA9-BE01-1C40-B41F-C947870A4594}">
      <dgm:prSet/>
      <dgm:spPr/>
      <dgm:t>
        <a:bodyPr/>
        <a:lstStyle/>
        <a:p>
          <a:endParaRPr lang="en-US" sz="1400">
            <a:latin typeface="Nadeem" pitchFamily="2" charset="-78"/>
            <a:cs typeface="Nadeem" pitchFamily="2" charset="-78"/>
          </a:endParaRPr>
        </a:p>
      </dgm:t>
    </dgm:pt>
    <dgm:pt modelId="{88AAA730-65AA-2A41-9C37-91D0FF23A9B1}" type="sibTrans" cxnId="{DC0FECA9-BE01-1C40-B41F-C947870A4594}">
      <dgm:prSet/>
      <dgm:spPr/>
      <dgm:t>
        <a:bodyPr/>
        <a:lstStyle/>
        <a:p>
          <a:endParaRPr lang="en-US" sz="1400">
            <a:latin typeface="Nadeem" pitchFamily="2" charset="-78"/>
            <a:cs typeface="Nadeem" pitchFamily="2" charset="-78"/>
          </a:endParaRPr>
        </a:p>
      </dgm:t>
    </dgm:pt>
    <dgm:pt modelId="{4CA0455C-4582-E64E-8A27-BEB980A9D8A8}">
      <dgm:prSet custT="1"/>
      <dgm:spPr/>
      <dgm:t>
        <a:bodyPr/>
        <a:lstStyle/>
        <a:p>
          <a:pPr rtl="0"/>
          <a:r>
            <a:rPr lang="en-US" sz="1400" dirty="0">
              <a:latin typeface="Nadeem" pitchFamily="2" charset="-78"/>
              <a:cs typeface="Nadeem" pitchFamily="2" charset="-78"/>
            </a:rPr>
            <a:t>Normalization</a:t>
          </a:r>
        </a:p>
      </dgm:t>
    </dgm:pt>
    <dgm:pt modelId="{F342429F-BB5B-A54D-8A8E-091F76660D64}" type="parTrans" cxnId="{DA2B6714-C27B-1545-8ED8-768375A097F5}">
      <dgm:prSet/>
      <dgm:spPr/>
      <dgm:t>
        <a:bodyPr/>
        <a:lstStyle/>
        <a:p>
          <a:endParaRPr lang="en-US" sz="1400">
            <a:latin typeface="Nadeem" pitchFamily="2" charset="-78"/>
            <a:cs typeface="Nadeem" pitchFamily="2" charset="-78"/>
          </a:endParaRPr>
        </a:p>
      </dgm:t>
    </dgm:pt>
    <dgm:pt modelId="{83827F77-CD94-6447-98A0-EF31FC3F5657}" type="sibTrans" cxnId="{DA2B6714-C27B-1545-8ED8-768375A097F5}">
      <dgm:prSet/>
      <dgm:spPr/>
      <dgm:t>
        <a:bodyPr/>
        <a:lstStyle/>
        <a:p>
          <a:endParaRPr lang="en-US" sz="1400">
            <a:latin typeface="Nadeem" pitchFamily="2" charset="-78"/>
            <a:cs typeface="Nadeem" pitchFamily="2" charset="-78"/>
          </a:endParaRPr>
        </a:p>
      </dgm:t>
    </dgm:pt>
    <dgm:pt modelId="{583C8F63-69F8-7A4F-BA33-CF6E34CD0A34}">
      <dgm:prSet custT="1"/>
      <dgm:spPr/>
      <dgm:t>
        <a:bodyPr/>
        <a:lstStyle/>
        <a:p>
          <a:pPr rtl="0"/>
          <a:r>
            <a:rPr lang="en-US" sz="1400" dirty="0">
              <a:latin typeface="Nadeem" pitchFamily="2" charset="-78"/>
              <a:cs typeface="Nadeem" pitchFamily="2" charset="-78"/>
            </a:rPr>
            <a:t>Sequence Construction</a:t>
          </a:r>
        </a:p>
      </dgm:t>
    </dgm:pt>
    <dgm:pt modelId="{AEC5F855-F1BC-0146-AFA3-AD725A391BE3}" type="parTrans" cxnId="{9AA9D841-699C-AB4E-93D3-9E1AD82362FC}">
      <dgm:prSet/>
      <dgm:spPr/>
      <dgm:t>
        <a:bodyPr/>
        <a:lstStyle/>
        <a:p>
          <a:endParaRPr lang="en-US" sz="1400">
            <a:latin typeface="Nadeem" pitchFamily="2" charset="-78"/>
            <a:cs typeface="Nadeem" pitchFamily="2" charset="-78"/>
          </a:endParaRPr>
        </a:p>
      </dgm:t>
    </dgm:pt>
    <dgm:pt modelId="{E37AFB13-E229-4247-98B7-1643BDF5F784}" type="sibTrans" cxnId="{9AA9D841-699C-AB4E-93D3-9E1AD82362FC}">
      <dgm:prSet/>
      <dgm:spPr/>
      <dgm:t>
        <a:bodyPr/>
        <a:lstStyle/>
        <a:p>
          <a:endParaRPr lang="en-US" sz="1400">
            <a:latin typeface="Nadeem" pitchFamily="2" charset="-78"/>
            <a:cs typeface="Nadeem" pitchFamily="2" charset="-78"/>
          </a:endParaRPr>
        </a:p>
      </dgm:t>
    </dgm:pt>
    <dgm:pt modelId="{4B216DC2-7438-DF49-9D31-F87D45B27CFA}">
      <dgm:prSet custT="1"/>
      <dgm:spPr/>
      <dgm:t>
        <a:bodyPr/>
        <a:lstStyle/>
        <a:p>
          <a:pPr rtl="0"/>
          <a:r>
            <a:rPr lang="en-US" sz="1400" dirty="0">
              <a:latin typeface="Nadeem" pitchFamily="2" charset="-78"/>
              <a:cs typeface="Nadeem" pitchFamily="2" charset="-78"/>
            </a:rPr>
            <a:t>LSTM Model Training</a:t>
          </a:r>
        </a:p>
      </dgm:t>
    </dgm:pt>
    <dgm:pt modelId="{5856EF07-0C79-174E-88AE-68C40F82EA01}" type="parTrans" cxnId="{A1B48704-C827-5247-B444-AD2C7D69DF6B}">
      <dgm:prSet/>
      <dgm:spPr/>
      <dgm:t>
        <a:bodyPr/>
        <a:lstStyle/>
        <a:p>
          <a:endParaRPr lang="en-US" sz="1400">
            <a:latin typeface="Nadeem" pitchFamily="2" charset="-78"/>
            <a:cs typeface="Nadeem" pitchFamily="2" charset="-78"/>
          </a:endParaRPr>
        </a:p>
      </dgm:t>
    </dgm:pt>
    <dgm:pt modelId="{41969B2F-38C2-E740-888A-8286A6EBAE92}" type="sibTrans" cxnId="{A1B48704-C827-5247-B444-AD2C7D69DF6B}">
      <dgm:prSet/>
      <dgm:spPr/>
      <dgm:t>
        <a:bodyPr/>
        <a:lstStyle/>
        <a:p>
          <a:endParaRPr lang="en-US" sz="1400">
            <a:latin typeface="Nadeem" pitchFamily="2" charset="-78"/>
            <a:cs typeface="Nadeem" pitchFamily="2" charset="-78"/>
          </a:endParaRPr>
        </a:p>
      </dgm:t>
    </dgm:pt>
    <dgm:pt modelId="{6DF8CE79-C6A7-5A41-A721-26BFC4DCE6AB}">
      <dgm:prSet custT="1"/>
      <dgm:spPr/>
      <dgm:t>
        <a:bodyPr/>
        <a:lstStyle/>
        <a:p>
          <a:pPr rtl="0"/>
          <a:r>
            <a:rPr lang="en-US" sz="1400" dirty="0">
              <a:latin typeface="Nadeem" pitchFamily="2" charset="-78"/>
              <a:cs typeface="Nadeem" pitchFamily="2" charset="-78"/>
            </a:rPr>
            <a:t>Prediction Output</a:t>
          </a:r>
        </a:p>
      </dgm:t>
    </dgm:pt>
    <dgm:pt modelId="{81ACA2E4-8BC8-8A41-BCBE-0B9628CED246}" type="parTrans" cxnId="{98E77049-B5A2-BC4F-AED5-F363BD401022}">
      <dgm:prSet/>
      <dgm:spPr/>
      <dgm:t>
        <a:bodyPr/>
        <a:lstStyle/>
        <a:p>
          <a:endParaRPr lang="en-US" sz="1400">
            <a:latin typeface="Nadeem" pitchFamily="2" charset="-78"/>
            <a:cs typeface="Nadeem" pitchFamily="2" charset="-78"/>
          </a:endParaRPr>
        </a:p>
      </dgm:t>
    </dgm:pt>
    <dgm:pt modelId="{58E54928-2640-2E42-9D04-DEF974415FDB}" type="sibTrans" cxnId="{98E77049-B5A2-BC4F-AED5-F363BD401022}">
      <dgm:prSet/>
      <dgm:spPr/>
      <dgm:t>
        <a:bodyPr/>
        <a:lstStyle/>
        <a:p>
          <a:endParaRPr lang="en-US" sz="1400">
            <a:latin typeface="Nadeem" pitchFamily="2" charset="-78"/>
            <a:cs typeface="Nadeem" pitchFamily="2" charset="-78"/>
          </a:endParaRPr>
        </a:p>
      </dgm:t>
    </dgm:pt>
    <dgm:pt modelId="{51039BAB-6DEF-234C-8E37-47B08A1840E9}">
      <dgm:prSet custT="1"/>
      <dgm:spPr/>
      <dgm:t>
        <a:bodyPr/>
        <a:lstStyle/>
        <a:p>
          <a:pPr rtl="0"/>
          <a:r>
            <a:rPr lang="en-US" sz="1400" dirty="0">
              <a:latin typeface="Nadeem" pitchFamily="2" charset="-78"/>
              <a:cs typeface="Nadeem" pitchFamily="2" charset="-78"/>
            </a:rPr>
            <a:t>Evaluation</a:t>
          </a:r>
        </a:p>
      </dgm:t>
    </dgm:pt>
    <dgm:pt modelId="{E96C6C42-0DE6-A040-8459-C17DCF80D324}" type="parTrans" cxnId="{BCACC9C2-8E2C-0C4B-9972-0E226478A94E}">
      <dgm:prSet/>
      <dgm:spPr/>
      <dgm:t>
        <a:bodyPr/>
        <a:lstStyle/>
        <a:p>
          <a:endParaRPr lang="en-US" sz="1400">
            <a:latin typeface="Nadeem" pitchFamily="2" charset="-78"/>
            <a:cs typeface="Nadeem" pitchFamily="2" charset="-78"/>
          </a:endParaRPr>
        </a:p>
      </dgm:t>
    </dgm:pt>
    <dgm:pt modelId="{037324D1-866E-2947-979C-0BEE99747782}" type="sibTrans" cxnId="{BCACC9C2-8E2C-0C4B-9972-0E226478A94E}">
      <dgm:prSet/>
      <dgm:spPr/>
      <dgm:t>
        <a:bodyPr/>
        <a:lstStyle/>
        <a:p>
          <a:endParaRPr lang="en-US" sz="1400">
            <a:latin typeface="Nadeem" pitchFamily="2" charset="-78"/>
            <a:cs typeface="Nadeem" pitchFamily="2" charset="-78"/>
          </a:endParaRPr>
        </a:p>
      </dgm:t>
    </dgm:pt>
    <dgm:pt modelId="{7C1F76CE-6996-CC45-A9D1-21FFD6B359AE}" type="pres">
      <dgm:prSet presAssocID="{7441D226-B2A5-7949-A6E3-ADA45FDC30B2}" presName="rootnode" presStyleCnt="0">
        <dgm:presLayoutVars>
          <dgm:chMax/>
          <dgm:chPref/>
          <dgm:dir/>
          <dgm:animLvl val="lvl"/>
        </dgm:presLayoutVars>
      </dgm:prSet>
      <dgm:spPr/>
    </dgm:pt>
    <dgm:pt modelId="{E141A171-F0C6-D64E-BA33-60EE7B150CF1}" type="pres">
      <dgm:prSet presAssocID="{483F8E6A-989F-404E-85A5-6A15DDCB6EE8}" presName="composite" presStyleCnt="0"/>
      <dgm:spPr/>
    </dgm:pt>
    <dgm:pt modelId="{2F1671D2-E3D7-774C-8311-35C17B46B8DC}" type="pres">
      <dgm:prSet presAssocID="{483F8E6A-989F-404E-85A5-6A15DDCB6EE8}" presName="bentUpArrow1" presStyleLbl="alignImgPlace1" presStyleIdx="0" presStyleCnt="7"/>
      <dgm:spPr>
        <a:solidFill>
          <a:schemeClr val="accent1">
            <a:lumMod val="20000"/>
            <a:lumOff val="80000"/>
          </a:schemeClr>
        </a:solidFill>
      </dgm:spPr>
    </dgm:pt>
    <dgm:pt modelId="{7EEEABDB-FE16-F641-80E8-BF10ABD0CAF2}" type="pres">
      <dgm:prSet presAssocID="{483F8E6A-989F-404E-85A5-6A15DDCB6EE8}" presName="ParentText" presStyleLbl="node1" presStyleIdx="0" presStyleCnt="8" custScaleX="171618">
        <dgm:presLayoutVars>
          <dgm:chMax val="1"/>
          <dgm:chPref val="1"/>
          <dgm:bulletEnabled val="1"/>
        </dgm:presLayoutVars>
      </dgm:prSet>
      <dgm:spPr/>
    </dgm:pt>
    <dgm:pt modelId="{FAAEE7E7-8C63-544F-8BC1-71BB3C68F245}" type="pres">
      <dgm:prSet presAssocID="{483F8E6A-989F-404E-85A5-6A15DDCB6EE8}" presName="ChildText" presStyleLbl="revTx" presStyleIdx="0" presStyleCnt="7" custScaleX="196521" custLinFactNeighborX="48606" custLinFactNeighborY="13381">
        <dgm:presLayoutVars>
          <dgm:chMax val="0"/>
          <dgm:chPref val="0"/>
          <dgm:bulletEnabled val="1"/>
        </dgm:presLayoutVars>
      </dgm:prSet>
      <dgm:spPr/>
    </dgm:pt>
    <dgm:pt modelId="{4C4349B8-1D81-8743-B885-70E8E45FAAD5}" type="pres">
      <dgm:prSet presAssocID="{DF59527F-A484-A74F-8A89-10F29C880554}" presName="sibTrans" presStyleCnt="0"/>
      <dgm:spPr/>
    </dgm:pt>
    <dgm:pt modelId="{19C556E4-CD16-194F-8A13-9EAA45B24C1A}" type="pres">
      <dgm:prSet presAssocID="{C38B32C9-38D6-3041-892D-0FC95D54249B}" presName="composite" presStyleCnt="0"/>
      <dgm:spPr/>
    </dgm:pt>
    <dgm:pt modelId="{B159C737-BC1F-3347-93C8-642506F3D023}" type="pres">
      <dgm:prSet presAssocID="{C38B32C9-38D6-3041-892D-0FC95D54249B}" presName="bentUpArrow1" presStyleLbl="alignImgPlace1" presStyleIdx="1" presStyleCnt="7"/>
      <dgm:spPr>
        <a:solidFill>
          <a:schemeClr val="accent1">
            <a:lumMod val="20000"/>
            <a:lumOff val="80000"/>
          </a:schemeClr>
        </a:solidFill>
      </dgm:spPr>
    </dgm:pt>
    <dgm:pt modelId="{98E19FBF-A9F4-4F43-97CF-4540CF4C82CE}" type="pres">
      <dgm:prSet presAssocID="{C38B32C9-38D6-3041-892D-0FC95D54249B}" presName="ParentText" presStyleLbl="node1" presStyleIdx="1" presStyleCnt="8" custScaleX="190150">
        <dgm:presLayoutVars>
          <dgm:chMax val="1"/>
          <dgm:chPref val="1"/>
          <dgm:bulletEnabled val="1"/>
        </dgm:presLayoutVars>
      </dgm:prSet>
      <dgm:spPr/>
    </dgm:pt>
    <dgm:pt modelId="{D9E3A607-FA0B-944E-9476-7CC0811CB518}" type="pres">
      <dgm:prSet presAssocID="{C38B32C9-38D6-3041-892D-0FC95D54249B}" presName="ChildText" presStyleLbl="revTx" presStyleIdx="1" presStyleCnt="7">
        <dgm:presLayoutVars>
          <dgm:chMax val="0"/>
          <dgm:chPref val="0"/>
          <dgm:bulletEnabled val="1"/>
        </dgm:presLayoutVars>
      </dgm:prSet>
      <dgm:spPr/>
    </dgm:pt>
    <dgm:pt modelId="{5C136734-C491-0D4D-A24B-49921A2A8F35}" type="pres">
      <dgm:prSet presAssocID="{42165E9C-4A35-204A-85B2-0359DB247582}" presName="sibTrans" presStyleCnt="0"/>
      <dgm:spPr/>
    </dgm:pt>
    <dgm:pt modelId="{B9A8F6AB-1EBF-C345-B593-5304C3607A6C}" type="pres">
      <dgm:prSet presAssocID="{339299D9-252D-654C-833B-00F9EB94FD54}" presName="composite" presStyleCnt="0"/>
      <dgm:spPr/>
    </dgm:pt>
    <dgm:pt modelId="{2957C08C-BC08-9548-8378-CCB108B60161}" type="pres">
      <dgm:prSet presAssocID="{339299D9-252D-654C-833B-00F9EB94FD54}" presName="bentUpArrow1" presStyleLbl="alignImgPlace1" presStyleIdx="2" presStyleCnt="7" custLinFactNeighborX="10505"/>
      <dgm:spPr>
        <a:solidFill>
          <a:schemeClr val="accent1">
            <a:lumMod val="20000"/>
            <a:lumOff val="80000"/>
          </a:schemeClr>
        </a:solidFill>
      </dgm:spPr>
    </dgm:pt>
    <dgm:pt modelId="{4B0B5391-28D7-6344-82A4-A64282321C59}" type="pres">
      <dgm:prSet presAssocID="{339299D9-252D-654C-833B-00F9EB94FD54}" presName="ParentText" presStyleLbl="node1" presStyleIdx="2" presStyleCnt="8" custScaleX="157832" custLinFactNeighborX="7105">
        <dgm:presLayoutVars>
          <dgm:chMax val="1"/>
          <dgm:chPref val="1"/>
          <dgm:bulletEnabled val="1"/>
        </dgm:presLayoutVars>
      </dgm:prSet>
      <dgm:spPr/>
    </dgm:pt>
    <dgm:pt modelId="{C8A8C670-AD2A-6946-9851-265F2D332657}" type="pres">
      <dgm:prSet presAssocID="{339299D9-252D-654C-833B-00F9EB94FD54}" presName="ChildText" presStyleLbl="revTx" presStyleIdx="2" presStyleCnt="7">
        <dgm:presLayoutVars>
          <dgm:chMax val="0"/>
          <dgm:chPref val="0"/>
          <dgm:bulletEnabled val="1"/>
        </dgm:presLayoutVars>
      </dgm:prSet>
      <dgm:spPr/>
    </dgm:pt>
    <dgm:pt modelId="{0ECE2AB2-F492-1748-B245-44776056B397}" type="pres">
      <dgm:prSet presAssocID="{88AAA730-65AA-2A41-9C37-91D0FF23A9B1}" presName="sibTrans" presStyleCnt="0"/>
      <dgm:spPr/>
    </dgm:pt>
    <dgm:pt modelId="{DA1B5153-EA2C-5A44-ACC0-5A9655DED291}" type="pres">
      <dgm:prSet presAssocID="{4CA0455C-4582-E64E-8A27-BEB980A9D8A8}" presName="composite" presStyleCnt="0"/>
      <dgm:spPr/>
    </dgm:pt>
    <dgm:pt modelId="{C4B549C0-8B81-8144-A7CD-CA4BF7D30B52}" type="pres">
      <dgm:prSet presAssocID="{4CA0455C-4582-E64E-8A27-BEB980A9D8A8}" presName="bentUpArrow1" presStyleLbl="alignImgPlace1" presStyleIdx="3" presStyleCnt="7"/>
      <dgm:spPr>
        <a:solidFill>
          <a:schemeClr val="accent1">
            <a:lumMod val="20000"/>
            <a:lumOff val="80000"/>
          </a:schemeClr>
        </a:solidFill>
      </dgm:spPr>
    </dgm:pt>
    <dgm:pt modelId="{C82DE53D-1269-BF4F-ADF4-06C7729989B8}" type="pres">
      <dgm:prSet presAssocID="{4CA0455C-4582-E64E-8A27-BEB980A9D8A8}" presName="ParentText" presStyleLbl="node1" presStyleIdx="3" presStyleCnt="8" custScaleX="172408">
        <dgm:presLayoutVars>
          <dgm:chMax val="1"/>
          <dgm:chPref val="1"/>
          <dgm:bulletEnabled val="1"/>
        </dgm:presLayoutVars>
      </dgm:prSet>
      <dgm:spPr/>
    </dgm:pt>
    <dgm:pt modelId="{11706CB3-CFAF-5447-9AE6-60B5853D3318}" type="pres">
      <dgm:prSet presAssocID="{4CA0455C-4582-E64E-8A27-BEB980A9D8A8}" presName="ChildText" presStyleLbl="revTx" presStyleIdx="3" presStyleCnt="7">
        <dgm:presLayoutVars>
          <dgm:chMax val="0"/>
          <dgm:chPref val="0"/>
          <dgm:bulletEnabled val="1"/>
        </dgm:presLayoutVars>
      </dgm:prSet>
      <dgm:spPr/>
    </dgm:pt>
    <dgm:pt modelId="{0F39A60B-EB18-884A-B5A9-8FD79FC5877C}" type="pres">
      <dgm:prSet presAssocID="{83827F77-CD94-6447-98A0-EF31FC3F5657}" presName="sibTrans" presStyleCnt="0"/>
      <dgm:spPr/>
    </dgm:pt>
    <dgm:pt modelId="{1991DAD0-0B7D-444E-A0CF-D61D6AE9BFB1}" type="pres">
      <dgm:prSet presAssocID="{583C8F63-69F8-7A4F-BA33-CF6E34CD0A34}" presName="composite" presStyleCnt="0"/>
      <dgm:spPr/>
    </dgm:pt>
    <dgm:pt modelId="{27849D61-6D39-F54E-A6C7-DCFE767E01DF}" type="pres">
      <dgm:prSet presAssocID="{583C8F63-69F8-7A4F-BA33-CF6E34CD0A34}" presName="bentUpArrow1" presStyleLbl="alignImgPlace1" presStyleIdx="4" presStyleCnt="7"/>
      <dgm:spPr>
        <a:solidFill>
          <a:schemeClr val="accent1">
            <a:lumMod val="20000"/>
            <a:lumOff val="80000"/>
          </a:schemeClr>
        </a:solidFill>
      </dgm:spPr>
    </dgm:pt>
    <dgm:pt modelId="{C4C9A64B-B8C7-714E-B327-C065CAFBEA3D}" type="pres">
      <dgm:prSet presAssocID="{583C8F63-69F8-7A4F-BA33-CF6E34CD0A34}" presName="ParentText" presStyleLbl="node1" presStyleIdx="4" presStyleCnt="8" custScaleX="201316" custLinFactNeighborX="2841">
        <dgm:presLayoutVars>
          <dgm:chMax val="1"/>
          <dgm:chPref val="1"/>
          <dgm:bulletEnabled val="1"/>
        </dgm:presLayoutVars>
      </dgm:prSet>
      <dgm:spPr/>
    </dgm:pt>
    <dgm:pt modelId="{0813C4E7-F923-0F4F-850D-0376F5104129}" type="pres">
      <dgm:prSet presAssocID="{583C8F63-69F8-7A4F-BA33-CF6E34CD0A34}" presName="ChildText" presStyleLbl="revTx" presStyleIdx="4" presStyleCnt="7">
        <dgm:presLayoutVars>
          <dgm:chMax val="0"/>
          <dgm:chPref val="0"/>
          <dgm:bulletEnabled val="1"/>
        </dgm:presLayoutVars>
      </dgm:prSet>
      <dgm:spPr/>
    </dgm:pt>
    <dgm:pt modelId="{815DCE7A-D0CD-214A-A467-B06FCBB55E57}" type="pres">
      <dgm:prSet presAssocID="{E37AFB13-E229-4247-98B7-1643BDF5F784}" presName="sibTrans" presStyleCnt="0"/>
      <dgm:spPr/>
    </dgm:pt>
    <dgm:pt modelId="{61723245-F656-F84E-82CD-D93EB44AB229}" type="pres">
      <dgm:prSet presAssocID="{4B216DC2-7438-DF49-9D31-F87D45B27CFA}" presName="composite" presStyleCnt="0"/>
      <dgm:spPr/>
    </dgm:pt>
    <dgm:pt modelId="{CC8193CE-1065-6845-9207-B11138B0CE72}" type="pres">
      <dgm:prSet presAssocID="{4B216DC2-7438-DF49-9D31-F87D45B27CFA}" presName="bentUpArrow1" presStyleLbl="alignImgPlace1" presStyleIdx="5" presStyleCnt="7"/>
      <dgm:spPr>
        <a:solidFill>
          <a:schemeClr val="accent1">
            <a:lumMod val="20000"/>
            <a:lumOff val="80000"/>
          </a:schemeClr>
        </a:solidFill>
      </dgm:spPr>
    </dgm:pt>
    <dgm:pt modelId="{9B5FB471-71CC-1048-A8E7-61A373A65774}" type="pres">
      <dgm:prSet presAssocID="{4B216DC2-7438-DF49-9D31-F87D45B27CFA}" presName="ParentText" presStyleLbl="node1" presStyleIdx="5" presStyleCnt="8" custScaleX="198781" custLinFactNeighborX="14210">
        <dgm:presLayoutVars>
          <dgm:chMax val="1"/>
          <dgm:chPref val="1"/>
          <dgm:bulletEnabled val="1"/>
        </dgm:presLayoutVars>
      </dgm:prSet>
      <dgm:spPr/>
    </dgm:pt>
    <dgm:pt modelId="{D42E8F87-F14F-5644-BF8C-5FA0D7DDFCF8}" type="pres">
      <dgm:prSet presAssocID="{4B216DC2-7438-DF49-9D31-F87D45B27CFA}" presName="ChildText" presStyleLbl="revTx" presStyleIdx="5" presStyleCnt="7">
        <dgm:presLayoutVars>
          <dgm:chMax val="0"/>
          <dgm:chPref val="0"/>
          <dgm:bulletEnabled val="1"/>
        </dgm:presLayoutVars>
      </dgm:prSet>
      <dgm:spPr/>
    </dgm:pt>
    <dgm:pt modelId="{A2C34CBC-69C5-934A-9B44-5F46C591EFA0}" type="pres">
      <dgm:prSet presAssocID="{41969B2F-38C2-E740-888A-8286A6EBAE92}" presName="sibTrans" presStyleCnt="0"/>
      <dgm:spPr/>
    </dgm:pt>
    <dgm:pt modelId="{BF3F7890-3339-DD41-A4B4-DC34056BEBCE}" type="pres">
      <dgm:prSet presAssocID="{6DF8CE79-C6A7-5A41-A721-26BFC4DCE6AB}" presName="composite" presStyleCnt="0"/>
      <dgm:spPr/>
    </dgm:pt>
    <dgm:pt modelId="{30E1F04A-1258-5A4E-B797-609350F021A8}" type="pres">
      <dgm:prSet presAssocID="{6DF8CE79-C6A7-5A41-A721-26BFC4DCE6AB}" presName="bentUpArrow1" presStyleLbl="alignImgPlace1" presStyleIdx="6" presStyleCnt="7"/>
      <dgm:spPr>
        <a:solidFill>
          <a:schemeClr val="accent1">
            <a:lumMod val="20000"/>
            <a:lumOff val="80000"/>
          </a:schemeClr>
        </a:solidFill>
      </dgm:spPr>
    </dgm:pt>
    <dgm:pt modelId="{44000DBD-E182-D248-9CED-2803BF8986B3}" type="pres">
      <dgm:prSet presAssocID="{6DF8CE79-C6A7-5A41-A721-26BFC4DCE6AB}" presName="ParentText" presStyleLbl="node1" presStyleIdx="6" presStyleCnt="8" custScaleX="192879" custLinFactNeighborX="12788">
        <dgm:presLayoutVars>
          <dgm:chMax val="1"/>
          <dgm:chPref val="1"/>
          <dgm:bulletEnabled val="1"/>
        </dgm:presLayoutVars>
      </dgm:prSet>
      <dgm:spPr/>
    </dgm:pt>
    <dgm:pt modelId="{93EF354D-B8C1-1049-8FA8-28D9B162CCBE}" type="pres">
      <dgm:prSet presAssocID="{6DF8CE79-C6A7-5A41-A721-26BFC4DCE6AB}" presName="ChildText" presStyleLbl="revTx" presStyleIdx="6" presStyleCnt="7">
        <dgm:presLayoutVars>
          <dgm:chMax val="0"/>
          <dgm:chPref val="0"/>
          <dgm:bulletEnabled val="1"/>
        </dgm:presLayoutVars>
      </dgm:prSet>
      <dgm:spPr/>
    </dgm:pt>
    <dgm:pt modelId="{7C2533D0-7044-444A-BD23-8B9A009CFB5C}" type="pres">
      <dgm:prSet presAssocID="{58E54928-2640-2E42-9D04-DEF974415FDB}" presName="sibTrans" presStyleCnt="0"/>
      <dgm:spPr/>
    </dgm:pt>
    <dgm:pt modelId="{419C0B38-2B69-7E4A-9FF4-36D139573311}" type="pres">
      <dgm:prSet presAssocID="{51039BAB-6DEF-234C-8E37-47B08A1840E9}" presName="composite" presStyleCnt="0"/>
      <dgm:spPr/>
    </dgm:pt>
    <dgm:pt modelId="{40D8F7EE-5CB8-6D41-B7BF-9DEDB59A03B6}" type="pres">
      <dgm:prSet presAssocID="{51039BAB-6DEF-234C-8E37-47B08A1840E9}" presName="ParentText" presStyleLbl="node1" presStyleIdx="7" presStyleCnt="8" custScaleX="176388" custLinFactNeighborX="11368">
        <dgm:presLayoutVars>
          <dgm:chMax val="1"/>
          <dgm:chPref val="1"/>
          <dgm:bulletEnabled val="1"/>
        </dgm:presLayoutVars>
      </dgm:prSet>
      <dgm:spPr/>
    </dgm:pt>
  </dgm:ptLst>
  <dgm:cxnLst>
    <dgm:cxn modelId="{A1B48704-C827-5247-B444-AD2C7D69DF6B}" srcId="{7441D226-B2A5-7949-A6E3-ADA45FDC30B2}" destId="{4B216DC2-7438-DF49-9D31-F87D45B27CFA}" srcOrd="5" destOrd="0" parTransId="{5856EF07-0C79-174E-88AE-68C40F82EA01}" sibTransId="{41969B2F-38C2-E740-888A-8286A6EBAE92}"/>
    <dgm:cxn modelId="{7E3B1609-26B7-1E4F-B674-8CEBD18E9F09}" type="presOf" srcId="{6DF8CE79-C6A7-5A41-A721-26BFC4DCE6AB}" destId="{44000DBD-E182-D248-9CED-2803BF8986B3}" srcOrd="0" destOrd="0" presId="urn:microsoft.com/office/officeart/2005/8/layout/StepDownProcess"/>
    <dgm:cxn modelId="{DA2B6714-C27B-1545-8ED8-768375A097F5}" srcId="{7441D226-B2A5-7949-A6E3-ADA45FDC30B2}" destId="{4CA0455C-4582-E64E-8A27-BEB980A9D8A8}" srcOrd="3" destOrd="0" parTransId="{F342429F-BB5B-A54D-8A8E-091F76660D64}" sibTransId="{83827F77-CD94-6447-98A0-EF31FC3F5657}"/>
    <dgm:cxn modelId="{FEE93D38-9427-0046-B973-E937B90B9942}" type="presOf" srcId="{4B216DC2-7438-DF49-9D31-F87D45B27CFA}" destId="{9B5FB471-71CC-1048-A8E7-61A373A65774}" srcOrd="0" destOrd="0" presId="urn:microsoft.com/office/officeart/2005/8/layout/StepDownProcess"/>
    <dgm:cxn modelId="{9AA9D841-699C-AB4E-93D3-9E1AD82362FC}" srcId="{7441D226-B2A5-7949-A6E3-ADA45FDC30B2}" destId="{583C8F63-69F8-7A4F-BA33-CF6E34CD0A34}" srcOrd="4" destOrd="0" parTransId="{AEC5F855-F1BC-0146-AFA3-AD725A391BE3}" sibTransId="{E37AFB13-E229-4247-98B7-1643BDF5F784}"/>
    <dgm:cxn modelId="{98E77049-B5A2-BC4F-AED5-F363BD401022}" srcId="{7441D226-B2A5-7949-A6E3-ADA45FDC30B2}" destId="{6DF8CE79-C6A7-5A41-A721-26BFC4DCE6AB}" srcOrd="6" destOrd="0" parTransId="{81ACA2E4-8BC8-8A41-BCBE-0B9628CED246}" sibTransId="{58E54928-2640-2E42-9D04-DEF974415FDB}"/>
    <dgm:cxn modelId="{8CF0584B-1C28-434D-BEDE-0D9EE4A0FBEE}" type="presOf" srcId="{483F8E6A-989F-404E-85A5-6A15DDCB6EE8}" destId="{7EEEABDB-FE16-F641-80E8-BF10ABD0CAF2}" srcOrd="0" destOrd="0" presId="urn:microsoft.com/office/officeart/2005/8/layout/StepDownProcess"/>
    <dgm:cxn modelId="{A2E0496F-4A74-4E40-A1E0-7EA02D7ED753}" type="presOf" srcId="{583C8F63-69F8-7A4F-BA33-CF6E34CD0A34}" destId="{C4C9A64B-B8C7-714E-B327-C065CAFBEA3D}" srcOrd="0" destOrd="0" presId="urn:microsoft.com/office/officeart/2005/8/layout/StepDownProcess"/>
    <dgm:cxn modelId="{5C8F6C87-1EEA-FA45-B560-9594E8E6FA8C}" srcId="{7441D226-B2A5-7949-A6E3-ADA45FDC30B2}" destId="{483F8E6A-989F-404E-85A5-6A15DDCB6EE8}" srcOrd="0" destOrd="0" parTransId="{0510FD8C-A480-434F-BF88-B92F2C891832}" sibTransId="{DF59527F-A484-A74F-8A89-10F29C880554}"/>
    <dgm:cxn modelId="{33A72B90-8702-F64E-A29D-91554962DDC0}" srcId="{7441D226-B2A5-7949-A6E3-ADA45FDC30B2}" destId="{C38B32C9-38D6-3041-892D-0FC95D54249B}" srcOrd="1" destOrd="0" parTransId="{3021F09B-9FE8-0742-B3B3-57E1B5D32B4D}" sibTransId="{42165E9C-4A35-204A-85B2-0359DB247582}"/>
    <dgm:cxn modelId="{79260093-AF0C-1542-B39E-50E08C59D861}" type="presOf" srcId="{4CA0455C-4582-E64E-8A27-BEB980A9D8A8}" destId="{C82DE53D-1269-BF4F-ADF4-06C7729989B8}" srcOrd="0" destOrd="0" presId="urn:microsoft.com/office/officeart/2005/8/layout/StepDownProcess"/>
    <dgm:cxn modelId="{594008A9-D0CF-D641-ACB7-ABE584B9D2D5}" type="presOf" srcId="{C38B32C9-38D6-3041-892D-0FC95D54249B}" destId="{98E19FBF-A9F4-4F43-97CF-4540CF4C82CE}" srcOrd="0" destOrd="0" presId="urn:microsoft.com/office/officeart/2005/8/layout/StepDownProcess"/>
    <dgm:cxn modelId="{DC0FECA9-BE01-1C40-B41F-C947870A4594}" srcId="{7441D226-B2A5-7949-A6E3-ADA45FDC30B2}" destId="{339299D9-252D-654C-833B-00F9EB94FD54}" srcOrd="2" destOrd="0" parTransId="{375D41D2-0462-F54B-ADB5-016E40547711}" sibTransId="{88AAA730-65AA-2A41-9C37-91D0FF23A9B1}"/>
    <dgm:cxn modelId="{8E8F0EAB-DBAC-394B-B5CA-4B3347063EFD}" type="presOf" srcId="{7441D226-B2A5-7949-A6E3-ADA45FDC30B2}" destId="{7C1F76CE-6996-CC45-A9D1-21FFD6B359AE}" srcOrd="0" destOrd="0" presId="urn:microsoft.com/office/officeart/2005/8/layout/StepDownProcess"/>
    <dgm:cxn modelId="{BCACC9C2-8E2C-0C4B-9972-0E226478A94E}" srcId="{7441D226-B2A5-7949-A6E3-ADA45FDC30B2}" destId="{51039BAB-6DEF-234C-8E37-47B08A1840E9}" srcOrd="7" destOrd="0" parTransId="{E96C6C42-0DE6-A040-8459-C17DCF80D324}" sibTransId="{037324D1-866E-2947-979C-0BEE99747782}"/>
    <dgm:cxn modelId="{B71F36D2-175C-3043-A428-47F19DF763E3}" type="presOf" srcId="{51039BAB-6DEF-234C-8E37-47B08A1840E9}" destId="{40D8F7EE-5CB8-6D41-B7BF-9DEDB59A03B6}" srcOrd="0" destOrd="0" presId="urn:microsoft.com/office/officeart/2005/8/layout/StepDownProcess"/>
    <dgm:cxn modelId="{D512ACE6-D565-3E4F-BAE1-7F7DE15F900F}" type="presOf" srcId="{339299D9-252D-654C-833B-00F9EB94FD54}" destId="{4B0B5391-28D7-6344-82A4-A64282321C59}" srcOrd="0" destOrd="0" presId="urn:microsoft.com/office/officeart/2005/8/layout/StepDownProcess"/>
    <dgm:cxn modelId="{0DC28074-5849-9547-8581-86F691A166D7}" type="presParOf" srcId="{7C1F76CE-6996-CC45-A9D1-21FFD6B359AE}" destId="{E141A171-F0C6-D64E-BA33-60EE7B150CF1}" srcOrd="0" destOrd="0" presId="urn:microsoft.com/office/officeart/2005/8/layout/StepDownProcess"/>
    <dgm:cxn modelId="{6F97487A-D133-DE49-BF23-3AC413A07818}" type="presParOf" srcId="{E141A171-F0C6-D64E-BA33-60EE7B150CF1}" destId="{2F1671D2-E3D7-774C-8311-35C17B46B8DC}" srcOrd="0" destOrd="0" presId="urn:microsoft.com/office/officeart/2005/8/layout/StepDownProcess"/>
    <dgm:cxn modelId="{2F88B8E9-4106-064C-9057-7B2FE7DB0C2A}" type="presParOf" srcId="{E141A171-F0C6-D64E-BA33-60EE7B150CF1}" destId="{7EEEABDB-FE16-F641-80E8-BF10ABD0CAF2}" srcOrd="1" destOrd="0" presId="urn:microsoft.com/office/officeart/2005/8/layout/StepDownProcess"/>
    <dgm:cxn modelId="{048971C0-9635-5A46-B58D-30F4C33564A6}" type="presParOf" srcId="{E141A171-F0C6-D64E-BA33-60EE7B150CF1}" destId="{FAAEE7E7-8C63-544F-8BC1-71BB3C68F245}" srcOrd="2" destOrd="0" presId="urn:microsoft.com/office/officeart/2005/8/layout/StepDownProcess"/>
    <dgm:cxn modelId="{4B5245A9-9EB4-6B4A-8039-3156F9489401}" type="presParOf" srcId="{7C1F76CE-6996-CC45-A9D1-21FFD6B359AE}" destId="{4C4349B8-1D81-8743-B885-70E8E45FAAD5}" srcOrd="1" destOrd="0" presId="urn:microsoft.com/office/officeart/2005/8/layout/StepDownProcess"/>
    <dgm:cxn modelId="{72B9ACCF-1DEF-CC41-9155-7C981B341F4A}" type="presParOf" srcId="{7C1F76CE-6996-CC45-A9D1-21FFD6B359AE}" destId="{19C556E4-CD16-194F-8A13-9EAA45B24C1A}" srcOrd="2" destOrd="0" presId="urn:microsoft.com/office/officeart/2005/8/layout/StepDownProcess"/>
    <dgm:cxn modelId="{B614C5E1-A256-AE46-8FA4-9BDD5DB53661}" type="presParOf" srcId="{19C556E4-CD16-194F-8A13-9EAA45B24C1A}" destId="{B159C737-BC1F-3347-93C8-642506F3D023}" srcOrd="0" destOrd="0" presId="urn:microsoft.com/office/officeart/2005/8/layout/StepDownProcess"/>
    <dgm:cxn modelId="{D709DEB5-13F7-BB4D-96C3-6D55771C810E}" type="presParOf" srcId="{19C556E4-CD16-194F-8A13-9EAA45B24C1A}" destId="{98E19FBF-A9F4-4F43-97CF-4540CF4C82CE}" srcOrd="1" destOrd="0" presId="urn:microsoft.com/office/officeart/2005/8/layout/StepDownProcess"/>
    <dgm:cxn modelId="{E07F8597-3470-9A4E-9FCC-27CB42FF9929}" type="presParOf" srcId="{19C556E4-CD16-194F-8A13-9EAA45B24C1A}" destId="{D9E3A607-FA0B-944E-9476-7CC0811CB518}" srcOrd="2" destOrd="0" presId="urn:microsoft.com/office/officeart/2005/8/layout/StepDownProcess"/>
    <dgm:cxn modelId="{4E1DC641-3837-C246-B670-5D44C7B3EC33}" type="presParOf" srcId="{7C1F76CE-6996-CC45-A9D1-21FFD6B359AE}" destId="{5C136734-C491-0D4D-A24B-49921A2A8F35}" srcOrd="3" destOrd="0" presId="urn:microsoft.com/office/officeart/2005/8/layout/StepDownProcess"/>
    <dgm:cxn modelId="{EB73548B-3030-A949-B1B6-D094CF2626E2}" type="presParOf" srcId="{7C1F76CE-6996-CC45-A9D1-21FFD6B359AE}" destId="{B9A8F6AB-1EBF-C345-B593-5304C3607A6C}" srcOrd="4" destOrd="0" presId="urn:microsoft.com/office/officeart/2005/8/layout/StepDownProcess"/>
    <dgm:cxn modelId="{33A4ED86-C54F-534D-ADD0-3FBE8D3543F4}" type="presParOf" srcId="{B9A8F6AB-1EBF-C345-B593-5304C3607A6C}" destId="{2957C08C-BC08-9548-8378-CCB108B60161}" srcOrd="0" destOrd="0" presId="urn:microsoft.com/office/officeart/2005/8/layout/StepDownProcess"/>
    <dgm:cxn modelId="{2F2A2C7E-774A-4048-AC3E-A396B49F60D1}" type="presParOf" srcId="{B9A8F6AB-1EBF-C345-B593-5304C3607A6C}" destId="{4B0B5391-28D7-6344-82A4-A64282321C59}" srcOrd="1" destOrd="0" presId="urn:microsoft.com/office/officeart/2005/8/layout/StepDownProcess"/>
    <dgm:cxn modelId="{14CB8779-14B0-C546-A6F4-19E3BF4CF9F6}" type="presParOf" srcId="{B9A8F6AB-1EBF-C345-B593-5304C3607A6C}" destId="{C8A8C670-AD2A-6946-9851-265F2D332657}" srcOrd="2" destOrd="0" presId="urn:microsoft.com/office/officeart/2005/8/layout/StepDownProcess"/>
    <dgm:cxn modelId="{5CF9FABA-BC0A-EB44-BD87-21EA86038FDA}" type="presParOf" srcId="{7C1F76CE-6996-CC45-A9D1-21FFD6B359AE}" destId="{0ECE2AB2-F492-1748-B245-44776056B397}" srcOrd="5" destOrd="0" presId="urn:microsoft.com/office/officeart/2005/8/layout/StepDownProcess"/>
    <dgm:cxn modelId="{0C0F8A3C-20BE-C942-BE58-204F42E387E2}" type="presParOf" srcId="{7C1F76CE-6996-CC45-A9D1-21FFD6B359AE}" destId="{DA1B5153-EA2C-5A44-ACC0-5A9655DED291}" srcOrd="6" destOrd="0" presId="urn:microsoft.com/office/officeart/2005/8/layout/StepDownProcess"/>
    <dgm:cxn modelId="{825942BE-ABC6-0F4B-86BB-113F905327FC}" type="presParOf" srcId="{DA1B5153-EA2C-5A44-ACC0-5A9655DED291}" destId="{C4B549C0-8B81-8144-A7CD-CA4BF7D30B52}" srcOrd="0" destOrd="0" presId="urn:microsoft.com/office/officeart/2005/8/layout/StepDownProcess"/>
    <dgm:cxn modelId="{E0410274-25EC-9C4B-9069-2C1DEBCE2CBB}" type="presParOf" srcId="{DA1B5153-EA2C-5A44-ACC0-5A9655DED291}" destId="{C82DE53D-1269-BF4F-ADF4-06C7729989B8}" srcOrd="1" destOrd="0" presId="urn:microsoft.com/office/officeart/2005/8/layout/StepDownProcess"/>
    <dgm:cxn modelId="{152B94D7-FB06-DE4C-8E06-519D025FEC41}" type="presParOf" srcId="{DA1B5153-EA2C-5A44-ACC0-5A9655DED291}" destId="{11706CB3-CFAF-5447-9AE6-60B5853D3318}" srcOrd="2" destOrd="0" presId="urn:microsoft.com/office/officeart/2005/8/layout/StepDownProcess"/>
    <dgm:cxn modelId="{D7156DAC-39C6-4546-87FB-009AEC38FB23}" type="presParOf" srcId="{7C1F76CE-6996-CC45-A9D1-21FFD6B359AE}" destId="{0F39A60B-EB18-884A-B5A9-8FD79FC5877C}" srcOrd="7" destOrd="0" presId="urn:microsoft.com/office/officeart/2005/8/layout/StepDownProcess"/>
    <dgm:cxn modelId="{BB0C8A23-40E7-594D-BDD2-B23805D76DBD}" type="presParOf" srcId="{7C1F76CE-6996-CC45-A9D1-21FFD6B359AE}" destId="{1991DAD0-0B7D-444E-A0CF-D61D6AE9BFB1}" srcOrd="8" destOrd="0" presId="urn:microsoft.com/office/officeart/2005/8/layout/StepDownProcess"/>
    <dgm:cxn modelId="{BCF6365A-0744-4A4F-823D-1878446F5DC8}" type="presParOf" srcId="{1991DAD0-0B7D-444E-A0CF-D61D6AE9BFB1}" destId="{27849D61-6D39-F54E-A6C7-DCFE767E01DF}" srcOrd="0" destOrd="0" presId="urn:microsoft.com/office/officeart/2005/8/layout/StepDownProcess"/>
    <dgm:cxn modelId="{61B99CA5-97B9-8F45-B0ED-C2340228746F}" type="presParOf" srcId="{1991DAD0-0B7D-444E-A0CF-D61D6AE9BFB1}" destId="{C4C9A64B-B8C7-714E-B327-C065CAFBEA3D}" srcOrd="1" destOrd="0" presId="urn:microsoft.com/office/officeart/2005/8/layout/StepDownProcess"/>
    <dgm:cxn modelId="{51AA1B27-BB4F-2641-91C0-0813BB9E7C09}" type="presParOf" srcId="{1991DAD0-0B7D-444E-A0CF-D61D6AE9BFB1}" destId="{0813C4E7-F923-0F4F-850D-0376F5104129}" srcOrd="2" destOrd="0" presId="urn:microsoft.com/office/officeart/2005/8/layout/StepDownProcess"/>
    <dgm:cxn modelId="{00FBCFC6-488D-DE4D-9E09-9EA7407D5EED}" type="presParOf" srcId="{7C1F76CE-6996-CC45-A9D1-21FFD6B359AE}" destId="{815DCE7A-D0CD-214A-A467-B06FCBB55E57}" srcOrd="9" destOrd="0" presId="urn:microsoft.com/office/officeart/2005/8/layout/StepDownProcess"/>
    <dgm:cxn modelId="{EC0B51C7-9406-FB4E-AB90-5BE95A038191}" type="presParOf" srcId="{7C1F76CE-6996-CC45-A9D1-21FFD6B359AE}" destId="{61723245-F656-F84E-82CD-D93EB44AB229}" srcOrd="10" destOrd="0" presId="urn:microsoft.com/office/officeart/2005/8/layout/StepDownProcess"/>
    <dgm:cxn modelId="{9B5B9015-DC19-6849-A264-22D83A263FA5}" type="presParOf" srcId="{61723245-F656-F84E-82CD-D93EB44AB229}" destId="{CC8193CE-1065-6845-9207-B11138B0CE72}" srcOrd="0" destOrd="0" presId="urn:microsoft.com/office/officeart/2005/8/layout/StepDownProcess"/>
    <dgm:cxn modelId="{D6E7C325-A427-F946-A40D-989C83799CF6}" type="presParOf" srcId="{61723245-F656-F84E-82CD-D93EB44AB229}" destId="{9B5FB471-71CC-1048-A8E7-61A373A65774}" srcOrd="1" destOrd="0" presId="urn:microsoft.com/office/officeart/2005/8/layout/StepDownProcess"/>
    <dgm:cxn modelId="{B721578D-E468-B943-8461-061EB1CF85AE}" type="presParOf" srcId="{61723245-F656-F84E-82CD-D93EB44AB229}" destId="{D42E8F87-F14F-5644-BF8C-5FA0D7DDFCF8}" srcOrd="2" destOrd="0" presId="urn:microsoft.com/office/officeart/2005/8/layout/StepDownProcess"/>
    <dgm:cxn modelId="{1BC9F804-30D3-5649-8CE9-552DE18DB0AE}" type="presParOf" srcId="{7C1F76CE-6996-CC45-A9D1-21FFD6B359AE}" destId="{A2C34CBC-69C5-934A-9B44-5F46C591EFA0}" srcOrd="11" destOrd="0" presId="urn:microsoft.com/office/officeart/2005/8/layout/StepDownProcess"/>
    <dgm:cxn modelId="{ADB15ADA-8BB9-B948-BF3B-B60C43972208}" type="presParOf" srcId="{7C1F76CE-6996-CC45-A9D1-21FFD6B359AE}" destId="{BF3F7890-3339-DD41-A4B4-DC34056BEBCE}" srcOrd="12" destOrd="0" presId="urn:microsoft.com/office/officeart/2005/8/layout/StepDownProcess"/>
    <dgm:cxn modelId="{1717E7DD-2A8F-E445-8BF9-39EC5EBFEF11}" type="presParOf" srcId="{BF3F7890-3339-DD41-A4B4-DC34056BEBCE}" destId="{30E1F04A-1258-5A4E-B797-609350F021A8}" srcOrd="0" destOrd="0" presId="urn:microsoft.com/office/officeart/2005/8/layout/StepDownProcess"/>
    <dgm:cxn modelId="{9E50AD80-738C-B642-8B3E-6362EF276CBF}" type="presParOf" srcId="{BF3F7890-3339-DD41-A4B4-DC34056BEBCE}" destId="{44000DBD-E182-D248-9CED-2803BF8986B3}" srcOrd="1" destOrd="0" presId="urn:microsoft.com/office/officeart/2005/8/layout/StepDownProcess"/>
    <dgm:cxn modelId="{A4FE3631-C2AF-3F48-8CF4-E16FDC3881D3}" type="presParOf" srcId="{BF3F7890-3339-DD41-A4B4-DC34056BEBCE}" destId="{93EF354D-B8C1-1049-8FA8-28D9B162CCBE}" srcOrd="2" destOrd="0" presId="urn:microsoft.com/office/officeart/2005/8/layout/StepDownProcess"/>
    <dgm:cxn modelId="{08E4B74F-2386-0840-913D-9AC77040EDB0}" type="presParOf" srcId="{7C1F76CE-6996-CC45-A9D1-21FFD6B359AE}" destId="{7C2533D0-7044-444A-BD23-8B9A009CFB5C}" srcOrd="13" destOrd="0" presId="urn:microsoft.com/office/officeart/2005/8/layout/StepDownProcess"/>
    <dgm:cxn modelId="{FF0FF16E-8062-884D-AE6E-CB347A641F3A}" type="presParOf" srcId="{7C1F76CE-6996-CC45-A9D1-21FFD6B359AE}" destId="{419C0B38-2B69-7E4A-9FF4-36D139573311}" srcOrd="14" destOrd="0" presId="urn:microsoft.com/office/officeart/2005/8/layout/StepDownProcess"/>
    <dgm:cxn modelId="{D1D12F5D-37A7-7D49-A973-64207940098B}" type="presParOf" srcId="{419C0B38-2B69-7E4A-9FF4-36D139573311}" destId="{40D8F7EE-5CB8-6D41-B7BF-9DEDB59A03B6}" srcOrd="0" destOrd="0" presId="urn:microsoft.com/office/officeart/2005/8/layout/StepDown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645CD1E-21EE-E042-B3AF-ADA902B525E3}" type="doc">
      <dgm:prSet loTypeId="urn:microsoft.com/office/officeart/2005/8/layout/process1" loCatId="" qsTypeId="urn:microsoft.com/office/officeart/2005/8/quickstyle/simple1" qsCatId="simple" csTypeId="urn:microsoft.com/office/officeart/2005/8/colors/accent0_1" csCatId="mainScheme" phldr="1"/>
      <dgm:spPr/>
    </dgm:pt>
    <dgm:pt modelId="{C53A8FEA-1768-2245-AF38-ADBB5C594FCB}">
      <dgm:prSet phldrT="[Text]" custT="1"/>
      <dgm:spPr/>
      <dgm:t>
        <a:bodyPr/>
        <a:lstStyle/>
        <a:p>
          <a:r>
            <a:rPr lang="en-US" sz="1400" dirty="0">
              <a:latin typeface="Nadeem" pitchFamily="2" charset="-78"/>
              <a:cs typeface="Nadeem" pitchFamily="2" charset="-78"/>
            </a:rPr>
            <a:t>[week1, week2, week3, …, week8]</a:t>
          </a:r>
        </a:p>
      </dgm:t>
    </dgm:pt>
    <dgm:pt modelId="{22A522E5-580A-A140-B2B2-EBA8C498F4A2}" type="parTrans" cxnId="{04D6101E-94E8-3B47-A238-2F2F3F45DBCE}">
      <dgm:prSet/>
      <dgm:spPr/>
      <dgm:t>
        <a:bodyPr/>
        <a:lstStyle/>
        <a:p>
          <a:endParaRPr lang="en-US" sz="1400">
            <a:latin typeface="Nadeem" pitchFamily="2" charset="-78"/>
            <a:cs typeface="Nadeem" pitchFamily="2" charset="-78"/>
          </a:endParaRPr>
        </a:p>
      </dgm:t>
    </dgm:pt>
    <dgm:pt modelId="{ADAFC135-4526-9748-BA6C-C8F9A03F36C7}" type="sibTrans" cxnId="{04D6101E-94E8-3B47-A238-2F2F3F45DBCE}">
      <dgm:prSet custT="1"/>
      <dgm:spPr>
        <a:solidFill>
          <a:schemeClr val="accent1">
            <a:lumMod val="20000"/>
            <a:lumOff val="80000"/>
          </a:schemeClr>
        </a:solidFill>
        <a:ln>
          <a:solidFill>
            <a:schemeClr val="dk1">
              <a:shade val="80000"/>
              <a:hueOff val="0"/>
              <a:satOff val="0"/>
              <a:lumOff val="0"/>
            </a:schemeClr>
          </a:solidFill>
        </a:ln>
      </dgm:spPr>
      <dgm:t>
        <a:bodyPr/>
        <a:lstStyle/>
        <a:p>
          <a:pPr rtl="0"/>
          <a:endParaRPr lang="en-US" sz="1400">
            <a:latin typeface="Nadeem" pitchFamily="2" charset="-78"/>
            <a:cs typeface="Nadeem" pitchFamily="2" charset="-78"/>
          </a:endParaRPr>
        </a:p>
      </dgm:t>
    </dgm:pt>
    <dgm:pt modelId="{B4D0E1F9-7B8A-D94C-BB58-521B7AA54C2D}">
      <dgm:prSet custT="1"/>
      <dgm:spPr/>
      <dgm:t>
        <a:bodyPr/>
        <a:lstStyle/>
        <a:p>
          <a:r>
            <a:rPr lang="en-US" sz="1400" dirty="0">
              <a:latin typeface="Nadeem" pitchFamily="2" charset="-78"/>
              <a:cs typeface="Nadeem" pitchFamily="2" charset="-78"/>
            </a:rPr>
            <a:t>Predict week9</a:t>
          </a:r>
        </a:p>
      </dgm:t>
    </dgm:pt>
    <dgm:pt modelId="{E602F0E1-024A-5943-96CD-648C58745FC5}" type="parTrans" cxnId="{2E36D094-A26B-684D-BBF8-31ABB72C2AF6}">
      <dgm:prSet/>
      <dgm:spPr/>
      <dgm:t>
        <a:bodyPr/>
        <a:lstStyle/>
        <a:p>
          <a:endParaRPr lang="en-US" sz="1400">
            <a:latin typeface="Nadeem" pitchFamily="2" charset="-78"/>
            <a:cs typeface="Nadeem" pitchFamily="2" charset="-78"/>
          </a:endParaRPr>
        </a:p>
      </dgm:t>
    </dgm:pt>
    <dgm:pt modelId="{900468DC-A44A-4241-B10A-E2D21A7C9745}" type="sibTrans" cxnId="{2E36D094-A26B-684D-BBF8-31ABB72C2AF6}">
      <dgm:prSet/>
      <dgm:spPr/>
      <dgm:t>
        <a:bodyPr/>
        <a:lstStyle/>
        <a:p>
          <a:endParaRPr lang="en-US" sz="1400">
            <a:latin typeface="Nadeem" pitchFamily="2" charset="-78"/>
            <a:cs typeface="Nadeem" pitchFamily="2" charset="-78"/>
          </a:endParaRPr>
        </a:p>
      </dgm:t>
    </dgm:pt>
    <dgm:pt modelId="{D092312D-90B2-374E-B6C1-CB9EE502E5A9}" type="pres">
      <dgm:prSet presAssocID="{3645CD1E-21EE-E042-B3AF-ADA902B525E3}" presName="Name0" presStyleCnt="0">
        <dgm:presLayoutVars>
          <dgm:dir/>
          <dgm:resizeHandles val="exact"/>
        </dgm:presLayoutVars>
      </dgm:prSet>
      <dgm:spPr/>
    </dgm:pt>
    <dgm:pt modelId="{A0B35B71-3C1F-D742-BF07-2FAED650BE01}" type="pres">
      <dgm:prSet presAssocID="{C53A8FEA-1768-2245-AF38-ADBB5C594FCB}" presName="node" presStyleLbl="node1" presStyleIdx="0" presStyleCnt="2" custScaleX="168195" custLinFactNeighborX="-954" custLinFactNeighborY="2541">
        <dgm:presLayoutVars>
          <dgm:bulletEnabled val="1"/>
        </dgm:presLayoutVars>
      </dgm:prSet>
      <dgm:spPr/>
    </dgm:pt>
    <dgm:pt modelId="{72CD8F94-B397-754C-AFF0-366B2E057B3E}" type="pres">
      <dgm:prSet presAssocID="{ADAFC135-4526-9748-BA6C-C8F9A03F36C7}" presName="sibTrans" presStyleLbl="sibTrans2D1" presStyleIdx="0" presStyleCnt="1" custScaleX="72191"/>
      <dgm:spPr/>
    </dgm:pt>
    <dgm:pt modelId="{220BE91D-9858-9941-96EC-4C456ABC0E3F}" type="pres">
      <dgm:prSet presAssocID="{ADAFC135-4526-9748-BA6C-C8F9A03F36C7}" presName="connectorText" presStyleLbl="sibTrans2D1" presStyleIdx="0" presStyleCnt="1"/>
      <dgm:spPr/>
    </dgm:pt>
    <dgm:pt modelId="{4713911D-445D-FB44-AFA7-2EEE71829995}" type="pres">
      <dgm:prSet presAssocID="{B4D0E1F9-7B8A-D94C-BB58-521B7AA54C2D}" presName="node" presStyleLbl="node1" presStyleIdx="1" presStyleCnt="2" custScaleX="76016">
        <dgm:presLayoutVars>
          <dgm:bulletEnabled val="1"/>
        </dgm:presLayoutVars>
      </dgm:prSet>
      <dgm:spPr/>
    </dgm:pt>
  </dgm:ptLst>
  <dgm:cxnLst>
    <dgm:cxn modelId="{04D6101E-94E8-3B47-A238-2F2F3F45DBCE}" srcId="{3645CD1E-21EE-E042-B3AF-ADA902B525E3}" destId="{C53A8FEA-1768-2245-AF38-ADBB5C594FCB}" srcOrd="0" destOrd="0" parTransId="{22A522E5-580A-A140-B2B2-EBA8C498F4A2}" sibTransId="{ADAFC135-4526-9748-BA6C-C8F9A03F36C7}"/>
    <dgm:cxn modelId="{1D839C26-9F93-D646-8FB9-EA34DF0B69A5}" type="presOf" srcId="{B4D0E1F9-7B8A-D94C-BB58-521B7AA54C2D}" destId="{4713911D-445D-FB44-AFA7-2EEE71829995}" srcOrd="0" destOrd="0" presId="urn:microsoft.com/office/officeart/2005/8/layout/process1"/>
    <dgm:cxn modelId="{87AAEA4E-1940-9345-A699-944CCE62CCA3}" type="presOf" srcId="{ADAFC135-4526-9748-BA6C-C8F9A03F36C7}" destId="{72CD8F94-B397-754C-AFF0-366B2E057B3E}" srcOrd="0" destOrd="0" presId="urn:microsoft.com/office/officeart/2005/8/layout/process1"/>
    <dgm:cxn modelId="{B566D06C-960F-4844-B4E3-AE33C7215C5A}" type="presOf" srcId="{3645CD1E-21EE-E042-B3AF-ADA902B525E3}" destId="{D092312D-90B2-374E-B6C1-CB9EE502E5A9}" srcOrd="0" destOrd="0" presId="urn:microsoft.com/office/officeart/2005/8/layout/process1"/>
    <dgm:cxn modelId="{2E36D094-A26B-684D-BBF8-31ABB72C2AF6}" srcId="{3645CD1E-21EE-E042-B3AF-ADA902B525E3}" destId="{B4D0E1F9-7B8A-D94C-BB58-521B7AA54C2D}" srcOrd="1" destOrd="0" parTransId="{E602F0E1-024A-5943-96CD-648C58745FC5}" sibTransId="{900468DC-A44A-4241-B10A-E2D21A7C9745}"/>
    <dgm:cxn modelId="{EC33A0A4-DB4C-C54B-8A93-8B9DB34A05DF}" type="presOf" srcId="{C53A8FEA-1768-2245-AF38-ADBB5C594FCB}" destId="{A0B35B71-3C1F-D742-BF07-2FAED650BE01}" srcOrd="0" destOrd="0" presId="urn:microsoft.com/office/officeart/2005/8/layout/process1"/>
    <dgm:cxn modelId="{26DC62DF-7945-BC4F-93F5-9652BFF9B7E3}" type="presOf" srcId="{ADAFC135-4526-9748-BA6C-C8F9A03F36C7}" destId="{220BE91D-9858-9941-96EC-4C456ABC0E3F}" srcOrd="1" destOrd="0" presId="urn:microsoft.com/office/officeart/2005/8/layout/process1"/>
    <dgm:cxn modelId="{072AD8EF-7D6A-2D4C-87E2-FAA2E128C4CB}" type="presParOf" srcId="{D092312D-90B2-374E-B6C1-CB9EE502E5A9}" destId="{A0B35B71-3C1F-D742-BF07-2FAED650BE01}" srcOrd="0" destOrd="0" presId="urn:microsoft.com/office/officeart/2005/8/layout/process1"/>
    <dgm:cxn modelId="{60EDC802-1EFE-2044-8E47-835179D03A93}" type="presParOf" srcId="{D092312D-90B2-374E-B6C1-CB9EE502E5A9}" destId="{72CD8F94-B397-754C-AFF0-366B2E057B3E}" srcOrd="1" destOrd="0" presId="urn:microsoft.com/office/officeart/2005/8/layout/process1"/>
    <dgm:cxn modelId="{83AB851A-09E8-714C-9A4A-A6F82E781092}" type="presParOf" srcId="{72CD8F94-B397-754C-AFF0-366B2E057B3E}" destId="{220BE91D-9858-9941-96EC-4C456ABC0E3F}" srcOrd="0" destOrd="0" presId="urn:microsoft.com/office/officeart/2005/8/layout/process1"/>
    <dgm:cxn modelId="{7CA11BA8-E1BF-D141-88B7-3ACF08222732}" type="presParOf" srcId="{D092312D-90B2-374E-B6C1-CB9EE502E5A9}" destId="{4713911D-445D-FB44-AFA7-2EEE71829995}"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9FC2CD4-57F2-4E4A-801D-E49C7B8B0226}" type="doc">
      <dgm:prSet loTypeId="urn:microsoft.com/office/officeart/2005/8/layout/cycle3" loCatId="" qsTypeId="urn:microsoft.com/office/officeart/2005/8/quickstyle/simple1" qsCatId="simple" csTypeId="urn:microsoft.com/office/officeart/2005/8/colors/accent0_1" csCatId="mainScheme" phldr="1"/>
      <dgm:spPr/>
      <dgm:t>
        <a:bodyPr/>
        <a:lstStyle/>
        <a:p>
          <a:endParaRPr lang="en-US"/>
        </a:p>
      </dgm:t>
    </dgm:pt>
    <dgm:pt modelId="{C56E4A3C-112C-2745-A5C1-0F7D42C35899}">
      <dgm:prSet phldrT="[Text]" custT="1"/>
      <dgm:spPr/>
      <dgm:t>
        <a:bodyPr/>
        <a:lstStyle/>
        <a:p>
          <a:pPr rtl="0"/>
          <a:r>
            <a:rPr lang="en-US" sz="1800" dirty="0">
              <a:latin typeface="Nadeem" pitchFamily="2" charset="-78"/>
              <a:cs typeface="Nadeem" pitchFamily="2" charset="-78"/>
            </a:rPr>
            <a:t>Baseline Reference</a:t>
          </a:r>
        </a:p>
      </dgm:t>
    </dgm:pt>
    <dgm:pt modelId="{B1098F2C-A451-A944-8D22-B99516BEB42B}" type="parTrans" cxnId="{9CC8C884-57CE-1E44-B409-9212D5F52B14}">
      <dgm:prSet/>
      <dgm:spPr/>
      <dgm:t>
        <a:bodyPr/>
        <a:lstStyle/>
        <a:p>
          <a:endParaRPr lang="en-US" sz="1800">
            <a:latin typeface="Nadeem" pitchFamily="2" charset="-78"/>
            <a:cs typeface="Nadeem" pitchFamily="2" charset="-78"/>
          </a:endParaRPr>
        </a:p>
      </dgm:t>
    </dgm:pt>
    <dgm:pt modelId="{D9FFD8F4-C56A-E343-9D85-84497F777F54}" type="sibTrans" cxnId="{9CC8C884-57CE-1E44-B409-9212D5F52B14}">
      <dgm:prSet/>
      <dgm:spPr>
        <a:solidFill>
          <a:schemeClr val="accent1">
            <a:lumMod val="20000"/>
            <a:lumOff val="80000"/>
          </a:schemeClr>
        </a:solidFill>
        <a:ln w="19050">
          <a:solidFill>
            <a:schemeClr val="tx1"/>
          </a:solidFill>
        </a:ln>
      </dgm:spPr>
      <dgm:t>
        <a:bodyPr/>
        <a:lstStyle/>
        <a:p>
          <a:endParaRPr lang="en-US" sz="1800">
            <a:latin typeface="Nadeem" pitchFamily="2" charset="-78"/>
            <a:cs typeface="Nadeem" pitchFamily="2" charset="-78"/>
          </a:endParaRPr>
        </a:p>
      </dgm:t>
    </dgm:pt>
    <dgm:pt modelId="{21CC4E86-CD01-D243-A13B-DA167579E088}">
      <dgm:prSet phldrT="[Text]" custT="1"/>
      <dgm:spPr/>
      <dgm:t>
        <a:bodyPr/>
        <a:lstStyle/>
        <a:p>
          <a:pPr rtl="0"/>
          <a:r>
            <a:rPr lang="en-US" sz="1800" dirty="0">
              <a:latin typeface="Nadeem" pitchFamily="2" charset="-78"/>
              <a:cs typeface="Nadeem" pitchFamily="2" charset="-78"/>
            </a:rPr>
            <a:t>Model Training</a:t>
          </a:r>
        </a:p>
      </dgm:t>
    </dgm:pt>
    <dgm:pt modelId="{F949CF30-6366-5C41-B3F5-F3BE7275BFC5}" type="parTrans" cxnId="{FADD8632-6F62-D347-9D25-2AF3067D6D86}">
      <dgm:prSet/>
      <dgm:spPr/>
      <dgm:t>
        <a:bodyPr/>
        <a:lstStyle/>
        <a:p>
          <a:endParaRPr lang="en-US" sz="1800">
            <a:latin typeface="Nadeem" pitchFamily="2" charset="-78"/>
            <a:cs typeface="Nadeem" pitchFamily="2" charset="-78"/>
          </a:endParaRPr>
        </a:p>
      </dgm:t>
    </dgm:pt>
    <dgm:pt modelId="{2561C6C3-88AF-E54C-A319-2CCDE2DE310E}" type="sibTrans" cxnId="{FADD8632-6F62-D347-9D25-2AF3067D6D86}">
      <dgm:prSet/>
      <dgm:spPr/>
      <dgm:t>
        <a:bodyPr/>
        <a:lstStyle/>
        <a:p>
          <a:endParaRPr lang="en-US" sz="1800">
            <a:latin typeface="Nadeem" pitchFamily="2" charset="-78"/>
            <a:cs typeface="Nadeem" pitchFamily="2" charset="-78"/>
          </a:endParaRPr>
        </a:p>
      </dgm:t>
    </dgm:pt>
    <dgm:pt modelId="{70119834-5082-2F47-BE4B-7DA5F523B3F4}">
      <dgm:prSet phldrT="[Text]" custT="1"/>
      <dgm:spPr/>
      <dgm:t>
        <a:bodyPr/>
        <a:lstStyle/>
        <a:p>
          <a:pPr rtl="0"/>
          <a:r>
            <a:rPr lang="en-US" sz="1800" dirty="0">
              <a:latin typeface="Nadeem" pitchFamily="2" charset="-78"/>
              <a:cs typeface="Nadeem" pitchFamily="2" charset="-78"/>
            </a:rPr>
            <a:t>Quantitative Evaluation</a:t>
          </a:r>
        </a:p>
      </dgm:t>
    </dgm:pt>
    <dgm:pt modelId="{2CE41BD7-6486-E143-A9C9-5B6FC0790BC8}" type="parTrans" cxnId="{5CAF9DF1-FC0E-0347-878C-1B26C472F07C}">
      <dgm:prSet/>
      <dgm:spPr/>
      <dgm:t>
        <a:bodyPr/>
        <a:lstStyle/>
        <a:p>
          <a:endParaRPr lang="en-US" sz="1800">
            <a:latin typeface="Nadeem" pitchFamily="2" charset="-78"/>
            <a:cs typeface="Nadeem" pitchFamily="2" charset="-78"/>
          </a:endParaRPr>
        </a:p>
      </dgm:t>
    </dgm:pt>
    <dgm:pt modelId="{D27986A2-2A70-0C4F-A006-FC1DFA73FD93}" type="sibTrans" cxnId="{5CAF9DF1-FC0E-0347-878C-1B26C472F07C}">
      <dgm:prSet/>
      <dgm:spPr/>
      <dgm:t>
        <a:bodyPr/>
        <a:lstStyle/>
        <a:p>
          <a:endParaRPr lang="en-US" sz="1800">
            <a:latin typeface="Nadeem" pitchFamily="2" charset="-78"/>
            <a:cs typeface="Nadeem" pitchFamily="2" charset="-78"/>
          </a:endParaRPr>
        </a:p>
      </dgm:t>
    </dgm:pt>
    <dgm:pt modelId="{8249C817-5067-B14D-9C56-BA49E594B92A}">
      <dgm:prSet phldrT="[Text]" custT="1"/>
      <dgm:spPr/>
      <dgm:t>
        <a:bodyPr/>
        <a:lstStyle/>
        <a:p>
          <a:pPr rtl="0"/>
          <a:r>
            <a:rPr lang="en-US" sz="1800" dirty="0">
              <a:latin typeface="Nadeem" pitchFamily="2" charset="-78"/>
              <a:cs typeface="Nadeem" pitchFamily="2" charset="-78"/>
            </a:rPr>
            <a:t>Visual Validation</a:t>
          </a:r>
        </a:p>
      </dgm:t>
    </dgm:pt>
    <dgm:pt modelId="{9D39D801-83D4-F04E-B16D-4D4BE1502617}" type="parTrans" cxnId="{D1614C93-DD5D-DD40-A8F1-AC4A96864561}">
      <dgm:prSet/>
      <dgm:spPr/>
      <dgm:t>
        <a:bodyPr/>
        <a:lstStyle/>
        <a:p>
          <a:endParaRPr lang="en-US" sz="1800">
            <a:latin typeface="Nadeem" pitchFamily="2" charset="-78"/>
            <a:cs typeface="Nadeem" pitchFamily="2" charset="-78"/>
          </a:endParaRPr>
        </a:p>
      </dgm:t>
    </dgm:pt>
    <dgm:pt modelId="{A98B7C4B-DD5E-9148-A3BF-CE4F5A745DBF}" type="sibTrans" cxnId="{D1614C93-DD5D-DD40-A8F1-AC4A96864561}">
      <dgm:prSet/>
      <dgm:spPr/>
      <dgm:t>
        <a:bodyPr/>
        <a:lstStyle/>
        <a:p>
          <a:endParaRPr lang="en-US" sz="1800">
            <a:latin typeface="Nadeem" pitchFamily="2" charset="-78"/>
            <a:cs typeface="Nadeem" pitchFamily="2" charset="-78"/>
          </a:endParaRPr>
        </a:p>
      </dgm:t>
    </dgm:pt>
    <dgm:pt modelId="{AB72D237-BEFC-C44F-B919-BC35DD3A6AEB}">
      <dgm:prSet phldrT="[Text]" custT="1"/>
      <dgm:spPr/>
      <dgm:t>
        <a:bodyPr/>
        <a:lstStyle/>
        <a:p>
          <a:pPr rtl="0"/>
          <a:r>
            <a:rPr lang="en-US" sz="1800" dirty="0">
              <a:latin typeface="Nadeem" pitchFamily="2" charset="-78"/>
              <a:cs typeface="Nadeem" pitchFamily="2" charset="-78"/>
            </a:rPr>
            <a:t>Comparison &amp; Trade-off</a:t>
          </a:r>
        </a:p>
      </dgm:t>
    </dgm:pt>
    <dgm:pt modelId="{D6BFD6FD-F036-F447-80DD-F008CF4BE672}" type="parTrans" cxnId="{AD34BCB5-8EBF-1246-A430-B0374A455A3D}">
      <dgm:prSet/>
      <dgm:spPr/>
      <dgm:t>
        <a:bodyPr/>
        <a:lstStyle/>
        <a:p>
          <a:endParaRPr lang="en-US" sz="1800">
            <a:latin typeface="Nadeem" pitchFamily="2" charset="-78"/>
            <a:cs typeface="Nadeem" pitchFamily="2" charset="-78"/>
          </a:endParaRPr>
        </a:p>
      </dgm:t>
    </dgm:pt>
    <dgm:pt modelId="{CC2B1185-A6E4-354A-B432-8D117E09C46A}" type="sibTrans" cxnId="{AD34BCB5-8EBF-1246-A430-B0374A455A3D}">
      <dgm:prSet/>
      <dgm:spPr/>
      <dgm:t>
        <a:bodyPr/>
        <a:lstStyle/>
        <a:p>
          <a:endParaRPr lang="en-US" sz="1800">
            <a:latin typeface="Nadeem" pitchFamily="2" charset="-78"/>
            <a:cs typeface="Nadeem" pitchFamily="2" charset="-78"/>
          </a:endParaRPr>
        </a:p>
      </dgm:t>
    </dgm:pt>
    <dgm:pt modelId="{4FDE94C3-5C04-C641-B644-45F66CE455C8}">
      <dgm:prSet custT="1"/>
      <dgm:spPr/>
      <dgm:t>
        <a:bodyPr/>
        <a:lstStyle/>
        <a:p>
          <a:pPr rtl="0"/>
          <a:r>
            <a:rPr lang="en-US" sz="1800" dirty="0">
              <a:latin typeface="Nadeem" pitchFamily="2" charset="-78"/>
              <a:cs typeface="Nadeem" pitchFamily="2" charset="-78"/>
            </a:rPr>
            <a:t>Refinement &amp; Selection</a:t>
          </a:r>
        </a:p>
      </dgm:t>
    </dgm:pt>
    <dgm:pt modelId="{18DDF5DE-4ECA-4746-8E0B-D3E47F6426D1}" type="parTrans" cxnId="{951D4600-7BE7-6B4A-85BC-7C7BFF25754F}">
      <dgm:prSet/>
      <dgm:spPr/>
      <dgm:t>
        <a:bodyPr/>
        <a:lstStyle/>
        <a:p>
          <a:endParaRPr lang="en-US" sz="1800">
            <a:latin typeface="Nadeem" pitchFamily="2" charset="-78"/>
            <a:cs typeface="Nadeem" pitchFamily="2" charset="-78"/>
          </a:endParaRPr>
        </a:p>
      </dgm:t>
    </dgm:pt>
    <dgm:pt modelId="{6CDFBED9-D0B2-974F-99F5-C2C7A48A4B1B}" type="sibTrans" cxnId="{951D4600-7BE7-6B4A-85BC-7C7BFF25754F}">
      <dgm:prSet/>
      <dgm:spPr/>
      <dgm:t>
        <a:bodyPr/>
        <a:lstStyle/>
        <a:p>
          <a:endParaRPr lang="en-US" sz="1800">
            <a:latin typeface="Nadeem" pitchFamily="2" charset="-78"/>
            <a:cs typeface="Nadeem" pitchFamily="2" charset="-78"/>
          </a:endParaRPr>
        </a:p>
      </dgm:t>
    </dgm:pt>
    <dgm:pt modelId="{7FE2A0E7-8F14-6546-9B02-FB28EC566E29}" type="pres">
      <dgm:prSet presAssocID="{69FC2CD4-57F2-4E4A-801D-E49C7B8B0226}" presName="Name0" presStyleCnt="0">
        <dgm:presLayoutVars>
          <dgm:dir/>
          <dgm:resizeHandles val="exact"/>
        </dgm:presLayoutVars>
      </dgm:prSet>
      <dgm:spPr/>
    </dgm:pt>
    <dgm:pt modelId="{3DE3330E-65ED-3741-B9CB-237189D2B7DB}" type="pres">
      <dgm:prSet presAssocID="{69FC2CD4-57F2-4E4A-801D-E49C7B8B0226}" presName="cycle" presStyleCnt="0"/>
      <dgm:spPr/>
    </dgm:pt>
    <dgm:pt modelId="{EC5F7253-C174-0D4F-AB30-FF6B4B6A201C}" type="pres">
      <dgm:prSet presAssocID="{C56E4A3C-112C-2745-A5C1-0F7D42C35899}" presName="nodeFirstNode" presStyleLbl="node1" presStyleIdx="0" presStyleCnt="6" custScaleX="84245" custScaleY="94671">
        <dgm:presLayoutVars>
          <dgm:bulletEnabled val="1"/>
        </dgm:presLayoutVars>
      </dgm:prSet>
      <dgm:spPr/>
    </dgm:pt>
    <dgm:pt modelId="{410C5EEE-4EA4-584B-B5EF-70622E52EB2D}" type="pres">
      <dgm:prSet presAssocID="{D9FFD8F4-C56A-E343-9D85-84497F777F54}" presName="sibTransFirstNode" presStyleLbl="bgShp" presStyleIdx="0" presStyleCnt="1"/>
      <dgm:spPr/>
    </dgm:pt>
    <dgm:pt modelId="{6D0C1A68-BF19-224F-952E-96ACAE4B343D}" type="pres">
      <dgm:prSet presAssocID="{21CC4E86-CD01-D243-A13B-DA167579E088}" presName="nodeFollowingNodes" presStyleLbl="node1" presStyleIdx="1" presStyleCnt="6" custScaleX="88380" custScaleY="104842" custRadScaleRad="101035" custRadScaleInc="6884">
        <dgm:presLayoutVars>
          <dgm:bulletEnabled val="1"/>
        </dgm:presLayoutVars>
      </dgm:prSet>
      <dgm:spPr/>
    </dgm:pt>
    <dgm:pt modelId="{E7249F8A-AC05-4349-9A5C-474EDD388BC8}" type="pres">
      <dgm:prSet presAssocID="{70119834-5082-2F47-BE4B-7DA5F523B3F4}" presName="nodeFollowingNodes" presStyleLbl="node1" presStyleIdx="2" presStyleCnt="6" custScaleX="88379" custScaleY="97083" custRadScaleRad="101839" custRadScaleInc="-8284">
        <dgm:presLayoutVars>
          <dgm:bulletEnabled val="1"/>
        </dgm:presLayoutVars>
      </dgm:prSet>
      <dgm:spPr/>
    </dgm:pt>
    <dgm:pt modelId="{BF263CD6-550A-9F47-967F-9761EE528020}" type="pres">
      <dgm:prSet presAssocID="{8249C817-5067-B14D-9C56-BA49E594B92A}" presName="nodeFollowingNodes" presStyleLbl="node1" presStyleIdx="3" presStyleCnt="6" custScaleX="90451" custScaleY="96934">
        <dgm:presLayoutVars>
          <dgm:bulletEnabled val="1"/>
        </dgm:presLayoutVars>
      </dgm:prSet>
      <dgm:spPr/>
    </dgm:pt>
    <dgm:pt modelId="{3609F15D-F7B9-4C48-8CE9-3908EF95CDA9}" type="pres">
      <dgm:prSet presAssocID="{AB72D237-BEFC-C44F-B919-BC35DD3A6AEB}" presName="nodeFollowingNodes" presStyleLbl="node1" presStyleIdx="4" presStyleCnt="6" custScaleX="87283" custScaleY="94321" custRadScaleRad="104468" custRadScaleInc="10386">
        <dgm:presLayoutVars>
          <dgm:bulletEnabled val="1"/>
        </dgm:presLayoutVars>
      </dgm:prSet>
      <dgm:spPr/>
    </dgm:pt>
    <dgm:pt modelId="{C5BC4912-BB8B-BA4D-92D4-422D831C4F7C}" type="pres">
      <dgm:prSet presAssocID="{4FDE94C3-5C04-C641-B644-45F66CE455C8}" presName="nodeFollowingNodes" presStyleLbl="node1" presStyleIdx="5" presStyleCnt="6" custScaleX="89079" custScaleY="105914" custRadScaleRad="101656" custRadScaleInc="-8702">
        <dgm:presLayoutVars>
          <dgm:bulletEnabled val="1"/>
        </dgm:presLayoutVars>
      </dgm:prSet>
      <dgm:spPr/>
    </dgm:pt>
  </dgm:ptLst>
  <dgm:cxnLst>
    <dgm:cxn modelId="{951D4600-7BE7-6B4A-85BC-7C7BFF25754F}" srcId="{69FC2CD4-57F2-4E4A-801D-E49C7B8B0226}" destId="{4FDE94C3-5C04-C641-B644-45F66CE455C8}" srcOrd="5" destOrd="0" parTransId="{18DDF5DE-4ECA-4746-8E0B-D3E47F6426D1}" sibTransId="{6CDFBED9-D0B2-974F-99F5-C2C7A48A4B1B}"/>
    <dgm:cxn modelId="{8F9CCE1C-5D31-334A-895F-E83046C719A0}" type="presOf" srcId="{D9FFD8F4-C56A-E343-9D85-84497F777F54}" destId="{410C5EEE-4EA4-584B-B5EF-70622E52EB2D}" srcOrd="0" destOrd="0" presId="urn:microsoft.com/office/officeart/2005/8/layout/cycle3"/>
    <dgm:cxn modelId="{535C7C1D-653A-5548-9EEC-06F2F881F149}" type="presOf" srcId="{21CC4E86-CD01-D243-A13B-DA167579E088}" destId="{6D0C1A68-BF19-224F-952E-96ACAE4B343D}" srcOrd="0" destOrd="0" presId="urn:microsoft.com/office/officeart/2005/8/layout/cycle3"/>
    <dgm:cxn modelId="{589C122F-B345-3E43-9170-E1291F650981}" type="presOf" srcId="{69FC2CD4-57F2-4E4A-801D-E49C7B8B0226}" destId="{7FE2A0E7-8F14-6546-9B02-FB28EC566E29}" srcOrd="0" destOrd="0" presId="urn:microsoft.com/office/officeart/2005/8/layout/cycle3"/>
    <dgm:cxn modelId="{FADD8632-6F62-D347-9D25-2AF3067D6D86}" srcId="{69FC2CD4-57F2-4E4A-801D-E49C7B8B0226}" destId="{21CC4E86-CD01-D243-A13B-DA167579E088}" srcOrd="1" destOrd="0" parTransId="{F949CF30-6366-5C41-B3F5-F3BE7275BFC5}" sibTransId="{2561C6C3-88AF-E54C-A319-2CCDE2DE310E}"/>
    <dgm:cxn modelId="{74607C39-4E75-D143-87EE-4B6EB9470FDC}" type="presOf" srcId="{C56E4A3C-112C-2745-A5C1-0F7D42C35899}" destId="{EC5F7253-C174-0D4F-AB30-FF6B4B6A201C}" srcOrd="0" destOrd="0" presId="urn:microsoft.com/office/officeart/2005/8/layout/cycle3"/>
    <dgm:cxn modelId="{DDB02C7C-E540-8242-B827-5C84B8CB2F9F}" type="presOf" srcId="{4FDE94C3-5C04-C641-B644-45F66CE455C8}" destId="{C5BC4912-BB8B-BA4D-92D4-422D831C4F7C}" srcOrd="0" destOrd="0" presId="urn:microsoft.com/office/officeart/2005/8/layout/cycle3"/>
    <dgm:cxn modelId="{9CC8C884-57CE-1E44-B409-9212D5F52B14}" srcId="{69FC2CD4-57F2-4E4A-801D-E49C7B8B0226}" destId="{C56E4A3C-112C-2745-A5C1-0F7D42C35899}" srcOrd="0" destOrd="0" parTransId="{B1098F2C-A451-A944-8D22-B99516BEB42B}" sibTransId="{D9FFD8F4-C56A-E343-9D85-84497F777F54}"/>
    <dgm:cxn modelId="{D1614C93-DD5D-DD40-A8F1-AC4A96864561}" srcId="{69FC2CD4-57F2-4E4A-801D-E49C7B8B0226}" destId="{8249C817-5067-B14D-9C56-BA49E594B92A}" srcOrd="3" destOrd="0" parTransId="{9D39D801-83D4-F04E-B16D-4D4BE1502617}" sibTransId="{A98B7C4B-DD5E-9148-A3BF-CE4F5A745DBF}"/>
    <dgm:cxn modelId="{4A2B94A5-FA21-A349-A93F-4E405CBB4EC0}" type="presOf" srcId="{AB72D237-BEFC-C44F-B919-BC35DD3A6AEB}" destId="{3609F15D-F7B9-4C48-8CE9-3908EF95CDA9}" srcOrd="0" destOrd="0" presId="urn:microsoft.com/office/officeart/2005/8/layout/cycle3"/>
    <dgm:cxn modelId="{E7D2E0AB-34FF-AF49-97BE-BEABDFC9B987}" type="presOf" srcId="{8249C817-5067-B14D-9C56-BA49E594B92A}" destId="{BF263CD6-550A-9F47-967F-9761EE528020}" srcOrd="0" destOrd="0" presId="urn:microsoft.com/office/officeart/2005/8/layout/cycle3"/>
    <dgm:cxn modelId="{AD34BCB5-8EBF-1246-A430-B0374A455A3D}" srcId="{69FC2CD4-57F2-4E4A-801D-E49C7B8B0226}" destId="{AB72D237-BEFC-C44F-B919-BC35DD3A6AEB}" srcOrd="4" destOrd="0" parTransId="{D6BFD6FD-F036-F447-80DD-F008CF4BE672}" sibTransId="{CC2B1185-A6E4-354A-B432-8D117E09C46A}"/>
    <dgm:cxn modelId="{0BD1F2EA-28FE-554A-ACA1-48F54C9D3A1C}" type="presOf" srcId="{70119834-5082-2F47-BE4B-7DA5F523B3F4}" destId="{E7249F8A-AC05-4349-9A5C-474EDD388BC8}" srcOrd="0" destOrd="0" presId="urn:microsoft.com/office/officeart/2005/8/layout/cycle3"/>
    <dgm:cxn modelId="{5CAF9DF1-FC0E-0347-878C-1B26C472F07C}" srcId="{69FC2CD4-57F2-4E4A-801D-E49C7B8B0226}" destId="{70119834-5082-2F47-BE4B-7DA5F523B3F4}" srcOrd="2" destOrd="0" parTransId="{2CE41BD7-6486-E143-A9C9-5B6FC0790BC8}" sibTransId="{D27986A2-2A70-0C4F-A006-FC1DFA73FD93}"/>
    <dgm:cxn modelId="{A5CAE8B1-6B1E-254A-B18A-FDE634EAB510}" type="presParOf" srcId="{7FE2A0E7-8F14-6546-9B02-FB28EC566E29}" destId="{3DE3330E-65ED-3741-B9CB-237189D2B7DB}" srcOrd="0" destOrd="0" presId="urn:microsoft.com/office/officeart/2005/8/layout/cycle3"/>
    <dgm:cxn modelId="{FF426443-8B41-D345-A84A-677430A2611D}" type="presParOf" srcId="{3DE3330E-65ED-3741-B9CB-237189D2B7DB}" destId="{EC5F7253-C174-0D4F-AB30-FF6B4B6A201C}" srcOrd="0" destOrd="0" presId="urn:microsoft.com/office/officeart/2005/8/layout/cycle3"/>
    <dgm:cxn modelId="{6C3224EF-C069-9947-B7FF-F2C16B1B6F50}" type="presParOf" srcId="{3DE3330E-65ED-3741-B9CB-237189D2B7DB}" destId="{410C5EEE-4EA4-584B-B5EF-70622E52EB2D}" srcOrd="1" destOrd="0" presId="urn:microsoft.com/office/officeart/2005/8/layout/cycle3"/>
    <dgm:cxn modelId="{7172FE6D-2486-304A-B193-468D1D20B8B1}" type="presParOf" srcId="{3DE3330E-65ED-3741-B9CB-237189D2B7DB}" destId="{6D0C1A68-BF19-224F-952E-96ACAE4B343D}" srcOrd="2" destOrd="0" presId="urn:microsoft.com/office/officeart/2005/8/layout/cycle3"/>
    <dgm:cxn modelId="{E984377C-23A1-DB4C-A796-828B152132D6}" type="presParOf" srcId="{3DE3330E-65ED-3741-B9CB-237189D2B7DB}" destId="{E7249F8A-AC05-4349-9A5C-474EDD388BC8}" srcOrd="3" destOrd="0" presId="urn:microsoft.com/office/officeart/2005/8/layout/cycle3"/>
    <dgm:cxn modelId="{2FCD2DCF-3E92-C745-8CC1-FCCEA21028AA}" type="presParOf" srcId="{3DE3330E-65ED-3741-B9CB-237189D2B7DB}" destId="{BF263CD6-550A-9F47-967F-9761EE528020}" srcOrd="4" destOrd="0" presId="urn:microsoft.com/office/officeart/2005/8/layout/cycle3"/>
    <dgm:cxn modelId="{E09AFBE7-A6C7-1542-B0E8-BB2A9FD7029A}" type="presParOf" srcId="{3DE3330E-65ED-3741-B9CB-237189D2B7DB}" destId="{3609F15D-F7B9-4C48-8CE9-3908EF95CDA9}" srcOrd="5" destOrd="0" presId="urn:microsoft.com/office/officeart/2005/8/layout/cycle3"/>
    <dgm:cxn modelId="{51093708-D140-9643-A6B7-689CE7E50347}" type="presParOf" srcId="{3DE3330E-65ED-3741-B9CB-237189D2B7DB}" destId="{C5BC4912-BB8B-BA4D-92D4-422D831C4F7C}" srcOrd="6" destOrd="0" presId="urn:microsoft.com/office/officeart/2005/8/layout/cycle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B35B71-3C1F-D742-BF07-2FAED650BE01}">
      <dsp:nvSpPr>
        <dsp:cNvPr id="0" name=""/>
        <dsp:cNvSpPr/>
      </dsp:nvSpPr>
      <dsp:spPr>
        <a:xfrm>
          <a:off x="2942" y="158248"/>
          <a:ext cx="1286487" cy="77189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Satellite Data</a:t>
          </a:r>
        </a:p>
      </dsp:txBody>
      <dsp:txXfrm>
        <a:off x="25550" y="180856"/>
        <a:ext cx="1241271" cy="726676"/>
      </dsp:txXfrm>
    </dsp:sp>
    <dsp:sp modelId="{72CD8F94-B397-754C-AFF0-366B2E057B3E}">
      <dsp:nvSpPr>
        <dsp:cNvPr id="0" name=""/>
        <dsp:cNvSpPr/>
      </dsp:nvSpPr>
      <dsp:spPr>
        <a:xfrm>
          <a:off x="1418079" y="384670"/>
          <a:ext cx="272735" cy="319049"/>
        </a:xfrm>
        <a:prstGeom prst="rightArrow">
          <a:avLst>
            <a:gd name="adj1" fmla="val 60000"/>
            <a:gd name="adj2" fmla="val 50000"/>
          </a:avLst>
        </a:prstGeom>
        <a:solidFill>
          <a:schemeClr val="accent1">
            <a:lumMod val="20000"/>
            <a:lumOff val="80000"/>
          </a:schemeClr>
        </a:solidFill>
        <a:ln>
          <a:solidFill>
            <a:schemeClr val="dk1">
              <a:shade val="80000"/>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endParaRPr lang="en-US" sz="1400" kern="1200">
            <a:latin typeface="Nadeem" pitchFamily="2" charset="-78"/>
            <a:cs typeface="Nadeem" pitchFamily="2" charset="-78"/>
          </a:endParaRPr>
        </a:p>
      </dsp:txBody>
      <dsp:txXfrm>
        <a:off x="1418079" y="448480"/>
        <a:ext cx="190915" cy="191429"/>
      </dsp:txXfrm>
    </dsp:sp>
    <dsp:sp modelId="{D1B8797C-607C-334B-AB3C-B84708B320D2}">
      <dsp:nvSpPr>
        <dsp:cNvPr id="0" name=""/>
        <dsp:cNvSpPr/>
      </dsp:nvSpPr>
      <dsp:spPr>
        <a:xfrm>
          <a:off x="1804025" y="158248"/>
          <a:ext cx="1286487" cy="77189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Preprocessing</a:t>
          </a:r>
        </a:p>
      </dsp:txBody>
      <dsp:txXfrm>
        <a:off x="1826633" y="180856"/>
        <a:ext cx="1241271" cy="726676"/>
      </dsp:txXfrm>
    </dsp:sp>
    <dsp:sp modelId="{8577F221-6194-144E-90AF-F385F73D72A0}">
      <dsp:nvSpPr>
        <dsp:cNvPr id="0" name=""/>
        <dsp:cNvSpPr/>
      </dsp:nvSpPr>
      <dsp:spPr>
        <a:xfrm>
          <a:off x="3219162" y="384670"/>
          <a:ext cx="272735" cy="319049"/>
        </a:xfrm>
        <a:prstGeom prst="rightArrow">
          <a:avLst>
            <a:gd name="adj1" fmla="val 60000"/>
            <a:gd name="adj2" fmla="val 50000"/>
          </a:avLst>
        </a:prstGeom>
        <a:solidFill>
          <a:schemeClr val="accent1">
            <a:lumMod val="20000"/>
            <a:lumOff val="80000"/>
          </a:schemeClr>
        </a:solidFill>
        <a:ln>
          <a:solidFill>
            <a:schemeClr val="dk1">
              <a:shade val="80000"/>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endParaRPr lang="en-US" sz="1400" kern="1200">
            <a:latin typeface="Nadeem" pitchFamily="2" charset="-78"/>
            <a:cs typeface="Nadeem" pitchFamily="2" charset="-78"/>
          </a:endParaRPr>
        </a:p>
      </dsp:txBody>
      <dsp:txXfrm>
        <a:off x="3219162" y="448480"/>
        <a:ext cx="190915" cy="191429"/>
      </dsp:txXfrm>
    </dsp:sp>
    <dsp:sp modelId="{E58FC875-57D9-A443-A720-879C9C7F16D6}">
      <dsp:nvSpPr>
        <dsp:cNvPr id="0" name=""/>
        <dsp:cNvSpPr/>
      </dsp:nvSpPr>
      <dsp:spPr>
        <a:xfrm>
          <a:off x="3605108" y="158248"/>
          <a:ext cx="1286487" cy="77189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LSTM Model</a:t>
          </a:r>
        </a:p>
      </dsp:txBody>
      <dsp:txXfrm>
        <a:off x="3627716" y="180856"/>
        <a:ext cx="1241271" cy="726676"/>
      </dsp:txXfrm>
    </dsp:sp>
    <dsp:sp modelId="{A5B936F1-36B3-FF47-813C-DED1A453E66C}">
      <dsp:nvSpPr>
        <dsp:cNvPr id="0" name=""/>
        <dsp:cNvSpPr/>
      </dsp:nvSpPr>
      <dsp:spPr>
        <a:xfrm>
          <a:off x="5020245" y="384670"/>
          <a:ext cx="272735" cy="319049"/>
        </a:xfrm>
        <a:prstGeom prst="rightArrow">
          <a:avLst>
            <a:gd name="adj1" fmla="val 60000"/>
            <a:gd name="adj2" fmla="val 50000"/>
          </a:avLst>
        </a:prstGeom>
        <a:solidFill>
          <a:schemeClr val="accent1">
            <a:lumMod val="20000"/>
            <a:lumOff val="80000"/>
          </a:schemeClr>
        </a:solidFill>
        <a:ln>
          <a:solidFill>
            <a:schemeClr val="dk1">
              <a:shade val="80000"/>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endParaRPr lang="en-US" sz="1400" kern="1200">
            <a:latin typeface="Nadeem" pitchFamily="2" charset="-78"/>
            <a:cs typeface="Nadeem" pitchFamily="2" charset="-78"/>
          </a:endParaRPr>
        </a:p>
      </dsp:txBody>
      <dsp:txXfrm>
        <a:off x="5020245" y="448480"/>
        <a:ext cx="190915" cy="191429"/>
      </dsp:txXfrm>
    </dsp:sp>
    <dsp:sp modelId="{70A644C4-8E92-6943-B04D-76F359AD2648}">
      <dsp:nvSpPr>
        <dsp:cNvPr id="0" name=""/>
        <dsp:cNvSpPr/>
      </dsp:nvSpPr>
      <dsp:spPr>
        <a:xfrm>
          <a:off x="5406191" y="158248"/>
          <a:ext cx="1286487" cy="77189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Forecast</a:t>
          </a:r>
        </a:p>
      </dsp:txBody>
      <dsp:txXfrm>
        <a:off x="5428799" y="180856"/>
        <a:ext cx="1241271" cy="7266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B35B71-3C1F-D742-BF07-2FAED650BE01}">
      <dsp:nvSpPr>
        <dsp:cNvPr id="0" name=""/>
        <dsp:cNvSpPr/>
      </dsp:nvSpPr>
      <dsp:spPr>
        <a:xfrm>
          <a:off x="0"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Data Extraction</a:t>
          </a:r>
        </a:p>
      </dsp:txBody>
      <dsp:txXfrm>
        <a:off x="17451" y="298144"/>
        <a:ext cx="958139" cy="560922"/>
      </dsp:txXfrm>
    </dsp:sp>
    <dsp:sp modelId="{72CD8F94-B397-754C-AFF0-366B2E057B3E}">
      <dsp:nvSpPr>
        <dsp:cNvPr id="0" name=""/>
        <dsp:cNvSpPr/>
      </dsp:nvSpPr>
      <dsp:spPr>
        <a:xfrm>
          <a:off x="1092345"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1092345" y="504723"/>
        <a:ext cx="147367" cy="147764"/>
      </dsp:txXfrm>
    </dsp:sp>
    <dsp:sp modelId="{D1B8797C-607C-334B-AB3C-B84708B320D2}">
      <dsp:nvSpPr>
        <dsp:cNvPr id="0" name=""/>
        <dsp:cNvSpPr/>
      </dsp:nvSpPr>
      <dsp:spPr>
        <a:xfrm>
          <a:off x="1390257"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Preprocessing</a:t>
          </a:r>
        </a:p>
      </dsp:txBody>
      <dsp:txXfrm>
        <a:off x="1407708" y="298144"/>
        <a:ext cx="958139" cy="560922"/>
      </dsp:txXfrm>
    </dsp:sp>
    <dsp:sp modelId="{8577F221-6194-144E-90AF-F385F73D72A0}">
      <dsp:nvSpPr>
        <dsp:cNvPr id="0" name=""/>
        <dsp:cNvSpPr/>
      </dsp:nvSpPr>
      <dsp:spPr>
        <a:xfrm>
          <a:off x="2482603"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2482603" y="504723"/>
        <a:ext cx="147367" cy="147764"/>
      </dsp:txXfrm>
    </dsp:sp>
    <dsp:sp modelId="{E58FC875-57D9-A443-A720-879C9C7F16D6}">
      <dsp:nvSpPr>
        <dsp:cNvPr id="0" name=""/>
        <dsp:cNvSpPr/>
      </dsp:nvSpPr>
      <dsp:spPr>
        <a:xfrm>
          <a:off x="2780515"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Sequence Construction</a:t>
          </a:r>
        </a:p>
      </dsp:txBody>
      <dsp:txXfrm>
        <a:off x="2797966" y="298144"/>
        <a:ext cx="958139" cy="560922"/>
      </dsp:txXfrm>
    </dsp:sp>
    <dsp:sp modelId="{A5B936F1-36B3-FF47-813C-DED1A453E66C}">
      <dsp:nvSpPr>
        <dsp:cNvPr id="0" name=""/>
        <dsp:cNvSpPr/>
      </dsp:nvSpPr>
      <dsp:spPr>
        <a:xfrm>
          <a:off x="3872860"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3872860" y="504723"/>
        <a:ext cx="147367" cy="147764"/>
      </dsp:txXfrm>
    </dsp:sp>
    <dsp:sp modelId="{70A644C4-8E92-6943-B04D-76F359AD2648}">
      <dsp:nvSpPr>
        <dsp:cNvPr id="0" name=""/>
        <dsp:cNvSpPr/>
      </dsp:nvSpPr>
      <dsp:spPr>
        <a:xfrm>
          <a:off x="4170773"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LSTM Model</a:t>
          </a:r>
        </a:p>
      </dsp:txBody>
      <dsp:txXfrm>
        <a:off x="4188224" y="298144"/>
        <a:ext cx="958139" cy="560922"/>
      </dsp:txXfrm>
    </dsp:sp>
    <dsp:sp modelId="{4147CE74-ACAA-CD46-B59F-2CB4BE23CF56}">
      <dsp:nvSpPr>
        <dsp:cNvPr id="0" name=""/>
        <dsp:cNvSpPr/>
      </dsp:nvSpPr>
      <dsp:spPr>
        <a:xfrm>
          <a:off x="5263118"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5263118" y="504723"/>
        <a:ext cx="147367" cy="147764"/>
      </dsp:txXfrm>
    </dsp:sp>
    <dsp:sp modelId="{9AD4C349-E64B-4043-9BB3-FC92741695E4}">
      <dsp:nvSpPr>
        <dsp:cNvPr id="0" name=""/>
        <dsp:cNvSpPr/>
      </dsp:nvSpPr>
      <dsp:spPr>
        <a:xfrm>
          <a:off x="5561031"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Prediction</a:t>
          </a:r>
        </a:p>
      </dsp:txBody>
      <dsp:txXfrm>
        <a:off x="5578482" y="298144"/>
        <a:ext cx="958139" cy="560922"/>
      </dsp:txXfrm>
    </dsp:sp>
    <dsp:sp modelId="{988BBFA2-845F-FA44-BB0C-2F6E1F1DBCF8}">
      <dsp:nvSpPr>
        <dsp:cNvPr id="0" name=""/>
        <dsp:cNvSpPr/>
      </dsp:nvSpPr>
      <dsp:spPr>
        <a:xfrm>
          <a:off x="6653376" y="455468"/>
          <a:ext cx="210524" cy="246274"/>
        </a:xfrm>
        <a:prstGeom prst="rightArrow">
          <a:avLst>
            <a:gd name="adj1" fmla="val 60000"/>
            <a:gd name="adj2" fmla="val 50000"/>
          </a:avLst>
        </a:prstGeom>
        <a:solidFill>
          <a:schemeClr val="accent1">
            <a:lumMod val="20000"/>
            <a:lumOff val="80000"/>
          </a:schemeClr>
        </a:solidFill>
        <a:ln>
          <a:solidFill>
            <a:schemeClr val="tx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00050" rtl="0">
            <a:lnSpc>
              <a:spcPct val="90000"/>
            </a:lnSpc>
            <a:spcBef>
              <a:spcPct val="0"/>
            </a:spcBef>
            <a:spcAft>
              <a:spcPct val="35000"/>
            </a:spcAft>
            <a:buNone/>
          </a:pPr>
          <a:endParaRPr lang="en-US" sz="900" kern="1200">
            <a:latin typeface="Nadeem" pitchFamily="2" charset="-78"/>
            <a:cs typeface="Nadeem" pitchFamily="2" charset="-78"/>
          </a:endParaRPr>
        </a:p>
      </dsp:txBody>
      <dsp:txXfrm>
        <a:off x="6653376" y="504723"/>
        <a:ext cx="147367" cy="147764"/>
      </dsp:txXfrm>
    </dsp:sp>
    <dsp:sp modelId="{BBF9855D-5AF2-534E-BE3B-1A72E2A8644E}">
      <dsp:nvSpPr>
        <dsp:cNvPr id="0" name=""/>
        <dsp:cNvSpPr/>
      </dsp:nvSpPr>
      <dsp:spPr>
        <a:xfrm>
          <a:off x="6951288" y="280693"/>
          <a:ext cx="993041" cy="595824"/>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US" sz="1100" kern="1200">
              <a:latin typeface="Nadeem" pitchFamily="2" charset="-78"/>
              <a:cs typeface="Nadeem" pitchFamily="2" charset="-78"/>
            </a:rPr>
            <a:t>Evaluation &amp; Visualization</a:t>
          </a:r>
        </a:p>
      </dsp:txBody>
      <dsp:txXfrm>
        <a:off x="6968739" y="298144"/>
        <a:ext cx="958139" cy="56092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1671D2-E3D7-774C-8311-35C17B46B8DC}">
      <dsp:nvSpPr>
        <dsp:cNvPr id="0" name=""/>
        <dsp:cNvSpPr/>
      </dsp:nvSpPr>
      <dsp:spPr>
        <a:xfrm rot="5400000">
          <a:off x="1255858" y="537541"/>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EEEABDB-FE16-F641-80E8-BF10ABD0CAF2}">
      <dsp:nvSpPr>
        <dsp:cNvPr id="0" name=""/>
        <dsp:cNvSpPr/>
      </dsp:nvSpPr>
      <dsp:spPr>
        <a:xfrm>
          <a:off x="860896" y="32992"/>
          <a:ext cx="1314960"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Satellite Data</a:t>
          </a:r>
        </a:p>
      </dsp:txBody>
      <dsp:txXfrm>
        <a:off x="887082" y="59178"/>
        <a:ext cx="1262588" cy="483952"/>
      </dsp:txXfrm>
    </dsp:sp>
    <dsp:sp modelId="{FAAEE7E7-8C63-544F-8BC1-71BB3C68F245}">
      <dsp:nvSpPr>
        <dsp:cNvPr id="0" name=""/>
        <dsp:cNvSpPr/>
      </dsp:nvSpPr>
      <dsp:spPr>
        <a:xfrm>
          <a:off x="1903409" y="142147"/>
          <a:ext cx="1095154" cy="433481"/>
        </a:xfrm>
        <a:prstGeom prst="rect">
          <a:avLst/>
        </a:prstGeom>
        <a:noFill/>
        <a:ln>
          <a:noFill/>
        </a:ln>
        <a:effectLst/>
      </dsp:spPr>
      <dsp:style>
        <a:lnRef idx="0">
          <a:scrgbClr r="0" g="0" b="0"/>
        </a:lnRef>
        <a:fillRef idx="0">
          <a:scrgbClr r="0" g="0" b="0"/>
        </a:fillRef>
        <a:effectRef idx="0">
          <a:scrgbClr r="0" g="0" b="0"/>
        </a:effectRef>
        <a:fontRef idx="minor"/>
      </dsp:style>
    </dsp:sp>
    <dsp:sp modelId="{B159C737-BC1F-3347-93C8-642506F3D023}">
      <dsp:nvSpPr>
        <dsp:cNvPr id="0" name=""/>
        <dsp:cNvSpPr/>
      </dsp:nvSpPr>
      <dsp:spPr>
        <a:xfrm rot="5400000">
          <a:off x="2222920" y="114001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E19FBF-A9F4-4F43-97CF-4540CF4C82CE}">
      <dsp:nvSpPr>
        <dsp:cNvPr id="0" name=""/>
        <dsp:cNvSpPr/>
      </dsp:nvSpPr>
      <dsp:spPr>
        <a:xfrm>
          <a:off x="1756960" y="635462"/>
          <a:ext cx="1456955"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Data Cleaning </a:t>
          </a:r>
        </a:p>
      </dsp:txBody>
      <dsp:txXfrm>
        <a:off x="1783146" y="661648"/>
        <a:ext cx="1404583" cy="483952"/>
      </dsp:txXfrm>
    </dsp:sp>
    <dsp:sp modelId="{D9E3A607-FA0B-944E-9476-7CC0811CB518}">
      <dsp:nvSpPr>
        <dsp:cNvPr id="0" name=""/>
        <dsp:cNvSpPr/>
      </dsp:nvSpPr>
      <dsp:spPr>
        <a:xfrm>
          <a:off x="2868545" y="68661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2957C08C-BC08-9548-8378-CCB108B60161}">
      <dsp:nvSpPr>
        <dsp:cNvPr id="0" name=""/>
        <dsp:cNvSpPr/>
      </dsp:nvSpPr>
      <dsp:spPr>
        <a:xfrm rot="5400000">
          <a:off x="3049606" y="174248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B0B5391-28D7-6344-82A4-A64282321C59}">
      <dsp:nvSpPr>
        <dsp:cNvPr id="0" name=""/>
        <dsp:cNvSpPr/>
      </dsp:nvSpPr>
      <dsp:spPr>
        <a:xfrm>
          <a:off x="2707464" y="1237931"/>
          <a:ext cx="1209330"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Feature Engineering</a:t>
          </a:r>
        </a:p>
      </dsp:txBody>
      <dsp:txXfrm>
        <a:off x="2733650" y="1264117"/>
        <a:ext cx="1156958" cy="483952"/>
      </dsp:txXfrm>
    </dsp:sp>
    <dsp:sp modelId="{C8A8C670-AD2A-6946-9851-265F2D332657}">
      <dsp:nvSpPr>
        <dsp:cNvPr id="0" name=""/>
        <dsp:cNvSpPr/>
      </dsp:nvSpPr>
      <dsp:spPr>
        <a:xfrm>
          <a:off x="3640796" y="128908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C4B549C0-8B81-8144-A7CD-CA4BF7D30B52}">
      <dsp:nvSpPr>
        <dsp:cNvPr id="0" name=""/>
        <dsp:cNvSpPr/>
      </dsp:nvSpPr>
      <dsp:spPr>
        <a:xfrm rot="5400000">
          <a:off x="3947077" y="234495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82DE53D-1269-BF4F-ADF4-06C7729989B8}">
      <dsp:nvSpPr>
        <dsp:cNvPr id="0" name=""/>
        <dsp:cNvSpPr/>
      </dsp:nvSpPr>
      <dsp:spPr>
        <a:xfrm>
          <a:off x="3549088" y="1840401"/>
          <a:ext cx="1321014"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Normalization</a:t>
          </a:r>
        </a:p>
      </dsp:txBody>
      <dsp:txXfrm>
        <a:off x="3575274" y="1866587"/>
        <a:ext cx="1268642" cy="483952"/>
      </dsp:txXfrm>
    </dsp:sp>
    <dsp:sp modelId="{11706CB3-CFAF-5447-9AE6-60B5853D3318}">
      <dsp:nvSpPr>
        <dsp:cNvPr id="0" name=""/>
        <dsp:cNvSpPr/>
      </dsp:nvSpPr>
      <dsp:spPr>
        <a:xfrm>
          <a:off x="4592702" y="189155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27849D61-6D39-F54E-A6C7-DCFE767E01DF}">
      <dsp:nvSpPr>
        <dsp:cNvPr id="0" name=""/>
        <dsp:cNvSpPr/>
      </dsp:nvSpPr>
      <dsp:spPr>
        <a:xfrm rot="5400000">
          <a:off x="4953890" y="294742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4C9A64B-B8C7-714E-B327-C065CAFBEA3D}">
      <dsp:nvSpPr>
        <dsp:cNvPr id="0" name=""/>
        <dsp:cNvSpPr/>
      </dsp:nvSpPr>
      <dsp:spPr>
        <a:xfrm>
          <a:off x="4466920" y="2442871"/>
          <a:ext cx="1542511"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Sequence Construction</a:t>
          </a:r>
        </a:p>
      </dsp:txBody>
      <dsp:txXfrm>
        <a:off x="4493106" y="2469057"/>
        <a:ext cx="1490139" cy="483952"/>
      </dsp:txXfrm>
    </dsp:sp>
    <dsp:sp modelId="{0813C4E7-F923-0F4F-850D-0376F5104129}">
      <dsp:nvSpPr>
        <dsp:cNvPr id="0" name=""/>
        <dsp:cNvSpPr/>
      </dsp:nvSpPr>
      <dsp:spPr>
        <a:xfrm>
          <a:off x="5599515" y="249402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CC8193CE-1065-6845-9207-B11138B0CE72}">
      <dsp:nvSpPr>
        <dsp:cNvPr id="0" name=""/>
        <dsp:cNvSpPr/>
      </dsp:nvSpPr>
      <dsp:spPr>
        <a:xfrm rot="5400000">
          <a:off x="5840242" y="354989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B5FB471-71CC-1048-A8E7-61A373A65774}">
      <dsp:nvSpPr>
        <dsp:cNvPr id="0" name=""/>
        <dsp:cNvSpPr/>
      </dsp:nvSpPr>
      <dsp:spPr>
        <a:xfrm>
          <a:off x="5450095" y="3045341"/>
          <a:ext cx="1523087"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LSTM Model Training</a:t>
          </a:r>
        </a:p>
      </dsp:txBody>
      <dsp:txXfrm>
        <a:off x="5476281" y="3071527"/>
        <a:ext cx="1470715" cy="483952"/>
      </dsp:txXfrm>
    </dsp:sp>
    <dsp:sp modelId="{D42E8F87-F14F-5644-BF8C-5FA0D7DDFCF8}">
      <dsp:nvSpPr>
        <dsp:cNvPr id="0" name=""/>
        <dsp:cNvSpPr/>
      </dsp:nvSpPr>
      <dsp:spPr>
        <a:xfrm>
          <a:off x="6485867" y="3096492"/>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30E1F04A-1258-5A4E-B797-609350F021A8}">
      <dsp:nvSpPr>
        <dsp:cNvPr id="0" name=""/>
        <dsp:cNvSpPr/>
      </dsp:nvSpPr>
      <dsp:spPr>
        <a:xfrm rot="5400000">
          <a:off x="6713695" y="4152360"/>
          <a:ext cx="455155" cy="518178"/>
        </a:xfrm>
        <a:prstGeom prst="bentUpArrow">
          <a:avLst>
            <a:gd name="adj1" fmla="val 32840"/>
            <a:gd name="adj2" fmla="val 25000"/>
            <a:gd name="adj3" fmla="val 35780"/>
          </a:avLst>
        </a:prstGeom>
        <a:solidFill>
          <a:schemeClr val="accent1">
            <a:lumMod val="20000"/>
            <a:lumOff val="8000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4000DBD-E182-D248-9CED-2803BF8986B3}">
      <dsp:nvSpPr>
        <dsp:cNvPr id="0" name=""/>
        <dsp:cNvSpPr/>
      </dsp:nvSpPr>
      <dsp:spPr>
        <a:xfrm>
          <a:off x="6335264" y="3647811"/>
          <a:ext cx="1477865"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Prediction Output</a:t>
          </a:r>
        </a:p>
      </dsp:txBody>
      <dsp:txXfrm>
        <a:off x="6361450" y="3673997"/>
        <a:ext cx="1425493" cy="483952"/>
      </dsp:txXfrm>
    </dsp:sp>
    <dsp:sp modelId="{93EF354D-B8C1-1049-8FA8-28D9B162CCBE}">
      <dsp:nvSpPr>
        <dsp:cNvPr id="0" name=""/>
        <dsp:cNvSpPr/>
      </dsp:nvSpPr>
      <dsp:spPr>
        <a:xfrm>
          <a:off x="7359320" y="3698961"/>
          <a:ext cx="557270" cy="433481"/>
        </a:xfrm>
        <a:prstGeom prst="rect">
          <a:avLst/>
        </a:prstGeom>
        <a:noFill/>
        <a:ln>
          <a:noFill/>
        </a:ln>
        <a:effectLst/>
      </dsp:spPr>
      <dsp:style>
        <a:lnRef idx="0">
          <a:scrgbClr r="0" g="0" b="0"/>
        </a:lnRef>
        <a:fillRef idx="0">
          <a:scrgbClr r="0" g="0" b="0"/>
        </a:fillRef>
        <a:effectRef idx="0">
          <a:scrgbClr r="0" g="0" b="0"/>
        </a:effectRef>
        <a:fontRef idx="minor"/>
      </dsp:style>
    </dsp:sp>
    <dsp:sp modelId="{40D8F7EE-5CB8-6D41-B7BF-9DEDB59A03B6}">
      <dsp:nvSpPr>
        <dsp:cNvPr id="0" name=""/>
        <dsp:cNvSpPr/>
      </dsp:nvSpPr>
      <dsp:spPr>
        <a:xfrm>
          <a:off x="7220448" y="4250280"/>
          <a:ext cx="1351509" cy="536324"/>
        </a:xfrm>
        <a:prstGeom prst="roundRect">
          <a:avLst>
            <a:gd name="adj" fmla="val 1667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latin typeface="Nadeem" pitchFamily="2" charset="-78"/>
              <a:cs typeface="Nadeem" pitchFamily="2" charset="-78"/>
            </a:rPr>
            <a:t>Evaluation</a:t>
          </a:r>
        </a:p>
      </dsp:txBody>
      <dsp:txXfrm>
        <a:off x="7246634" y="4276466"/>
        <a:ext cx="1299137" cy="4839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B35B71-3C1F-D742-BF07-2FAED650BE01}">
      <dsp:nvSpPr>
        <dsp:cNvPr id="0" name=""/>
        <dsp:cNvSpPr/>
      </dsp:nvSpPr>
      <dsp:spPr>
        <a:xfrm>
          <a:off x="0" y="0"/>
          <a:ext cx="2708197" cy="32102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[week1, week2, week3, …, week8]</a:t>
          </a:r>
        </a:p>
      </dsp:txBody>
      <dsp:txXfrm>
        <a:off x="9402" y="9402"/>
        <a:ext cx="2689393" cy="302218"/>
      </dsp:txXfrm>
    </dsp:sp>
    <dsp:sp modelId="{72CD8F94-B397-754C-AFF0-366B2E057B3E}">
      <dsp:nvSpPr>
        <dsp:cNvPr id="0" name=""/>
        <dsp:cNvSpPr/>
      </dsp:nvSpPr>
      <dsp:spPr>
        <a:xfrm>
          <a:off x="2918009" y="0"/>
          <a:ext cx="248001" cy="321022"/>
        </a:xfrm>
        <a:prstGeom prst="rightArrow">
          <a:avLst>
            <a:gd name="adj1" fmla="val 60000"/>
            <a:gd name="adj2" fmla="val 50000"/>
          </a:avLst>
        </a:prstGeom>
        <a:solidFill>
          <a:schemeClr val="accent1">
            <a:lumMod val="20000"/>
            <a:lumOff val="80000"/>
          </a:schemeClr>
        </a:solidFill>
        <a:ln>
          <a:solidFill>
            <a:schemeClr val="dk1">
              <a:shade val="80000"/>
              <a:hueOff val="0"/>
              <a:satOff val="0"/>
              <a:lumOff val="0"/>
            </a:schemeClr>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rtl="0">
            <a:lnSpc>
              <a:spcPct val="90000"/>
            </a:lnSpc>
            <a:spcBef>
              <a:spcPct val="0"/>
            </a:spcBef>
            <a:spcAft>
              <a:spcPct val="35000"/>
            </a:spcAft>
            <a:buNone/>
          </a:pPr>
          <a:endParaRPr lang="en-US" sz="1400" kern="1200">
            <a:latin typeface="Nadeem" pitchFamily="2" charset="-78"/>
            <a:cs typeface="Nadeem" pitchFamily="2" charset="-78"/>
          </a:endParaRPr>
        </a:p>
      </dsp:txBody>
      <dsp:txXfrm>
        <a:off x="2918009" y="64204"/>
        <a:ext cx="173601" cy="192614"/>
      </dsp:txXfrm>
    </dsp:sp>
    <dsp:sp modelId="{4713911D-445D-FB44-AFA7-2EEE71829995}">
      <dsp:nvSpPr>
        <dsp:cNvPr id="0" name=""/>
        <dsp:cNvSpPr/>
      </dsp:nvSpPr>
      <dsp:spPr>
        <a:xfrm>
          <a:off x="3356376" y="0"/>
          <a:ext cx="1223974" cy="321022"/>
        </a:xfrm>
        <a:prstGeom prst="roundRect">
          <a:avLst>
            <a:gd name="adj" fmla="val 10000"/>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Nadeem" pitchFamily="2" charset="-78"/>
              <a:cs typeface="Nadeem" pitchFamily="2" charset="-78"/>
            </a:rPr>
            <a:t>Predict week9</a:t>
          </a:r>
        </a:p>
      </dsp:txBody>
      <dsp:txXfrm>
        <a:off x="3365778" y="9402"/>
        <a:ext cx="1205170" cy="30221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0C5EEE-4EA4-584B-B5EF-70622E52EB2D}">
      <dsp:nvSpPr>
        <dsp:cNvPr id="0" name=""/>
        <dsp:cNvSpPr/>
      </dsp:nvSpPr>
      <dsp:spPr>
        <a:xfrm>
          <a:off x="984292" y="55318"/>
          <a:ext cx="5323939" cy="5323939"/>
        </a:xfrm>
        <a:prstGeom prst="circularArrow">
          <a:avLst>
            <a:gd name="adj1" fmla="val 5274"/>
            <a:gd name="adj2" fmla="val 312630"/>
            <a:gd name="adj3" fmla="val 14514807"/>
            <a:gd name="adj4" fmla="val 16961116"/>
            <a:gd name="adj5" fmla="val 5477"/>
          </a:avLst>
        </a:prstGeom>
        <a:solidFill>
          <a:schemeClr val="accent1">
            <a:lumMod val="20000"/>
            <a:lumOff val="80000"/>
          </a:schemeClr>
        </a:solidFill>
        <a:ln w="19050">
          <a:solidFill>
            <a:schemeClr val="tx1"/>
          </a:solidFill>
        </a:ln>
        <a:effectLst/>
      </dsp:spPr>
      <dsp:style>
        <a:lnRef idx="0">
          <a:scrgbClr r="0" g="0" b="0"/>
        </a:lnRef>
        <a:fillRef idx="1">
          <a:scrgbClr r="0" g="0" b="0"/>
        </a:fillRef>
        <a:effectRef idx="0">
          <a:scrgbClr r="0" g="0" b="0"/>
        </a:effectRef>
        <a:fontRef idx="minor"/>
      </dsp:style>
    </dsp:sp>
    <dsp:sp modelId="{EC5F7253-C174-0D4F-AB30-FF6B4B6A201C}">
      <dsp:nvSpPr>
        <dsp:cNvPr id="0" name=""/>
        <dsp:cNvSpPr/>
      </dsp:nvSpPr>
      <dsp:spPr>
        <a:xfrm>
          <a:off x="2801132" y="22032"/>
          <a:ext cx="1690259" cy="949721"/>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Nadeem" pitchFamily="2" charset="-78"/>
              <a:cs typeface="Nadeem" pitchFamily="2" charset="-78"/>
            </a:rPr>
            <a:t>Baseline Reference</a:t>
          </a:r>
        </a:p>
      </dsp:txBody>
      <dsp:txXfrm>
        <a:off x="2847494" y="68394"/>
        <a:ext cx="1597535" cy="856997"/>
      </dsp:txXfrm>
    </dsp:sp>
    <dsp:sp modelId="{6D0C1A68-BF19-224F-952E-96ACAE4B343D}">
      <dsp:nvSpPr>
        <dsp:cNvPr id="0" name=""/>
        <dsp:cNvSpPr/>
      </dsp:nvSpPr>
      <dsp:spPr>
        <a:xfrm>
          <a:off x="4713232" y="1158526"/>
          <a:ext cx="1773222" cy="1051754"/>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Nadeem" pitchFamily="2" charset="-78"/>
              <a:cs typeface="Nadeem" pitchFamily="2" charset="-78"/>
            </a:rPr>
            <a:t>Model Training</a:t>
          </a:r>
        </a:p>
      </dsp:txBody>
      <dsp:txXfrm>
        <a:off x="4764574" y="1209868"/>
        <a:ext cx="1670538" cy="949070"/>
      </dsp:txXfrm>
    </dsp:sp>
    <dsp:sp modelId="{E7249F8A-AC05-4349-9A5C-474EDD388BC8}">
      <dsp:nvSpPr>
        <dsp:cNvPr id="0" name=""/>
        <dsp:cNvSpPr/>
      </dsp:nvSpPr>
      <dsp:spPr>
        <a:xfrm>
          <a:off x="4740948" y="3124966"/>
          <a:ext cx="1773202" cy="973918"/>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Nadeem" pitchFamily="2" charset="-78"/>
              <a:cs typeface="Nadeem" pitchFamily="2" charset="-78"/>
            </a:rPr>
            <a:t>Quantitative Evaluation</a:t>
          </a:r>
        </a:p>
      </dsp:txBody>
      <dsp:txXfrm>
        <a:off x="4788491" y="3172509"/>
        <a:ext cx="1678116" cy="878832"/>
      </dsp:txXfrm>
    </dsp:sp>
    <dsp:sp modelId="{BF263CD6-550A-9F47-967F-9761EE528020}">
      <dsp:nvSpPr>
        <dsp:cNvPr id="0" name=""/>
        <dsp:cNvSpPr/>
      </dsp:nvSpPr>
      <dsp:spPr>
        <a:xfrm>
          <a:off x="2738875" y="4330308"/>
          <a:ext cx="1814774" cy="972423"/>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Nadeem" pitchFamily="2" charset="-78"/>
              <a:cs typeface="Nadeem" pitchFamily="2" charset="-78"/>
            </a:rPr>
            <a:t>Visual Validation</a:t>
          </a:r>
        </a:p>
      </dsp:txBody>
      <dsp:txXfrm>
        <a:off x="2786345" y="4377778"/>
        <a:ext cx="1719834" cy="877483"/>
      </dsp:txXfrm>
    </dsp:sp>
    <dsp:sp modelId="{3609F15D-F7B9-4C48-8CE9-3908EF95CDA9}">
      <dsp:nvSpPr>
        <dsp:cNvPr id="0" name=""/>
        <dsp:cNvSpPr/>
      </dsp:nvSpPr>
      <dsp:spPr>
        <a:xfrm>
          <a:off x="720095" y="3124960"/>
          <a:ext cx="1751212" cy="946210"/>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Nadeem" pitchFamily="2" charset="-78"/>
              <a:cs typeface="Nadeem" pitchFamily="2" charset="-78"/>
            </a:rPr>
            <a:t>Comparison &amp; Trade-off</a:t>
          </a:r>
        </a:p>
      </dsp:txBody>
      <dsp:txXfrm>
        <a:off x="766285" y="3171150"/>
        <a:ext cx="1658832" cy="853830"/>
      </dsp:txXfrm>
    </dsp:sp>
    <dsp:sp modelId="{C5BC4912-BB8B-BA4D-92D4-422D831C4F7C}">
      <dsp:nvSpPr>
        <dsp:cNvPr id="0" name=""/>
        <dsp:cNvSpPr/>
      </dsp:nvSpPr>
      <dsp:spPr>
        <a:xfrm>
          <a:off x="771347" y="1179376"/>
          <a:ext cx="1787246" cy="1062508"/>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dirty="0">
              <a:latin typeface="Nadeem" pitchFamily="2" charset="-78"/>
              <a:cs typeface="Nadeem" pitchFamily="2" charset="-78"/>
            </a:rPr>
            <a:t>Refinement &amp; Selection</a:t>
          </a:r>
        </a:p>
      </dsp:txBody>
      <dsp:txXfrm>
        <a:off x="823214" y="1231243"/>
        <a:ext cx="1683512" cy="95877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StepDownProcess">
  <dgm:title val=""/>
  <dgm:desc val=""/>
  <dgm:catLst>
    <dgm:cat type="process" pri="1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tL"/>
          <dgm:param type="flowDir" val="row"/>
          <dgm:param type="off" val="off"/>
          <dgm:param type="bkpt" val="fixed"/>
          <dgm:param type="bkPtFixedVal" val="1"/>
        </dgm:alg>
      </dgm:if>
      <dgm:else name="Name2">
        <dgm:alg type="snake">
          <dgm:param type="grDir" val="tR"/>
          <dgm:param type="flowDir" val="row"/>
          <dgm:param type="off" val="off"/>
          <dgm:param type="bkpt" val="fixed"/>
          <dgm:param type="bkPtFixedVal" val="1"/>
        </dgm:alg>
      </dgm:else>
    </dgm:choose>
    <dgm:shape xmlns:r="http://schemas.openxmlformats.org/officeDocument/2006/relationships" r:blip="">
      <dgm:adjLst/>
    </dgm:shape>
    <dgm:choose name="Name3">
      <dgm:if name="Name4" func="var" arg="dir" op="equ" val="norm">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if>
      <dgm:else name="Name5">
        <dgm:constrLst>
          <dgm:constr type="alignOff" forName="rootnode" val="0.48"/>
          <dgm:constr type="primFontSz" for="des" forName="ParentText" val="65"/>
          <dgm:constr type="primFontSz" for="des" forName="ChildText" refType="primFontSz" refFor="des" refForName="ParentText" op="lte"/>
          <dgm:constr type="w" for="ch" forName="composite" refType="w"/>
          <dgm:constr type="h" for="ch" forName="composite" refType="h"/>
          <dgm:constr type="sp" refType="h" refFor="ch" refForName="composite" op="equ" fact="-0.38"/>
        </dgm:constrLst>
      </dgm:else>
    </dgm:choose>
    <dgm:forEach name="nodesForEach" axis="ch" ptType="node">
      <dgm:layoutNode name="composite">
        <dgm:alg type="composite">
          <dgm:param type="ar" val="1.2439"/>
        </dgm:alg>
        <dgm:shape xmlns:r="http://schemas.openxmlformats.org/officeDocument/2006/relationships" r:blip="">
          <dgm:adjLst/>
        </dgm:shape>
        <dgm:choose name="Name6">
          <dgm:if name="Name7" func="var" arg="dir" op="equ" val="norm">
            <dgm:constrLst>
              <dgm:constr type="l" for="ch" forName="bentUpArrow1" refType="w" fact="0.07"/>
              <dgm:constr type="t" for="ch" forName="bentUpArrow1" refType="h" fact="0.524"/>
              <dgm:constr type="w" for="ch" forName="bentUpArrow1" refType="w" fact="0.3844"/>
              <dgm:constr type="h" for="ch" forName="bentUpArrow1" refType="h" fact="0.42"/>
              <dgm:constr type="l" for="ch" forName="ParentText" refType="w" fact="0"/>
              <dgm:constr type="t" for="ch" forName="ParentText" refType="h" fact="0"/>
              <dgm:constr type="w" for="ch" forName="ParentText" refType="w" fact="0.5684"/>
              <dgm:constr type="h" for="ch" forName="ParentText" refType="h" fact="0.4949"/>
              <dgm:constr type="l" for="ch" forName="ChildText" refType="w" refFor="ch" refForName="ParentText"/>
              <dgm:constr type="t" for="ch" forName="ChildText" refType="h" fact="0.05"/>
              <dgm:constr type="w" for="ch" forName="ChildText" refType="w" fact="0.4134"/>
              <dgm:constr type="h" for="ch" forName="ChildText" refType="h" fact="0.4"/>
              <dgm:constr type="l" for="ch" forName="FinalChildText" refType="w" refFor="ch" refForName="ParentText"/>
              <dgm:constr type="t" for="ch" forName="FinalChildText" refType="h" fact="0.05"/>
              <dgm:constr type="w" for="ch" forName="FinalChildText" refType="w" fact="0.4134"/>
              <dgm:constr type="h" for="ch" forName="FinalChildText" refType="h" fact="0.4"/>
            </dgm:constrLst>
          </dgm:if>
          <dgm:else name="Name8">
            <dgm:constrLst>
              <dgm:constr type="r" for="ch" forName="bentUpArrow1" refType="w" fact="0.97"/>
              <dgm:constr type="t" for="ch" forName="bentUpArrow1" refType="h" fact="0.524"/>
              <dgm:constr type="w" for="ch" forName="bentUpArrow1" refType="w" fact="0.3844"/>
              <dgm:constr type="h" for="ch" forName="bentUpArrow1" refType="h" fact="0.42"/>
              <dgm:constr type="l" for="ch" forName="ParentText" refType="w" fact="0.4316"/>
              <dgm:constr type="t" for="ch" forName="ParentText" refType="h" fact="0"/>
              <dgm:constr type="w" for="ch" forName="ParentText" refType="w" fact="0.5684"/>
              <dgm:constr type="h" for="ch" forName="ParentText" refType="h" fact="0.4949"/>
              <dgm:constr type="l" for="ch" forName="ChildText" refType="w" fact="0"/>
              <dgm:constr type="t" for="ch" forName="ChildText" refType="h" fact="0.05"/>
              <dgm:constr type="w" for="ch" forName="ChildText" refType="w" fact="0.4134"/>
              <dgm:constr type="h" for="ch" forName="ChildText" refType="h" fact="0.4"/>
              <dgm:constr type="l" for="ch" forName="FinalChildText" refType="w" fact="0"/>
              <dgm:constr type="t" for="ch" forName="FinalChildText" refType="h" fact="0.05"/>
              <dgm:constr type="w" for="ch" forName="FinalChildText" refType="w" fact="0.4134"/>
              <dgm:constr type="h" for="ch" forName="FinalChildText" refType="h" fact="0.4"/>
            </dgm:constrLst>
          </dgm:else>
        </dgm:choose>
        <dgm:choose name="Name9">
          <dgm:if name="Name10" axis="followSib" ptType="node" func="cnt" op="gte" val="1">
            <dgm:layoutNode name="bentUpArrow1" styleLbl="alignImgPlace1">
              <dgm:alg type="sp"/>
              <dgm:choose name="Name11">
                <dgm:if name="Name12" func="var" arg="dir" op="equ" val="norm">
                  <dgm:shape xmlns:r="http://schemas.openxmlformats.org/officeDocument/2006/relationships" rot="90" type="bentUpArrow" r:blip="">
                    <dgm:adjLst>
                      <dgm:adj idx="1" val="0.3284"/>
                      <dgm:adj idx="2" val="0.25"/>
                      <dgm:adj idx="3" val="0.3578"/>
                    </dgm:adjLst>
                  </dgm:shape>
                </dgm:if>
                <dgm:else name="Name13">
                  <dgm:shape xmlns:r="http://schemas.openxmlformats.org/officeDocument/2006/relationships" rot="180" type="bentArrow" r:blip="">
                    <dgm:adjLst>
                      <dgm:adj idx="1" val="0.3284"/>
                      <dgm:adj idx="2" val="0.25"/>
                      <dgm:adj idx="3" val="0.3578"/>
                      <dgm:adj idx="4" val="0"/>
                    </dgm:adjLst>
                  </dgm:shape>
                </dgm:else>
              </dgm:choose>
              <dgm:presOf/>
            </dgm:layoutNode>
          </dgm:if>
          <dgm:else name="Name14"/>
        </dgm:choose>
        <dgm:layoutNode name="ParentText" styleLbl="node1">
          <dgm:varLst>
            <dgm:chMax val="1"/>
            <dgm:chPref val="1"/>
            <dgm:bulletEnabled val="1"/>
          </dgm:varLst>
          <dgm:alg type="tx"/>
          <dgm:shape xmlns:r="http://schemas.openxmlformats.org/officeDocument/2006/relationships" type="roundRect" r:blip="">
            <dgm:adjLst>
              <dgm:adj idx="1" val="0.166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15">
          <dgm:if name="Name16" axis="followSib" ptType="node" func="cnt" op="equ" val="0">
            <dgm:choose name="Name17">
              <dgm:if name="Name18" axis="ch" ptType="node" func="cnt" op="gte" val="1">
                <dgm:layoutNode name="Final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9"/>
            </dgm:choose>
          </dgm:if>
          <dgm:else name="Name20">
            <dgm:layoutNode name="ChildText" styleLbl="revTx">
              <dgm:varLst>
                <dgm:chMax val="0"/>
                <dgm:chPref val="0"/>
                <dgm:bulletEnabled val="1"/>
              </dgm:varLst>
              <dgm:alg type="tx">
                <dgm:param type="stBulletLvl" val="1"/>
                <dgm:param type="txAnchorVertCh" val="mid"/>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ea typeface="ＭＳ Ｐゴシック" charset="0"/>
                <a:cs typeface="ＭＳ Ｐゴシック" charset="0"/>
              </a:defRPr>
            </a:lvl1pPr>
          </a:lstStyle>
          <a:p>
            <a:pPr>
              <a:defRPr/>
            </a:pPr>
            <a:endParaRPr lang="fr-FR"/>
          </a:p>
        </p:txBody>
      </p:sp>
      <p:sp>
        <p:nvSpPr>
          <p:cNvPr id="3" name="Espace réservé de la date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27BF234E-1774-E44F-A7B6-1F53193AB75F}" type="datetimeFigureOut">
              <a:rPr lang="fr-FR" altLang="en-US"/>
              <a:pPr/>
              <a:t>28/04/2026</a:t>
            </a:fld>
            <a:endParaRPr lang="fr-FR" altLang="en-US"/>
          </a:p>
        </p:txBody>
      </p:sp>
      <p:sp>
        <p:nvSpPr>
          <p:cNvPr id="4" name="Espace réservé du pied de page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ea typeface="ＭＳ Ｐゴシック" charset="0"/>
                <a:cs typeface="ＭＳ Ｐゴシック" charset="0"/>
              </a:defRPr>
            </a:lvl1pPr>
          </a:lstStyle>
          <a:p>
            <a:pPr>
              <a:defRPr/>
            </a:pPr>
            <a:endParaRPr lang="fr-FR"/>
          </a:p>
        </p:txBody>
      </p:sp>
      <p:sp>
        <p:nvSpPr>
          <p:cNvPr id="5" name="Espace réservé du numéro de diapositive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15390EA2-975E-C544-87F4-B91F519F4B49}" type="slidenum">
              <a:rPr lang="fr-FR" altLang="en-US"/>
              <a:pPr/>
              <a:t>‹#›</a:t>
            </a:fld>
            <a:endParaRPr lang="fr-FR" altLang="en-US"/>
          </a:p>
        </p:txBody>
      </p:sp>
    </p:spTree>
    <p:extLst>
      <p:ext uri="{BB962C8B-B14F-4D97-AF65-F5344CB8AC3E}">
        <p14:creationId xmlns:p14="http://schemas.microsoft.com/office/powerpoint/2010/main" val="20921701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62DAEDCF-2077-A44B-93BE-F0973E86B481}" type="datetimeFigureOut">
              <a:rPr lang="fr-FR" altLang="en-US"/>
              <a:pPr/>
              <a:t>28/04/2026</a:t>
            </a:fld>
            <a:endParaRPr lang="fr-FR" altLang="en-US"/>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fr-FR" noProof="0"/>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bodyPr>
          <a:lstStyle/>
          <a:p>
            <a:pPr lvl="0"/>
            <a:r>
              <a:rPr lang="fr-FR" altLang="en-US"/>
              <a:t>Cliquez pour modifier les styles du texte du masque</a:t>
            </a:r>
          </a:p>
          <a:p>
            <a:pPr lvl="1"/>
            <a:r>
              <a:rPr lang="fr-FR" altLang="en-US"/>
              <a:t>Deuxième niveau</a:t>
            </a:r>
          </a:p>
          <a:p>
            <a:pPr lvl="2"/>
            <a:r>
              <a:rPr lang="fr-FR" altLang="en-US"/>
              <a:t>Troisième niveau</a:t>
            </a:r>
          </a:p>
          <a:p>
            <a:pPr lvl="3"/>
            <a:r>
              <a:rPr lang="fr-FR" altLang="en-US"/>
              <a:t>Quatrième niveau</a:t>
            </a:r>
          </a:p>
          <a:p>
            <a:pPr lvl="4"/>
            <a:r>
              <a:rPr lang="fr-FR" altLang="en-US"/>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BDC0431-74D1-2848-9094-DEA74D687A19}" type="slidenum">
              <a:rPr lang="fr-FR" altLang="en-US"/>
              <a:pPr/>
              <a:t>‹#›</a:t>
            </a:fld>
            <a:endParaRPr lang="fr-FR" altLang="en-US"/>
          </a:p>
        </p:txBody>
      </p:sp>
    </p:spTree>
    <p:extLst>
      <p:ext uri="{BB962C8B-B14F-4D97-AF65-F5344CB8AC3E}">
        <p14:creationId xmlns:p14="http://schemas.microsoft.com/office/powerpoint/2010/main" val="129558702"/>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we are ….[names], we are a team of CCE students and today we present </a:t>
            </a:r>
            <a:r>
              <a:rPr lang="en-US" i="1" dirty="0" err="1"/>
              <a:t>SnowFLOWS</a:t>
            </a:r>
            <a:r>
              <a:rPr lang="en-US" dirty="0"/>
              <a:t>, a project focused on modeling and forecasting snow dynamics in Lebanon using satellite data and deep learning techniques.</a:t>
            </a:r>
          </a:p>
          <a:p>
            <a:r>
              <a:rPr lang="en-US" dirty="0"/>
              <a:t>Snow in Lebanon is not just seasonal — it is a critical component of the country’s water resources.</a:t>
            </a:r>
            <a:br>
              <a:rPr lang="en-US" dirty="0"/>
            </a:br>
            <a:r>
              <a:rPr lang="en-US" dirty="0"/>
              <a:t>Understanding and predicting its evolution is therefore both an environmental and engineering challenge.</a:t>
            </a:r>
          </a:p>
        </p:txBody>
      </p:sp>
      <p:sp>
        <p:nvSpPr>
          <p:cNvPr id="4" name="Slide Number Placeholder 3"/>
          <p:cNvSpPr>
            <a:spLocks noGrp="1"/>
          </p:cNvSpPr>
          <p:nvPr>
            <p:ph type="sldNum" sz="quarter" idx="10"/>
          </p:nvPr>
        </p:nvSpPr>
        <p:spPr/>
        <p:txBody>
          <a:bodyPr/>
          <a:lstStyle/>
          <a:p>
            <a:fld id="{EBDC0431-74D1-2848-9094-DEA74D687A19}" type="slidenum">
              <a:rPr lang="fr-FR" altLang="en-US" smtClean="0"/>
              <a:pPr/>
              <a:t>1</a:t>
            </a:fld>
            <a:endParaRPr lang="fr-FR" altLang="en-US" dirty="0"/>
          </a:p>
        </p:txBody>
      </p:sp>
    </p:spTree>
    <p:extLst>
      <p:ext uri="{BB962C8B-B14F-4D97-AF65-F5344CB8AC3E}">
        <p14:creationId xmlns:p14="http://schemas.microsoft.com/office/powerpoint/2010/main" val="25390941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Snow acts as a natural water reservoir in Lebanon.</a:t>
            </a:r>
            <a:br>
              <a:rPr lang="en-US" dirty="0"/>
            </a:br>
            <a:r>
              <a:rPr lang="en-US" dirty="0"/>
              <a:t>However, its evolution is highly complex due to environmental variability, terrain effects, and data limitations.</a:t>
            </a:r>
          </a:p>
          <a:p>
            <a:r>
              <a:rPr lang="en-US" dirty="0"/>
              <a:t>Traditional approaches struggle to capture these dynamics, especially when dealing with temporal dependencies and multi-source data.</a:t>
            </a:r>
          </a:p>
        </p:txBody>
      </p:sp>
      <p:sp>
        <p:nvSpPr>
          <p:cNvPr id="4" name="Slide Number Placeholder 3"/>
          <p:cNvSpPr>
            <a:spLocks noGrp="1"/>
          </p:cNvSpPr>
          <p:nvPr>
            <p:ph type="sldNum" sz="quarter" idx="10"/>
          </p:nvPr>
        </p:nvSpPr>
        <p:spPr/>
        <p:txBody>
          <a:bodyPr/>
          <a:lstStyle/>
          <a:p>
            <a:fld id="{EBDC0431-74D1-2848-9094-DEA74D687A19}" type="slidenum">
              <a:rPr lang="fr-FR" altLang="en-US" smtClean="0"/>
              <a:pPr/>
              <a:t>2</a:t>
            </a:fld>
            <a:endParaRPr lang="fr-FR" altLang="en-US"/>
          </a:p>
        </p:txBody>
      </p:sp>
    </p:spTree>
    <p:extLst>
      <p:ext uri="{BB962C8B-B14F-4D97-AF65-F5344CB8AC3E}">
        <p14:creationId xmlns:p14="http://schemas.microsoft.com/office/powerpoint/2010/main" val="1673610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objective was to design a system capable of forecasting weekly snow evolution using time-series modeling.</a:t>
            </a:r>
          </a:p>
          <a:p>
            <a:r>
              <a:rPr lang="en-US" dirty="0"/>
              <a:t>To achieve this, we:</a:t>
            </a:r>
          </a:p>
          <a:p>
            <a:pPr marL="171450" indent="-171450">
              <a:buFont typeface="Arial" panose="020B0604020202020204" pitchFamily="34" charset="0"/>
              <a:buChar char="•"/>
            </a:pPr>
            <a:r>
              <a:rPr lang="en-US" dirty="0"/>
              <a:t>extracted snow data from satellite imagery, </a:t>
            </a:r>
          </a:p>
          <a:p>
            <a:pPr marL="171450" indent="-171450">
              <a:buFont typeface="Arial" panose="020B0604020202020204" pitchFamily="34" charset="0"/>
              <a:buChar char="•"/>
            </a:pPr>
            <a:r>
              <a:rPr lang="en-US" dirty="0"/>
              <a:t>integrated meteorological variables, </a:t>
            </a:r>
          </a:p>
          <a:p>
            <a:pPr marL="171450" indent="-171450">
              <a:buFont typeface="Arial" panose="020B0604020202020204" pitchFamily="34" charset="0"/>
              <a:buChar char="•"/>
            </a:pPr>
            <a:r>
              <a:rPr lang="en-US" dirty="0"/>
              <a:t>and developed a predictive model capable of learning temporal patterns.</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3</a:t>
            </a:fld>
            <a:endParaRPr lang="fr-FR" altLang="en-US"/>
          </a:p>
        </p:txBody>
      </p:sp>
    </p:spTree>
    <p:extLst>
      <p:ext uri="{BB962C8B-B14F-4D97-AF65-F5344CB8AC3E}">
        <p14:creationId xmlns:p14="http://schemas.microsoft.com/office/powerpoint/2010/main" val="13129856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needed to:</a:t>
            </a:r>
          </a:p>
          <a:p>
            <a:pPr marL="171450" indent="-171450">
              <a:buFont typeface="Arial" panose="020B0604020202020204" pitchFamily="34" charset="0"/>
              <a:buChar char="•"/>
            </a:pPr>
            <a:r>
              <a:rPr lang="en-US" dirty="0"/>
              <a:t>process and align multi-source data, </a:t>
            </a:r>
          </a:p>
          <a:p>
            <a:pPr marL="171450" indent="-171450">
              <a:buFont typeface="Arial" panose="020B0604020202020204" pitchFamily="34" charset="0"/>
              <a:buChar char="•"/>
            </a:pPr>
            <a:r>
              <a:rPr lang="en-US" dirty="0"/>
              <a:t>construct temporal sequences for learning, </a:t>
            </a:r>
          </a:p>
          <a:p>
            <a:pPr marL="171450" indent="-171450">
              <a:buFont typeface="Arial" panose="020B0604020202020204" pitchFamily="34" charset="0"/>
              <a:buChar char="•"/>
            </a:pPr>
            <a:r>
              <a:rPr lang="en-US" dirty="0"/>
              <a:t>train a predictive model, </a:t>
            </a:r>
          </a:p>
          <a:p>
            <a:pPr marL="171450" indent="-171450">
              <a:buFont typeface="Arial" panose="020B0604020202020204" pitchFamily="34" charset="0"/>
              <a:buChar char="•"/>
            </a:pPr>
            <a:r>
              <a:rPr lang="en-US" dirty="0"/>
              <a:t>and evaluate performance using quantitative metrics such as MAE and RMSE.</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4</a:t>
            </a:fld>
            <a:endParaRPr lang="fr-FR" altLang="en-US"/>
          </a:p>
        </p:txBody>
      </p:sp>
    </p:spTree>
    <p:extLst>
      <p:ext uri="{BB962C8B-B14F-4D97-AF65-F5344CB8AC3E}">
        <p14:creationId xmlns:p14="http://schemas.microsoft.com/office/powerpoint/2010/main" val="1471812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had to operate under several constraints.</a:t>
            </a:r>
          </a:p>
          <a:p>
            <a:pPr marL="171450" indent="-171450">
              <a:buFont typeface="Arial" panose="020B0604020202020204" pitchFamily="34" charset="0"/>
              <a:buChar char="•"/>
            </a:pPr>
            <a:r>
              <a:rPr lang="en-US" dirty="0"/>
              <a:t>On the data side, cloud coverage affects Sentinel-2 observations, and there is a trade-off between spatial resolution and temporal availability when combining Sentinel-2 and MODIS.</a:t>
            </a:r>
          </a:p>
          <a:p>
            <a:pPr marL="171450" indent="-171450">
              <a:buFont typeface="Arial" panose="020B0604020202020204" pitchFamily="34" charset="0"/>
              <a:buChar char="•"/>
            </a:pPr>
            <a:r>
              <a:rPr lang="en-US" dirty="0"/>
              <a:t>On the modeling side, performance depends strongly on sequence length selection, and capturing extreme snow peaks remains challenging.</a:t>
            </a:r>
          </a:p>
          <a:p>
            <a:r>
              <a:rPr lang="en-US" dirty="0"/>
              <a:t>Finally, the project scope was constrained by time, which limited the number of experiments we could explore.</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5</a:t>
            </a:fld>
            <a:endParaRPr lang="fr-FR" altLang="en-US"/>
          </a:p>
        </p:txBody>
      </p:sp>
    </p:spTree>
    <p:extLst>
      <p:ext uri="{BB962C8B-B14F-4D97-AF65-F5344CB8AC3E}">
        <p14:creationId xmlns:p14="http://schemas.microsoft.com/office/powerpoint/2010/main" val="1610561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by evaluating different modeling approaches for time-series forecasting.</a:t>
            </a:r>
          </a:p>
          <a:p>
            <a:r>
              <a:rPr lang="en-US" dirty="0"/>
              <a:t>We considered classical models such as ARIMA, machine learning methods like Random Forest, and deep learning approaches such as LSTM.</a:t>
            </a:r>
          </a:p>
          <a:p>
            <a:r>
              <a:rPr lang="en-US" dirty="0"/>
              <a:t>ARIMA is limited in capturing nonlinear relationships, and Random Forest does not naturally model temporal dependencies.</a:t>
            </a:r>
          </a:p>
          <a:p>
            <a:r>
              <a:rPr lang="en-US" dirty="0"/>
              <a:t>LSTM was selected because it is specifically designed to learn sequential patterns and long-term dependencies, which are essential for modeling snow evolution over time.</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6</a:t>
            </a:fld>
            <a:endParaRPr lang="fr-FR" altLang="en-US"/>
          </a:p>
        </p:txBody>
      </p:sp>
    </p:spTree>
    <p:extLst>
      <p:ext uri="{BB962C8B-B14F-4D97-AF65-F5344CB8AC3E}">
        <p14:creationId xmlns:p14="http://schemas.microsoft.com/office/powerpoint/2010/main" val="523163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overall architecture of our system.</a:t>
            </a:r>
          </a:p>
          <a:p>
            <a:pPr marL="171450" indent="-171450">
              <a:buFontTx/>
              <a:buChar char="-"/>
            </a:pPr>
            <a:r>
              <a:rPr lang="en-US" dirty="0"/>
              <a:t>Our objective is to transform raw satellite and meteorological data into a forecasting system for weekly snow cover prediction.</a:t>
            </a:r>
          </a:p>
          <a:p>
            <a:pPr marL="171450" indent="-171450">
              <a:buFontTx/>
              <a:buChar char="-"/>
            </a:pPr>
            <a:endParaRPr lang="en-US" dirty="0"/>
          </a:p>
          <a:p>
            <a:pPr marL="0" indent="0">
              <a:buFontTx/>
              <a:buNone/>
            </a:pPr>
            <a:r>
              <a:rPr lang="en-US" dirty="0"/>
              <a:t>We rely on three main data sources.</a:t>
            </a:r>
          </a:p>
          <a:p>
            <a:pPr marL="171450" indent="-171450">
              <a:buFontTx/>
              <a:buChar char="-"/>
            </a:pPr>
            <a:r>
              <a:rPr lang="en-US" dirty="0"/>
              <a:t>Sentinel-2 provides high-resolution optical imagery, which is useful for precise snow detection.</a:t>
            </a:r>
          </a:p>
          <a:p>
            <a:pPr marL="171450" indent="-171450">
              <a:buFontTx/>
              <a:buChar char="-"/>
            </a:pPr>
            <a:r>
              <a:rPr lang="en-US" dirty="0"/>
              <a:t>MODIS provides lower spatial resolution but much longer temporal coverage, which helps capture long-term trends.</a:t>
            </a:r>
          </a:p>
          <a:p>
            <a:pPr marL="171450" indent="-171450">
              <a:buFontTx/>
              <a:buChar char="-"/>
            </a:pPr>
            <a:r>
              <a:rPr lang="en-US" dirty="0"/>
              <a:t>And ERA5 provides meteorological variables such as temperature and precipitation, which influence snow accumulation and melting.</a:t>
            </a:r>
          </a:p>
          <a:p>
            <a:r>
              <a:rPr lang="en-US" dirty="0"/>
              <a:t>All of these datasets are later combined into a structured time-series format.</a:t>
            </a:r>
          </a:p>
          <a:p>
            <a:r>
              <a:rPr lang="en-US" dirty="0"/>
              <a:t>We then use an LSTM-based model, which is well suited for sequential data and allows us to learn both short-term and long-term dependencies in snow evolution.</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7</a:t>
            </a:fld>
            <a:endParaRPr lang="fr-FR" altLang="en-US"/>
          </a:p>
        </p:txBody>
      </p:sp>
    </p:spTree>
    <p:extLst>
      <p:ext uri="{BB962C8B-B14F-4D97-AF65-F5344CB8AC3E}">
        <p14:creationId xmlns:p14="http://schemas.microsoft.com/office/powerpoint/2010/main" val="4286259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a more detailed view of the overall processing pipeline.</a:t>
            </a:r>
          </a:p>
          <a:p>
            <a:r>
              <a:rPr lang="en-US" dirty="0"/>
              <a:t>We start from satellite data acquisition, followed by data cleaning and preprocessing.</a:t>
            </a:r>
          </a:p>
          <a:p>
            <a:r>
              <a:rPr lang="en-US" dirty="0"/>
              <a:t>Then we perform feature engineering and normalization.</a:t>
            </a:r>
          </a:p>
          <a:p>
            <a:r>
              <a:rPr lang="en-US" dirty="0"/>
              <a:t>After that, we construct the time-series sequences used for learning, train the LSTM model, generate predictions, and finally evaluate the results.</a:t>
            </a:r>
          </a:p>
          <a:p>
            <a:r>
              <a:rPr lang="en-US" dirty="0"/>
              <a:t>This diagram summarizes the full end-to-end workflow of the system.</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8</a:t>
            </a:fld>
            <a:endParaRPr lang="fr-FR" altLang="en-US"/>
          </a:p>
        </p:txBody>
      </p:sp>
    </p:spTree>
    <p:extLst>
      <p:ext uri="{BB962C8B-B14F-4D97-AF65-F5344CB8AC3E}">
        <p14:creationId xmlns:p14="http://schemas.microsoft.com/office/powerpoint/2010/main" val="41442706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followed an iterative workflow with continuous refinement of data, model, and experiments over time.</a:t>
            </a:r>
          </a:p>
          <a:p>
            <a:r>
              <a:rPr lang="en-US" dirty="0"/>
              <a:t>Challenges such as model variability, sequence trade-offs, and data alignment were handled through repeated runs, averaging results, and synchronization.</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9</a:t>
            </a:fld>
            <a:endParaRPr lang="fr-FR" altLang="en-US"/>
          </a:p>
        </p:txBody>
      </p:sp>
    </p:spTree>
    <p:extLst>
      <p:ext uri="{BB962C8B-B14F-4D97-AF65-F5344CB8AC3E}">
        <p14:creationId xmlns:p14="http://schemas.microsoft.com/office/powerpoint/2010/main" val="22282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move into the solution implementation, where we start building the full system step by step.</a:t>
            </a:r>
          </a:p>
          <a:p>
            <a:r>
              <a:rPr lang="en-US" dirty="0"/>
              <a:t>We first define our study area, which is Lebanon, using satellite-based geospatial boundaries.</a:t>
            </a:r>
          </a:p>
          <a:p>
            <a:r>
              <a:rPr lang="en-US" dirty="0"/>
              <a:t>On this slide, we can see the raw satellite view, followed by snow maps generated from MODIS and Sentinel-2 imagery processed in Google Earth Engine.</a:t>
            </a:r>
          </a:p>
          <a:p>
            <a:r>
              <a:rPr lang="en-US" dirty="0"/>
              <a:t>For Sentinel-2, we applied snow extraction using the Normalized Difference Snow Index, then performed cloud masking and used a threshold of 0.4 to classify snow pixels.</a:t>
            </a:r>
          </a:p>
          <a:p>
            <a:r>
              <a:rPr lang="en-US" dirty="0"/>
              <a:t>This gives us the first reliable snow representations that will feed into our forecasting pipeline.</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10</a:t>
            </a:fld>
            <a:endParaRPr lang="fr-FR" altLang="en-US"/>
          </a:p>
        </p:txBody>
      </p:sp>
    </p:spTree>
    <p:extLst>
      <p:ext uri="{BB962C8B-B14F-4D97-AF65-F5344CB8AC3E}">
        <p14:creationId xmlns:p14="http://schemas.microsoft.com/office/powerpoint/2010/main" val="27437253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snow extraction, we built the weekly time-series in Python by cleaning and merging the exported data.</a:t>
            </a:r>
          </a:p>
          <a:p>
            <a:r>
              <a:rPr lang="en-US" dirty="0"/>
              <a:t>We then visualized snow cover over time, where we clearly observe a strong seasonal pattern with winter peaks and summer melting.</a:t>
            </a:r>
          </a:p>
          <a:p>
            <a:r>
              <a:rPr lang="en-US" dirty="0"/>
              <a:t>This step was important because it confirmed that our extracted signal is consistent and meaningful before moving into modeling.</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11</a:t>
            </a:fld>
            <a:endParaRPr lang="fr-FR" altLang="en-US"/>
          </a:p>
        </p:txBody>
      </p:sp>
    </p:spTree>
    <p:extLst>
      <p:ext uri="{BB962C8B-B14F-4D97-AF65-F5344CB8AC3E}">
        <p14:creationId xmlns:p14="http://schemas.microsoft.com/office/powerpoint/2010/main" val="9198430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combine two important perspectives to better understand the snow signal before modeling.</a:t>
            </a:r>
          </a:p>
          <a:p>
            <a:r>
              <a:rPr lang="en-US" dirty="0"/>
              <a:t>First, the comparison between MODIS and Sentinel-2 confirms that both datasets capture the same seasonal snow behavior. MODIS appears smoother due to its daily observations, while Sentinel-2 is more detailed but slightly noisier because of cloud gaps and lower revisit frequency.</a:t>
            </a:r>
          </a:p>
          <a:p>
            <a:endParaRPr lang="en-US" dirty="0"/>
          </a:p>
          <a:p>
            <a:r>
              <a:rPr lang="en-US" dirty="0"/>
              <a:t>Then, we introduced altitude-based analysis for Sentinel-2. The idea here is that snow is strongly influenced by elevation, so we split the region into different altitude ranges to better understand how snow behaves in mountainous areas.</a:t>
            </a:r>
          </a:p>
          <a:p>
            <a:r>
              <a:rPr lang="en-US" dirty="0"/>
              <a:t>This helps us validate the physical consistency of the data, and later justifies why altitude-related features are included in our forecasting model.</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12</a:t>
            </a:fld>
            <a:endParaRPr lang="fr-FR" altLang="en-US"/>
          </a:p>
        </p:txBody>
      </p:sp>
    </p:spTree>
    <p:extLst>
      <p:ext uri="{BB962C8B-B14F-4D97-AF65-F5344CB8AC3E}">
        <p14:creationId xmlns:p14="http://schemas.microsoft.com/office/powerpoint/2010/main" val="34539580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build the final dataset that will be used as input for the model.</a:t>
            </a:r>
          </a:p>
          <a:p>
            <a:r>
              <a:rPr lang="en-US" dirty="0"/>
              <a:t>We first organize all our variables into a structured format, including satellite snow data, meteorological variables from ERA5, and altitude-based features. In total, we end up with 20 engineered features that describe both snow conditions and their driving factors.</a:t>
            </a:r>
          </a:p>
          <a:p>
            <a:r>
              <a:rPr lang="en-US" dirty="0"/>
              <a:t>Then, we define the target variable, which is the future snow cover we want to predict.</a:t>
            </a:r>
          </a:p>
          <a:p>
            <a:r>
              <a:rPr lang="en-US" dirty="0"/>
              <a:t>Finally, we apply Z-score normalization to standardize all features so they are on the same scale, which improves the stability and efficiency of model training.</a:t>
            </a:r>
          </a:p>
          <a:p>
            <a:r>
              <a:rPr lang="en-US" dirty="0"/>
              <a:t>At this stage, we obtain a clean, fully structured dataset ready for sequence modeling.</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13</a:t>
            </a:fld>
            <a:endParaRPr lang="fr-FR" altLang="en-US"/>
          </a:p>
        </p:txBody>
      </p:sp>
    </p:spTree>
    <p:extLst>
      <p:ext uri="{BB962C8B-B14F-4D97-AF65-F5344CB8AC3E}">
        <p14:creationId xmlns:p14="http://schemas.microsoft.com/office/powerpoint/2010/main" val="37426660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show how we move from raw data to a format that can be learned by the model.</a:t>
            </a:r>
          </a:p>
          <a:p>
            <a:r>
              <a:rPr lang="en-US" dirty="0"/>
              <a:t>Instead of using single weekly values, we transform the dataset into sequences. For example, we take 8 consecutive weeks as input, and we use them to predict the snow cover of the next week. This is illustrated here with the sliding window idea from week 1 to week 8 predicting week 9.</a:t>
            </a:r>
          </a:p>
          <a:p>
            <a:endParaRPr lang="en-US" dirty="0"/>
          </a:p>
          <a:p>
            <a:r>
              <a:rPr lang="en-US" dirty="0"/>
              <a:t>Mathematically, this becomes a supervised learning problem where each sample is a sequence of past observations mapped to a future value.</a:t>
            </a:r>
          </a:p>
          <a:p>
            <a:r>
              <a:rPr lang="en-US" dirty="0"/>
              <a:t>To make this possible, we reshape the dataset into 3D tensors: samples, time steps, and features. In our case, 8 time steps and 20 features.</a:t>
            </a:r>
          </a:p>
          <a:p>
            <a:r>
              <a:rPr lang="en-US" dirty="0"/>
              <a:t>We then split the dataset into training, validation, and test sets, and we verify the shapes directly in Python to ensure everything is correctly structured.</a:t>
            </a:r>
          </a:p>
          <a:p>
            <a:r>
              <a:rPr lang="en-US" dirty="0"/>
              <a:t>At this point, the data is ready to be fed into the LSTM model. We also define a baseline persistence model, which simply assumes the next value is equal to the current one, and we will later use it as a reference to evaluate how much the LSTM improves over a simple approach.</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14</a:t>
            </a:fld>
            <a:endParaRPr lang="fr-FR" altLang="en-US"/>
          </a:p>
        </p:txBody>
      </p:sp>
    </p:spTree>
    <p:extLst>
      <p:ext uri="{BB962C8B-B14F-4D97-AF65-F5344CB8AC3E}">
        <p14:creationId xmlns:p14="http://schemas.microsoft.com/office/powerpoint/2010/main" val="974246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chose an LSTM model because it is specifically designed for sequential data. In our case, snow evolution depends strongly on previous weeks, so the model needs to capture both short-term and long-term temporal dependencies.</a:t>
            </a:r>
          </a:p>
          <a:p>
            <a:r>
              <a:rPr lang="en-US" dirty="0"/>
              <a:t>This is why we use a stacked LSTM structure. The first layer with 96 units captures long-term patterns, and the second layer with 64 units refines more detailed temporal behavior. We also add dropout layers to reduce overfitting, followed by dense layers to map the learned features into the final snow prediction.</a:t>
            </a:r>
          </a:p>
          <a:p>
            <a:endParaRPr lang="en-US" dirty="0"/>
          </a:p>
          <a:p>
            <a:r>
              <a:rPr lang="en-US" dirty="0"/>
              <a:t>Now, regarding the loss function, we designed a custom Peak-Weighted Huber Loss.</a:t>
            </a:r>
          </a:p>
          <a:p>
            <a:r>
              <a:rPr lang="en-US" dirty="0"/>
              <a:t>The idea is that not all errors have the same importance. In snow forecasting, peak snow events are particularly important, so we give them higher weight. At the same time, the Huber loss ensures stable training by combining the advantages of MAE and MSE, making the model robust to outliers.</a:t>
            </a:r>
          </a:p>
          <a:p>
            <a:r>
              <a:rPr lang="en-US" dirty="0"/>
              <a:t>So overall, the architecture focuses on learning temporal dependencies, while the loss function ensures better sensitivity to critical snow peak events.</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15</a:t>
            </a:fld>
            <a:endParaRPr lang="fr-FR" altLang="en-US"/>
          </a:p>
        </p:txBody>
      </p:sp>
    </p:spTree>
    <p:extLst>
      <p:ext uri="{BB962C8B-B14F-4D97-AF65-F5344CB8AC3E}">
        <p14:creationId xmlns:p14="http://schemas.microsoft.com/office/powerpoint/2010/main" val="2737445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evaluate our model, we use two standard error metrics: MAE, which measures the average prediction error, and RMSE, which penalizes larger errors more strongly.</a:t>
            </a:r>
          </a:p>
          <a:p>
            <a:r>
              <a:rPr lang="en-US" dirty="0"/>
              <a:t>Here we show the results for one configuration, the 8-week sequence, which is our main example.</a:t>
            </a:r>
          </a:p>
          <a:p>
            <a:r>
              <a:rPr lang="en-US" dirty="0"/>
              <a:t>On the graph, we compare the real snow values with the model predictions over the full timeline. We can see that the model follows the overall seasonal pattern and captures most of the variations.</a:t>
            </a:r>
          </a:p>
          <a:p>
            <a:r>
              <a:rPr lang="en-US" dirty="0"/>
              <a:t>On the right, we also show the numerical results from the training run, including MAE and RMSE for both training and testing, and we also compare them to the baseline persistence model.</a:t>
            </a:r>
          </a:p>
          <a:p>
            <a:r>
              <a:rPr lang="en-US" dirty="0"/>
              <a:t>At this stage, this is one configuration among several we tested. In the next slide, we analyze different sequence lengths to understand how the amount of historical data affects model performance and to identify the best trade-off.</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16</a:t>
            </a:fld>
            <a:endParaRPr lang="fr-FR" altLang="en-US"/>
          </a:p>
        </p:txBody>
      </p:sp>
    </p:spTree>
    <p:extLst>
      <p:ext uri="{BB962C8B-B14F-4D97-AF65-F5344CB8AC3E}">
        <p14:creationId xmlns:p14="http://schemas.microsoft.com/office/powerpoint/2010/main" val="19303307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evaluate how the sequence length impacts model performance.</a:t>
            </a:r>
          </a:p>
          <a:p>
            <a:r>
              <a:rPr lang="en-US" dirty="0"/>
              <a:t>We tested multiple configurations from 1 to 12 weeks, while keeping the same model and training setup to ensure a fair comparison.</a:t>
            </a:r>
          </a:p>
          <a:p>
            <a:r>
              <a:rPr lang="en-US" dirty="0"/>
              <a:t>The graph shows how MAE and RMSE evolve with sequence length, and the table provides the exact values.</a:t>
            </a:r>
          </a:p>
          <a:p>
            <a:r>
              <a:rPr lang="en-US" dirty="0"/>
              <a:t>We observe that very short sequences lack sufficient temporal context, while longer sequences introduce more variability.</a:t>
            </a:r>
          </a:p>
          <a:p>
            <a:r>
              <a:rPr lang="en-US" dirty="0"/>
              <a:t>Numerically, the 6-week sequence achieves the lowest error values, indicating the best performance in terms of standard metrics.</a:t>
            </a:r>
          </a:p>
          <a:p>
            <a:r>
              <a:rPr lang="en-US" dirty="0"/>
              <a:t>However, these metrics alone do not fully capture forecasting quality, which is why we complement this analysis with visual evaluation.</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17</a:t>
            </a:fld>
            <a:endParaRPr lang="fr-FR" altLang="en-US"/>
          </a:p>
        </p:txBody>
      </p:sp>
    </p:spTree>
    <p:extLst>
      <p:ext uri="{BB962C8B-B14F-4D97-AF65-F5344CB8AC3E}">
        <p14:creationId xmlns:p14="http://schemas.microsoft.com/office/powerpoint/2010/main" val="32818294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directly compare the 6-week and 8-week models.</a:t>
            </a:r>
          </a:p>
          <a:p>
            <a:r>
              <a:rPr lang="en-US" dirty="0"/>
              <a:t>While the 6-week model performs better numerically, the 8-week model produces smoother and more consistent predictions.</a:t>
            </a:r>
          </a:p>
          <a:p>
            <a:r>
              <a:rPr lang="en-US" dirty="0"/>
              <a:t>In forecasting, two important aspects are the timing of peak events and their amplitude.</a:t>
            </a:r>
          </a:p>
          <a:p>
            <a:r>
              <a:rPr lang="en-US" dirty="0"/>
              <a:t>We observe that the 8-week model better captures both the position and the intensity of snow peaks, which are critical for realistic forecasting.</a:t>
            </a:r>
          </a:p>
          <a:p>
            <a:r>
              <a:rPr lang="en-US" dirty="0"/>
              <a:t>So even if it is slightly less optimal numerically, it provides a more meaningful representation of snow dynamics.</a:t>
            </a:r>
          </a:p>
          <a:p>
            <a:r>
              <a:rPr lang="en-US" dirty="0"/>
              <a:t>This highlights the trade-off between numerical accuracy and temporal realism, and justifies why the 8-week configuration is particularly relevant.</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18</a:t>
            </a:fld>
            <a:endParaRPr lang="fr-FR" altLang="en-US"/>
          </a:p>
        </p:txBody>
      </p:sp>
    </p:spTree>
    <p:extLst>
      <p:ext uri="{BB962C8B-B14F-4D97-AF65-F5344CB8AC3E}">
        <p14:creationId xmlns:p14="http://schemas.microsoft.com/office/powerpoint/2010/main" val="33293609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extend the analysis using a long-term MODIS dataset of about 25 years.</a:t>
            </a:r>
          </a:p>
          <a:p>
            <a:r>
              <a:rPr lang="en-US" dirty="0"/>
              <a:t>The objective was to check whether having more historical data improves model performance.</a:t>
            </a:r>
          </a:p>
          <a:p>
            <a:r>
              <a:rPr lang="en-US" dirty="0"/>
              <a:t>We observe that the predictions become more stable and follow the seasonal trends more smoothly.</a:t>
            </a:r>
          </a:p>
          <a:p>
            <a:endParaRPr lang="en-US" dirty="0"/>
          </a:p>
          <a:p>
            <a:r>
              <a:rPr lang="en-US" dirty="0"/>
              <a:t>However, the error metrics remain relatively similar, with RMSE around 0.6, which shows that increasing data alone does not eliminate forecasting error.</a:t>
            </a:r>
          </a:p>
          <a:p>
            <a:r>
              <a:rPr lang="en-US" dirty="0"/>
              <a:t>At the same time, when we look at the graphs, we see a strong alignment between predicted and real values, especially in terms of peak timing and overall trend.</a:t>
            </a:r>
          </a:p>
          <a:p>
            <a:r>
              <a:rPr lang="en-US" dirty="0"/>
              <a:t>This highlights an important point: even with higher numerical errors, the model can still provide meaningful and realistic predictions.</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19</a:t>
            </a:fld>
            <a:endParaRPr lang="fr-FR" altLang="en-US"/>
          </a:p>
        </p:txBody>
      </p:sp>
    </p:spTree>
    <p:extLst>
      <p:ext uri="{BB962C8B-B14F-4D97-AF65-F5344CB8AC3E}">
        <p14:creationId xmlns:p14="http://schemas.microsoft.com/office/powerpoint/2010/main" val="13043316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this slide summarizes our iterative approach.</a:t>
            </a:r>
          </a:p>
          <a:p>
            <a:r>
              <a:rPr lang="en-US" dirty="0"/>
              <a:t>We didn’t rely on a single run — we started from a baseline, trained multiple models, evaluated them both numerically and visually, and compared the results.</a:t>
            </a:r>
          </a:p>
          <a:p>
            <a:r>
              <a:rPr lang="en-US" dirty="0"/>
              <a:t>Based on this, we refined our choices, especially the sequence length, until reaching the best trade-off.</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20</a:t>
            </a:fld>
            <a:endParaRPr lang="fr-FR" altLang="en-US"/>
          </a:p>
        </p:txBody>
      </p:sp>
    </p:spTree>
    <p:extLst>
      <p:ext uri="{BB962C8B-B14F-4D97-AF65-F5344CB8AC3E}">
        <p14:creationId xmlns:p14="http://schemas.microsoft.com/office/powerpoint/2010/main" val="28958864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has environmental, societal, and economic impacts.</a:t>
            </a:r>
          </a:p>
          <a:p>
            <a:r>
              <a:rPr lang="en-US" dirty="0"/>
              <a:t>It improves snow monitoring and understanding of water resources, supports better preparedness for snowfall events, and helps decision-making.</a:t>
            </a:r>
          </a:p>
          <a:p>
            <a:r>
              <a:rPr lang="en-US" dirty="0"/>
              <a:t>It can also benefit sectors like tourism and agriculture by reducing uncertainty in snow and water availability.</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21</a:t>
            </a:fld>
            <a:endParaRPr lang="fr-FR" altLang="en-US"/>
          </a:p>
        </p:txBody>
      </p:sp>
    </p:spTree>
    <p:extLst>
      <p:ext uri="{BB962C8B-B14F-4D97-AF65-F5344CB8AC3E}">
        <p14:creationId xmlns:p14="http://schemas.microsoft.com/office/powerpoint/2010/main" val="7162157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has several limitations that are important to acknowledge.</a:t>
            </a:r>
          </a:p>
          <a:p>
            <a:r>
              <a:rPr lang="en-US" dirty="0"/>
              <a:t>First, we observed a trade-off in sequence length selection, where no single configuration optimizes all aspects of performance. We were also limited by the temporal coverage of Sentinel-2 data, and by the difficulty of capturing extreme snow peaks.</a:t>
            </a:r>
          </a:p>
          <a:p>
            <a:endParaRPr lang="en-US" dirty="0"/>
          </a:p>
          <a:p>
            <a:r>
              <a:rPr lang="en-US" dirty="0"/>
              <a:t>Regarding evaluation, we focused on MAE and RMSE mainly due to time constraints, although other indicators could provide a more complete assessment.</a:t>
            </a:r>
          </a:p>
          <a:p>
            <a:r>
              <a:rPr lang="en-US" dirty="0"/>
              <a:t>These limitations highlight that our model is not a final solution, but rather an intermediate step.</a:t>
            </a:r>
          </a:p>
          <a:p>
            <a:endParaRPr lang="en-US" dirty="0"/>
          </a:p>
          <a:p>
            <a:r>
              <a:rPr lang="en-US" dirty="0"/>
              <a:t>For future work, we aim to improve the system by combining Sentinel-2 and MODIS into a hybrid model, exploring more advanced architectures like attention or transformers, and introducing additional evaluation metrics.</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22</a:t>
            </a:fld>
            <a:endParaRPr lang="fr-FR" altLang="en-US"/>
          </a:p>
        </p:txBody>
      </p:sp>
    </p:spTree>
    <p:extLst>
      <p:ext uri="{BB962C8B-B14F-4D97-AF65-F5344CB8AC3E}">
        <p14:creationId xmlns:p14="http://schemas.microsoft.com/office/powerpoint/2010/main" val="20554559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allowed us to build a complete snow forecasting pipeline using multi-source data and an optimized LSTM model, achieving better performance than baseline methods.</a:t>
            </a:r>
          </a:p>
          <a:p>
            <a:endParaRPr lang="en-US" dirty="0"/>
          </a:p>
          <a:p>
            <a:r>
              <a:rPr lang="en-US" dirty="0"/>
              <a:t>We showed that snow dynamics are complex and nonlinear, and that improving performance is not only about increasing data, but also about choosing the right modeling approach and temporal representation.</a:t>
            </a:r>
          </a:p>
        </p:txBody>
      </p:sp>
      <p:sp>
        <p:nvSpPr>
          <p:cNvPr id="4" name="Slide Number Placeholder 3"/>
          <p:cNvSpPr>
            <a:spLocks noGrp="1"/>
          </p:cNvSpPr>
          <p:nvPr>
            <p:ph type="sldNum" sz="quarter" idx="5"/>
          </p:nvPr>
        </p:nvSpPr>
        <p:spPr/>
        <p:txBody>
          <a:bodyPr/>
          <a:lstStyle/>
          <a:p>
            <a:fld id="{EBDC0431-74D1-2848-9094-DEA74D687A19}" type="slidenum">
              <a:rPr lang="fr-FR" altLang="en-US" smtClean="0"/>
              <a:pPr/>
              <a:t>23</a:t>
            </a:fld>
            <a:endParaRPr lang="fr-FR" altLang="en-US"/>
          </a:p>
        </p:txBody>
      </p:sp>
    </p:spTree>
    <p:extLst>
      <p:ext uri="{BB962C8B-B14F-4D97-AF65-F5344CB8AC3E}">
        <p14:creationId xmlns:p14="http://schemas.microsoft.com/office/powerpoint/2010/main" val="155837373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et sous-titre">
    <p:spTree>
      <p:nvGrpSpPr>
        <p:cNvPr id="1" name=""/>
        <p:cNvGrpSpPr/>
        <p:nvPr/>
      </p:nvGrpSpPr>
      <p:grpSpPr>
        <a:xfrm>
          <a:off x="0" y="0"/>
          <a:ext cx="0" cy="0"/>
          <a:chOff x="0" y="0"/>
          <a:chExt cx="0" cy="0"/>
        </a:xfrm>
      </p:grpSpPr>
      <p:sp>
        <p:nvSpPr>
          <p:cNvPr id="7" name="Titre 6"/>
          <p:cNvSpPr>
            <a:spLocks noGrp="1"/>
          </p:cNvSpPr>
          <p:nvPr>
            <p:ph type="title"/>
          </p:nvPr>
        </p:nvSpPr>
        <p:spPr>
          <a:xfrm>
            <a:off x="406398" y="2095550"/>
            <a:ext cx="6181969" cy="1107440"/>
          </a:xfrm>
          <a:prstGeom prst="rect">
            <a:avLst/>
          </a:prstGeom>
        </p:spPr>
        <p:txBody>
          <a:bodyPr vert="horz"/>
          <a:lstStyle>
            <a:lvl1pPr algn="l">
              <a:defRPr sz="3400" b="1" i="0">
                <a:solidFill>
                  <a:srgbClr val="0A1C72"/>
                </a:solidFill>
                <a:effectLst/>
                <a:latin typeface="+mn-lt"/>
                <a:ea typeface="Linux Libertine" charset="0"/>
                <a:cs typeface="Linux Libertine" charset="0"/>
              </a:defRPr>
            </a:lvl1pPr>
          </a:lstStyle>
          <a:p>
            <a:r>
              <a:rPr lang="en-US" noProof="0"/>
              <a:t>Click to edit Master title style</a:t>
            </a:r>
            <a:endParaRPr lang="fr-FR" noProof="0" dirty="0"/>
          </a:p>
        </p:txBody>
      </p:sp>
      <p:sp>
        <p:nvSpPr>
          <p:cNvPr id="14" name="Espace réservé du texte 13"/>
          <p:cNvSpPr>
            <a:spLocks noGrp="1"/>
          </p:cNvSpPr>
          <p:nvPr>
            <p:ph type="body" sz="quarter" idx="10"/>
          </p:nvPr>
        </p:nvSpPr>
        <p:spPr>
          <a:xfrm>
            <a:off x="406400" y="5125184"/>
            <a:ext cx="2870201" cy="372940"/>
          </a:xfrm>
          <a:prstGeom prst="rect">
            <a:avLst/>
          </a:prstGeom>
        </p:spPr>
        <p:txBody>
          <a:bodyPr vert="horz"/>
          <a:lstStyle>
            <a:lvl1pPr marL="0" indent="0" algn="l">
              <a:buNone/>
              <a:defRPr sz="1400" b="0" i="0">
                <a:solidFill>
                  <a:schemeClr val="tx1"/>
                </a:solidFill>
                <a:latin typeface="+mn-lt"/>
                <a:ea typeface="Linux Libertine" charset="0"/>
                <a:cs typeface="Linux Libertine" charset="0"/>
              </a:defRPr>
            </a:lvl1pPr>
            <a:lvl2pPr>
              <a:defRPr b="0" i="0">
                <a:latin typeface="Myriad Pro Light"/>
                <a:cs typeface="Myriad Pro Light"/>
              </a:defRPr>
            </a:lvl2pPr>
            <a:lvl3pPr>
              <a:defRPr b="0" i="0">
                <a:latin typeface="Myriad Pro Light"/>
                <a:cs typeface="Myriad Pro Light"/>
              </a:defRPr>
            </a:lvl3pPr>
            <a:lvl4pPr>
              <a:defRPr b="0" i="0">
                <a:latin typeface="Myriad Pro Light"/>
                <a:cs typeface="Myriad Pro Light"/>
              </a:defRPr>
            </a:lvl4pPr>
            <a:lvl5pPr marL="1828800" indent="0">
              <a:buNone/>
              <a:defRPr b="0" i="0">
                <a:latin typeface="Myriad Pro Light"/>
                <a:cs typeface="Myriad Pro Light"/>
              </a:defRPr>
            </a:lvl5pPr>
          </a:lstStyle>
          <a:p>
            <a:pPr lvl="0"/>
            <a:r>
              <a:rPr lang="en-US" noProof="0" dirty="0"/>
              <a:t>Click to edit Master text styles</a:t>
            </a:r>
          </a:p>
        </p:txBody>
      </p:sp>
      <p:sp>
        <p:nvSpPr>
          <p:cNvPr id="9" name="Espace réservé du texte 13"/>
          <p:cNvSpPr>
            <a:spLocks noGrp="1"/>
          </p:cNvSpPr>
          <p:nvPr>
            <p:ph type="body" sz="quarter" idx="11"/>
          </p:nvPr>
        </p:nvSpPr>
        <p:spPr>
          <a:xfrm>
            <a:off x="406398" y="3497202"/>
            <a:ext cx="6181969" cy="903605"/>
          </a:xfrm>
          <a:prstGeom prst="rect">
            <a:avLst/>
          </a:prstGeom>
        </p:spPr>
        <p:txBody>
          <a:bodyPr vert="horz"/>
          <a:lstStyle>
            <a:lvl1pPr marL="0" indent="0" algn="l">
              <a:buNone/>
              <a:defRPr sz="1800" b="0" i="0">
                <a:solidFill>
                  <a:schemeClr val="tx1"/>
                </a:solidFill>
                <a:latin typeface="+mn-lt"/>
                <a:ea typeface="Linux Libertine" charset="0"/>
                <a:cs typeface="Linux Libertine" charset="0"/>
              </a:defRPr>
            </a:lvl1pPr>
            <a:lvl2pPr>
              <a:defRPr b="0" i="0">
                <a:latin typeface="Myriad Pro Light"/>
                <a:cs typeface="Myriad Pro Light"/>
              </a:defRPr>
            </a:lvl2pPr>
            <a:lvl3pPr>
              <a:defRPr b="0" i="0">
                <a:latin typeface="Myriad Pro Light"/>
                <a:cs typeface="Myriad Pro Light"/>
              </a:defRPr>
            </a:lvl3pPr>
            <a:lvl4pPr>
              <a:defRPr b="0" i="0">
                <a:latin typeface="Myriad Pro Light"/>
                <a:cs typeface="Myriad Pro Light"/>
              </a:defRPr>
            </a:lvl4pPr>
            <a:lvl5pPr marL="1828800" indent="0">
              <a:buNone/>
              <a:defRPr b="0" i="0">
                <a:latin typeface="Myriad Pro Light"/>
                <a:cs typeface="Myriad Pro Light"/>
              </a:defRPr>
            </a:lvl5pPr>
          </a:lstStyle>
          <a:p>
            <a:pPr lvl="0"/>
            <a:r>
              <a:rPr lang="en-US" noProof="0" dirty="0"/>
              <a:t>Click to edit Master text styles</a:t>
            </a:r>
          </a:p>
        </p:txBody>
      </p:sp>
      <p:sp>
        <p:nvSpPr>
          <p:cNvPr id="10" name="Espace réservé du texte 13"/>
          <p:cNvSpPr>
            <a:spLocks noGrp="1"/>
          </p:cNvSpPr>
          <p:nvPr>
            <p:ph type="body" sz="quarter" idx="12"/>
          </p:nvPr>
        </p:nvSpPr>
        <p:spPr>
          <a:xfrm>
            <a:off x="406399" y="5711338"/>
            <a:ext cx="2870201" cy="372940"/>
          </a:xfrm>
          <a:prstGeom prst="rect">
            <a:avLst/>
          </a:prstGeom>
        </p:spPr>
        <p:txBody>
          <a:bodyPr vert="horz"/>
          <a:lstStyle>
            <a:lvl1pPr marL="0" indent="0" algn="l">
              <a:buNone/>
              <a:defRPr sz="1400" b="0" i="0">
                <a:solidFill>
                  <a:schemeClr val="tx1"/>
                </a:solidFill>
                <a:latin typeface="+mn-lt"/>
                <a:ea typeface="Linux Libertine" charset="0"/>
                <a:cs typeface="Linux Libertine" charset="0"/>
              </a:defRPr>
            </a:lvl1pPr>
            <a:lvl2pPr>
              <a:defRPr b="0" i="0">
                <a:latin typeface="Myriad Pro Light"/>
                <a:cs typeface="Myriad Pro Light"/>
              </a:defRPr>
            </a:lvl2pPr>
            <a:lvl3pPr>
              <a:defRPr b="0" i="0">
                <a:latin typeface="Myriad Pro Light"/>
                <a:cs typeface="Myriad Pro Light"/>
              </a:defRPr>
            </a:lvl3pPr>
            <a:lvl4pPr>
              <a:defRPr b="0" i="0">
                <a:latin typeface="Myriad Pro Light"/>
                <a:cs typeface="Myriad Pro Light"/>
              </a:defRPr>
            </a:lvl4pPr>
            <a:lvl5pPr marL="1828800" indent="0">
              <a:buNone/>
              <a:defRPr b="0" i="0">
                <a:latin typeface="Myriad Pro Light"/>
                <a:cs typeface="Myriad Pro Light"/>
              </a:defRPr>
            </a:lvl5pPr>
          </a:lstStyle>
          <a:p>
            <a:pPr lvl="0"/>
            <a:r>
              <a:rPr lang="en-US" noProof="0"/>
              <a:t>Click to edit Master text styles</a:t>
            </a:r>
          </a:p>
        </p:txBody>
      </p:sp>
      <p:pic>
        <p:nvPicPr>
          <p:cNvPr id="15" name="Picture 14">
            <a:extLst>
              <a:ext uri="{FF2B5EF4-FFF2-40B4-BE49-F238E27FC236}">
                <a16:creationId xmlns:a16="http://schemas.microsoft.com/office/drawing/2014/main" id="{95F999C0-1CC3-E84D-A512-387A981824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18755" y="304969"/>
            <a:ext cx="2183721" cy="817038"/>
          </a:xfrm>
          <a:prstGeom prst="rect">
            <a:avLst/>
          </a:prstGeom>
        </p:spPr>
      </p:pic>
    </p:spTree>
    <p:extLst>
      <p:ext uri="{BB962C8B-B14F-4D97-AF65-F5344CB8AC3E}">
        <p14:creationId xmlns:p14="http://schemas.microsoft.com/office/powerpoint/2010/main" val="205685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457200" y="508000"/>
            <a:ext cx="8229599" cy="747713"/>
          </a:xfrm>
          <a:prstGeom prst="rect">
            <a:avLst/>
          </a:prstGeom>
        </p:spPr>
        <p:txBody>
          <a:bodyPr/>
          <a:lstStyle>
            <a:lvl1pPr marL="0" indent="0">
              <a:buFont typeface="+mj-lt"/>
              <a:buNone/>
              <a:defRPr sz="2400" b="1" i="0">
                <a:effectLst/>
                <a:latin typeface="+mj-lt"/>
                <a:ea typeface="Linux Libertine" charset="0"/>
                <a:cs typeface="Linux Libertine" charset="0"/>
              </a:defRPr>
            </a:lvl1pPr>
          </a:lstStyle>
          <a:p>
            <a:r>
              <a:rPr lang="fr-FR" noProof="0" dirty="0"/>
              <a:t>Cliquez et modifiez le titre</a:t>
            </a:r>
          </a:p>
        </p:txBody>
      </p:sp>
      <p:sp>
        <p:nvSpPr>
          <p:cNvPr id="8" name="Espace réservé du texte 2"/>
          <p:cNvSpPr>
            <a:spLocks noGrp="1"/>
          </p:cNvSpPr>
          <p:nvPr>
            <p:ph idx="1"/>
          </p:nvPr>
        </p:nvSpPr>
        <p:spPr bwMode="auto">
          <a:xfrm>
            <a:off x="457200" y="1358538"/>
            <a:ext cx="8229600" cy="4767626"/>
          </a:xfrm>
          <a:prstGeom prst="rect">
            <a:avLst/>
          </a:prstGeom>
          <a:noFill/>
          <a:ln>
            <a:noFill/>
          </a:ln>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buClr>
                <a:srgbClr val="0A1C72"/>
              </a:buClr>
              <a:buSzPct val="100000"/>
              <a:buFont typeface="Wingdings" charset="2"/>
              <a:buChar char="§"/>
              <a:defRPr sz="2200" b="1" i="0">
                <a:solidFill>
                  <a:srgbClr val="0A1C72"/>
                </a:solidFill>
                <a:latin typeface="+mn-lt"/>
                <a:ea typeface="Linux Libertine Semibold" charset="0"/>
                <a:cs typeface="Linux Libertine Semibold" charset="0"/>
              </a:defRPr>
            </a:lvl1pPr>
            <a:lvl2pPr>
              <a:buSzPct val="100000"/>
              <a:defRPr sz="2000" b="0" i="0">
                <a:latin typeface="+mn-lt"/>
                <a:ea typeface="Linux Libertine" charset="0"/>
                <a:cs typeface="Linux Libertine" charset="0"/>
              </a:defRPr>
            </a:lvl2pPr>
            <a:lvl3pPr>
              <a:buClr>
                <a:schemeClr val="tx1"/>
              </a:buClr>
              <a:defRPr sz="2000" b="0" i="0">
                <a:latin typeface="+mn-lt"/>
                <a:ea typeface="Linux Libertine" charset="0"/>
                <a:cs typeface="Linux Libertine" charset="0"/>
              </a:defRPr>
            </a:lvl3pPr>
            <a:lvl4pPr>
              <a:defRPr sz="1800" b="0" i="0">
                <a:latin typeface="+mn-lt"/>
                <a:ea typeface="Linux Libertine" charset="0"/>
                <a:cs typeface="Linux Libertine" charset="0"/>
              </a:defRPr>
            </a:lvl4pPr>
            <a:lvl5pPr>
              <a:defRPr sz="1800" b="0" i="0">
                <a:latin typeface="+mn-lt"/>
                <a:ea typeface="Linux Libertine" charset="0"/>
                <a:cs typeface="Linux Libertine" charset="0"/>
              </a:defRPr>
            </a:lvl5pPr>
          </a:lstStyle>
          <a:p>
            <a:pPr lvl="0"/>
            <a:r>
              <a:rPr lang="fr-FR" noProof="0" dirty="0"/>
              <a:t>Cliquez pour modifier les styles du texte du masque</a:t>
            </a:r>
          </a:p>
          <a:p>
            <a:pPr lvl="1"/>
            <a:r>
              <a:rPr lang="fr-FR" noProof="0" dirty="0"/>
              <a:t>Deuxième niveau</a:t>
            </a:r>
          </a:p>
          <a:p>
            <a:pPr lvl="2"/>
            <a:r>
              <a:rPr lang="fr-FR" noProof="0" dirty="0"/>
              <a:t>Troisième niveau</a:t>
            </a:r>
          </a:p>
          <a:p>
            <a:pPr lvl="3"/>
            <a:r>
              <a:rPr lang="fr-FR" noProof="0" dirty="0"/>
              <a:t>Quatrième niveau</a:t>
            </a:r>
          </a:p>
          <a:p>
            <a:pPr lvl="4"/>
            <a:r>
              <a:rPr lang="fr-FR" noProof="0" dirty="0"/>
              <a:t>Cinquième niveau</a:t>
            </a:r>
          </a:p>
        </p:txBody>
      </p:sp>
      <p:sp>
        <p:nvSpPr>
          <p:cNvPr id="4" name="Espace réservé de la date 3"/>
          <p:cNvSpPr>
            <a:spLocks noGrp="1"/>
          </p:cNvSpPr>
          <p:nvPr>
            <p:ph type="dt" sz="half" idx="10"/>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bodyPr>
          <a:lstStyle>
            <a:lvl1pPr>
              <a:defRPr sz="1000" b="0" i="0">
                <a:solidFill>
                  <a:schemeClr val="bg1"/>
                </a:solidFill>
                <a:latin typeface="+mn-lt"/>
                <a:ea typeface="Linux Libertine" charset="0"/>
                <a:cs typeface="Linux Libertine" charset="0"/>
              </a:defRPr>
            </a:lvl1pPr>
          </a:lstStyle>
          <a:p>
            <a:r>
              <a:rPr lang="en-US" altLang="en-US" dirty="0"/>
              <a:t>MDP23-xx</a:t>
            </a:r>
            <a:endParaRPr lang="fr-FR" altLang="en-US" dirty="0"/>
          </a:p>
        </p:txBody>
      </p:sp>
      <p:sp>
        <p:nvSpPr>
          <p:cNvPr id="5" name="Espace réservé du pied de page 4"/>
          <p:cNvSpPr>
            <a:spLocks noGrp="1"/>
          </p:cNvSpPr>
          <p:nvPr>
            <p:ph type="ftr" sz="quarter" idx="11"/>
          </p:nvPr>
        </p:nvSpPr>
        <p:spPr>
          <a:xfrm>
            <a:off x="1711235" y="6590810"/>
            <a:ext cx="5721532" cy="365125"/>
          </a:xfrm>
          <a:prstGeom prst="rect">
            <a:avLst/>
          </a:prstGeom>
        </p:spPr>
        <p:txBody>
          <a:bodyPr/>
          <a:lstStyle>
            <a:lvl1pPr algn="ctr">
              <a:defRPr sz="1000" b="0" i="0" dirty="0">
                <a:solidFill>
                  <a:schemeClr val="bg1"/>
                </a:solidFill>
                <a:latin typeface="+mn-lt"/>
                <a:ea typeface="Linux Libertine" charset="0"/>
                <a:cs typeface="Linux Libertine" charset="0"/>
              </a:defRPr>
            </a:lvl1pPr>
          </a:lstStyle>
          <a:p>
            <a:pPr>
              <a:defRPr/>
            </a:pPr>
            <a:r>
              <a:rPr lang="fr-FR" dirty="0"/>
              <a:t>Project </a:t>
            </a:r>
            <a:r>
              <a:rPr lang="fr-FR" dirty="0" err="1"/>
              <a:t>Title</a:t>
            </a:r>
            <a:endParaRPr lang="fr-FR" dirty="0"/>
          </a:p>
        </p:txBody>
      </p:sp>
      <p:sp>
        <p:nvSpPr>
          <p:cNvPr id="6" name="Espace réservé du numéro de diapositive 5"/>
          <p:cNvSpPr>
            <a:spLocks noGrp="1"/>
          </p:cNvSpPr>
          <p:nvPr>
            <p:ph type="sldNum" sz="quarter" idx="12"/>
          </p:nvPr>
        </p:nvSpPr>
        <p:spPr>
          <a:xfrm>
            <a:off x="7908724" y="6590810"/>
            <a:ext cx="1071152" cy="365125"/>
          </a:xfrm>
          <a:prstGeom prst="rect">
            <a:avLst/>
          </a:prstGeom>
        </p:spPr>
        <p:txBody>
          <a:bodyPr vert="horz" wrap="square" lIns="91440" tIns="45720" rIns="91440" bIns="45720" numCol="1" anchor="t" anchorCtr="0" compatLnSpc="1">
            <a:prstTxWarp prst="textNoShape">
              <a:avLst/>
            </a:prstTxWarp>
          </a:bodyPr>
          <a:lstStyle>
            <a:lvl1pPr algn="r">
              <a:defRPr sz="1000" b="0" i="0">
                <a:solidFill>
                  <a:schemeClr val="bg1"/>
                </a:solidFill>
                <a:latin typeface="+mn-lt"/>
                <a:ea typeface="Linux Libertine" charset="0"/>
                <a:cs typeface="Linux Libertine" charset="0"/>
              </a:defRPr>
            </a:lvl1pPr>
          </a:lstStyle>
          <a:p>
            <a:fld id="{7F40025E-8A47-7E48-AA2F-82A25E5E3F97}" type="slidenum">
              <a:rPr lang="fr-FR" altLang="en-US" smtClean="0"/>
              <a:pPr/>
              <a:t>‹#›</a:t>
            </a:fld>
            <a:endParaRPr lang="fr-FR" altLang="en-US" dirty="0"/>
          </a:p>
        </p:txBody>
      </p:sp>
    </p:spTree>
    <p:extLst>
      <p:ext uri="{BB962C8B-B14F-4D97-AF65-F5344CB8AC3E}">
        <p14:creationId xmlns:p14="http://schemas.microsoft.com/office/powerpoint/2010/main" val="16409585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7" name="Titre 6"/>
          <p:cNvSpPr>
            <a:spLocks noGrp="1"/>
          </p:cNvSpPr>
          <p:nvPr>
            <p:ph type="title"/>
          </p:nvPr>
        </p:nvSpPr>
        <p:spPr>
          <a:xfrm>
            <a:off x="1319349" y="4193177"/>
            <a:ext cx="6254205" cy="1833154"/>
          </a:xfrm>
          <a:prstGeom prst="rect">
            <a:avLst/>
          </a:prstGeom>
        </p:spPr>
        <p:txBody>
          <a:bodyPr vert="horz"/>
          <a:lstStyle>
            <a:lvl1pPr algn="r">
              <a:defRPr lang="fr-FR" sz="3200" b="1" i="0" kern="1200" dirty="0">
                <a:solidFill>
                  <a:schemeClr val="tx1"/>
                </a:solidFill>
                <a:latin typeface="Arial" charset="0"/>
                <a:ea typeface="Arial" charset="0"/>
                <a:cs typeface="Arial" charset="0"/>
              </a:defRPr>
            </a:lvl1pPr>
          </a:lstStyle>
          <a:p>
            <a:endParaRPr lang="fr-FR" dirty="0"/>
          </a:p>
        </p:txBody>
      </p:sp>
    </p:spTree>
    <p:extLst>
      <p:ext uri="{BB962C8B-B14F-4D97-AF65-F5344CB8AC3E}">
        <p14:creationId xmlns:p14="http://schemas.microsoft.com/office/powerpoint/2010/main" val="3880528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7" name="Titre 6"/>
          <p:cNvSpPr>
            <a:spLocks noGrp="1"/>
          </p:cNvSpPr>
          <p:nvPr>
            <p:ph type="title"/>
          </p:nvPr>
        </p:nvSpPr>
        <p:spPr>
          <a:xfrm>
            <a:off x="1319349" y="4193177"/>
            <a:ext cx="6254205" cy="1833154"/>
          </a:xfrm>
          <a:prstGeom prst="rect">
            <a:avLst/>
          </a:prstGeom>
        </p:spPr>
        <p:txBody>
          <a:bodyPr vert="horz"/>
          <a:lstStyle>
            <a:lvl1pPr algn="r">
              <a:defRPr lang="fr-FR" sz="3200" b="1" i="0" kern="1200" dirty="0">
                <a:solidFill>
                  <a:schemeClr val="tx1"/>
                </a:solidFill>
                <a:latin typeface="Arial" charset="0"/>
                <a:ea typeface="Arial" charset="0"/>
                <a:cs typeface="Arial" charset="0"/>
              </a:defRPr>
            </a:lvl1pPr>
          </a:lstStyle>
          <a:p>
            <a:endParaRPr lang="fr-FR" dirty="0"/>
          </a:p>
        </p:txBody>
      </p:sp>
    </p:spTree>
    <p:extLst>
      <p:ext uri="{BB962C8B-B14F-4D97-AF65-F5344CB8AC3E}">
        <p14:creationId xmlns:p14="http://schemas.microsoft.com/office/powerpoint/2010/main" val="29954857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theme" Target="../theme/theme3.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85" r:id="rId1"/>
  </p:sldLayoutIdLst>
  <p:hf hdr="0"/>
  <p:txStyles>
    <p:titleStyle>
      <a:lvl1pPr algn="ctr" defTabSz="457200" rtl="0" eaLnBrk="1" fontAlgn="base" hangingPunct="1">
        <a:spcBef>
          <a:spcPct val="0"/>
        </a:spcBef>
        <a:spcAft>
          <a:spcPct val="0"/>
        </a:spcAft>
        <a:defRPr sz="3600" kern="1200">
          <a:solidFill>
            <a:schemeClr val="bg1"/>
          </a:solidFill>
          <a:effectLst>
            <a:outerShdw blurRad="50800" dist="38100" dir="2700000" algn="tl" rotWithShape="0">
              <a:srgbClr val="000000">
                <a:alpha val="43000"/>
              </a:srgbClr>
            </a:outerShdw>
          </a:effectLst>
          <a:latin typeface="Arial"/>
          <a:ea typeface="ＭＳ Ｐゴシック" charset="0"/>
          <a:cs typeface="Arial"/>
        </a:defRPr>
      </a:lvl1pPr>
      <a:lvl2pPr algn="ctr" defTabSz="457200" rtl="0" eaLnBrk="1" fontAlgn="base" hangingPunct="1">
        <a:spcBef>
          <a:spcPct val="0"/>
        </a:spcBef>
        <a:spcAft>
          <a:spcPct val="0"/>
        </a:spcAft>
        <a:defRPr sz="3600">
          <a:solidFill>
            <a:schemeClr val="bg1"/>
          </a:solidFill>
          <a:latin typeface="Arial" charset="0"/>
          <a:ea typeface="ＭＳ Ｐゴシック" charset="0"/>
        </a:defRPr>
      </a:lvl2pPr>
      <a:lvl3pPr algn="ctr" defTabSz="457200" rtl="0" eaLnBrk="1" fontAlgn="base" hangingPunct="1">
        <a:spcBef>
          <a:spcPct val="0"/>
        </a:spcBef>
        <a:spcAft>
          <a:spcPct val="0"/>
        </a:spcAft>
        <a:defRPr sz="3600">
          <a:solidFill>
            <a:schemeClr val="bg1"/>
          </a:solidFill>
          <a:latin typeface="Arial" charset="0"/>
          <a:ea typeface="ＭＳ Ｐゴシック" charset="0"/>
        </a:defRPr>
      </a:lvl3pPr>
      <a:lvl4pPr algn="ctr" defTabSz="457200" rtl="0" eaLnBrk="1" fontAlgn="base" hangingPunct="1">
        <a:spcBef>
          <a:spcPct val="0"/>
        </a:spcBef>
        <a:spcAft>
          <a:spcPct val="0"/>
        </a:spcAft>
        <a:defRPr sz="3600">
          <a:solidFill>
            <a:schemeClr val="bg1"/>
          </a:solidFill>
          <a:latin typeface="Arial" charset="0"/>
          <a:ea typeface="ＭＳ Ｐゴシック" charset="0"/>
        </a:defRPr>
      </a:lvl4pPr>
      <a:lvl5pPr algn="ctr" defTabSz="457200" rtl="0" eaLnBrk="1" fontAlgn="base" hangingPunct="1">
        <a:spcBef>
          <a:spcPct val="0"/>
        </a:spcBef>
        <a:spcAft>
          <a:spcPct val="0"/>
        </a:spcAft>
        <a:defRPr sz="3600">
          <a:solidFill>
            <a:schemeClr val="bg1"/>
          </a:solidFill>
          <a:latin typeface="Arial" charset="0"/>
          <a:ea typeface="ＭＳ Ｐゴシック" charset="0"/>
        </a:defRPr>
      </a:lvl5pPr>
      <a:lvl6pPr marL="457200" algn="ctr" defTabSz="457200" rtl="0" eaLnBrk="1" fontAlgn="base" hangingPunct="1">
        <a:spcBef>
          <a:spcPct val="0"/>
        </a:spcBef>
        <a:spcAft>
          <a:spcPct val="0"/>
        </a:spcAft>
        <a:defRPr sz="3600">
          <a:solidFill>
            <a:schemeClr val="tx1"/>
          </a:solidFill>
          <a:latin typeface="Arial" charset="0"/>
          <a:ea typeface="ＭＳ Ｐゴシック" charset="0"/>
        </a:defRPr>
      </a:lvl6pPr>
      <a:lvl7pPr marL="914400" algn="ctr" defTabSz="457200" rtl="0" eaLnBrk="1" fontAlgn="base" hangingPunct="1">
        <a:spcBef>
          <a:spcPct val="0"/>
        </a:spcBef>
        <a:spcAft>
          <a:spcPct val="0"/>
        </a:spcAft>
        <a:defRPr sz="3600">
          <a:solidFill>
            <a:schemeClr val="tx1"/>
          </a:solidFill>
          <a:latin typeface="Arial" charset="0"/>
          <a:ea typeface="ＭＳ Ｐゴシック" charset="0"/>
        </a:defRPr>
      </a:lvl7pPr>
      <a:lvl8pPr marL="1371600" algn="ctr" defTabSz="457200" rtl="0" eaLnBrk="1" fontAlgn="base" hangingPunct="1">
        <a:spcBef>
          <a:spcPct val="0"/>
        </a:spcBef>
        <a:spcAft>
          <a:spcPct val="0"/>
        </a:spcAft>
        <a:defRPr sz="3600">
          <a:solidFill>
            <a:schemeClr val="tx1"/>
          </a:solidFill>
          <a:latin typeface="Arial" charset="0"/>
          <a:ea typeface="ＭＳ Ｐゴシック" charset="0"/>
        </a:defRPr>
      </a:lvl8pPr>
      <a:lvl9pPr marL="1828800" algn="ctr" defTabSz="457200" rtl="0" eaLnBrk="1" fontAlgn="base" hangingPunct="1">
        <a:spcBef>
          <a:spcPct val="0"/>
        </a:spcBef>
        <a:spcAft>
          <a:spcPct val="0"/>
        </a:spcAft>
        <a:defRPr sz="3600">
          <a:solidFill>
            <a:schemeClr val="tx1"/>
          </a:solidFill>
          <a:latin typeface="Arial" charset="0"/>
          <a:ea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sz="2800" kern="1200">
          <a:solidFill>
            <a:schemeClr val="tx1"/>
          </a:solidFill>
          <a:latin typeface="Arial"/>
          <a:ea typeface="ＭＳ Ｐゴシック" charset="0"/>
          <a:cs typeface="Arial"/>
        </a:defRPr>
      </a:lvl1pPr>
      <a:lvl2pPr marL="742950" indent="-285750" algn="l" defTabSz="457200" rtl="0" eaLnBrk="1" fontAlgn="base" hangingPunct="1">
        <a:spcBef>
          <a:spcPct val="20000"/>
        </a:spcBef>
        <a:spcAft>
          <a:spcPct val="0"/>
        </a:spcAft>
        <a:buSzPct val="50000"/>
        <a:buFont typeface="Wingdings" charset="2"/>
        <a:buChar char="ü"/>
        <a:defRPr sz="2400" kern="1200">
          <a:solidFill>
            <a:schemeClr val="tx1"/>
          </a:solidFill>
          <a:latin typeface="Arial"/>
          <a:ea typeface="ＭＳ Ｐゴシック" charset="0"/>
          <a:cs typeface="Arial"/>
        </a:defRPr>
      </a:lvl2pPr>
      <a:lvl3pPr marL="1143000" indent="-228600" algn="l" defTabSz="457200" rtl="0" eaLnBrk="1" fontAlgn="base" hangingPunct="1">
        <a:spcBef>
          <a:spcPct val="20000"/>
        </a:spcBef>
        <a:spcAft>
          <a:spcPct val="0"/>
        </a:spcAft>
        <a:buFont typeface="Arial" charset="0"/>
        <a:buChar char="•"/>
        <a:defRPr sz="2000" kern="1200">
          <a:solidFill>
            <a:schemeClr val="tx1"/>
          </a:solidFill>
          <a:latin typeface="Arial"/>
          <a:ea typeface="ＭＳ Ｐゴシック" charset="0"/>
          <a:cs typeface="Arial"/>
        </a:defRPr>
      </a:lvl3pPr>
      <a:lvl4pPr marL="1600200" indent="-228600" algn="l" defTabSz="457200" rtl="0" eaLnBrk="1" fontAlgn="base" hangingPunct="1">
        <a:spcBef>
          <a:spcPct val="20000"/>
        </a:spcBef>
        <a:spcAft>
          <a:spcPct val="0"/>
        </a:spcAft>
        <a:buSzPct val="50000"/>
        <a:buFont typeface="Courier New" charset="0"/>
        <a:buChar char="o"/>
        <a:defRPr sz="2000" kern="1200">
          <a:solidFill>
            <a:schemeClr val="tx1"/>
          </a:solidFill>
          <a:latin typeface="Arial"/>
          <a:ea typeface="ＭＳ Ｐゴシック" charset="0"/>
          <a:cs typeface="Arial"/>
        </a:defRPr>
      </a:lvl4pPr>
      <a:lvl5pPr marL="2057400" indent="-228600" algn="l" defTabSz="457200" rtl="0" eaLnBrk="1" fontAlgn="base" hangingPunct="1">
        <a:spcBef>
          <a:spcPct val="20000"/>
        </a:spcBef>
        <a:spcAft>
          <a:spcPct val="0"/>
        </a:spcAft>
        <a:buSzPct val="60000"/>
        <a:buFont typeface="Wingdings" charset="2"/>
        <a:buChar char=""/>
        <a:defRPr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4" name="Straight Connector 3"/>
          <p:cNvCxnSpPr/>
          <p:nvPr userDrawn="1"/>
        </p:nvCxnSpPr>
        <p:spPr>
          <a:xfrm flipV="1">
            <a:off x="203200" y="346779"/>
            <a:ext cx="8559800" cy="0"/>
          </a:xfrm>
          <a:prstGeom prst="line">
            <a:avLst/>
          </a:prstGeom>
          <a:ln w="28575">
            <a:solidFill>
              <a:srgbClr val="C1B5A8"/>
            </a:solidFill>
          </a:ln>
        </p:spPr>
        <p:style>
          <a:lnRef idx="1">
            <a:schemeClr val="accent1"/>
          </a:lnRef>
          <a:fillRef idx="0">
            <a:schemeClr val="accent1"/>
          </a:fillRef>
          <a:effectRef idx="0">
            <a:schemeClr val="accent1"/>
          </a:effectRef>
          <a:fontRef idx="minor">
            <a:schemeClr val="tx1"/>
          </a:fontRef>
        </p:style>
      </p:cxnSp>
      <p:sp>
        <p:nvSpPr>
          <p:cNvPr id="5" name="Rectangle 4"/>
          <p:cNvSpPr>
            <a:spLocks noChangeAspect="1"/>
          </p:cNvSpPr>
          <p:nvPr userDrawn="1"/>
        </p:nvSpPr>
        <p:spPr>
          <a:xfrm>
            <a:off x="6468400" y="202779"/>
            <a:ext cx="2880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a:spLocks noChangeAspect="1"/>
          </p:cNvSpPr>
          <p:nvPr userDrawn="1"/>
        </p:nvSpPr>
        <p:spPr>
          <a:xfrm>
            <a:off x="6985000" y="202779"/>
            <a:ext cx="1524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a:spLocks noChangeAspect="1"/>
          </p:cNvSpPr>
          <p:nvPr userDrawn="1"/>
        </p:nvSpPr>
        <p:spPr>
          <a:xfrm>
            <a:off x="7747000" y="202779"/>
            <a:ext cx="1905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a:spLocks noChangeAspect="1"/>
          </p:cNvSpPr>
          <p:nvPr userDrawn="1"/>
        </p:nvSpPr>
        <p:spPr>
          <a:xfrm>
            <a:off x="7366000" y="202779"/>
            <a:ext cx="152400" cy="288000"/>
          </a:xfrm>
          <a:prstGeom prst="rect">
            <a:avLst/>
          </a:prstGeom>
          <a:solidFill>
            <a:srgbClr val="A594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a:spLocks noChangeAspect="1"/>
          </p:cNvSpPr>
          <p:nvPr userDrawn="1"/>
        </p:nvSpPr>
        <p:spPr>
          <a:xfrm>
            <a:off x="8204200" y="202779"/>
            <a:ext cx="288000" cy="288000"/>
          </a:xfrm>
          <a:prstGeom prst="rect">
            <a:avLst/>
          </a:prstGeom>
          <a:solidFill>
            <a:srgbClr val="A594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a:spLocks noChangeAspect="1"/>
          </p:cNvSpPr>
          <p:nvPr userDrawn="1"/>
        </p:nvSpPr>
        <p:spPr>
          <a:xfrm>
            <a:off x="6756400"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a:spLocks noChangeAspect="1"/>
          </p:cNvSpPr>
          <p:nvPr userDrawn="1"/>
        </p:nvSpPr>
        <p:spPr>
          <a:xfrm>
            <a:off x="7133951"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a:spLocks noChangeAspect="1"/>
          </p:cNvSpPr>
          <p:nvPr userDrawn="1"/>
        </p:nvSpPr>
        <p:spPr>
          <a:xfrm>
            <a:off x="7521716"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a:spLocks noChangeAspect="1"/>
          </p:cNvSpPr>
          <p:nvPr userDrawn="1"/>
        </p:nvSpPr>
        <p:spPr>
          <a:xfrm>
            <a:off x="7968385"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a:spLocks noChangeAspect="1"/>
          </p:cNvSpPr>
          <p:nvPr userDrawn="1"/>
        </p:nvSpPr>
        <p:spPr>
          <a:xfrm>
            <a:off x="8492201" y="6579550"/>
            <a:ext cx="65180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a:spLocks noChangeAspect="1"/>
          </p:cNvSpPr>
          <p:nvPr userDrawn="1"/>
        </p:nvSpPr>
        <p:spPr>
          <a:xfrm>
            <a:off x="0" y="6578600"/>
            <a:ext cx="6468400" cy="2794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7" name="Picture 16">
            <a:extLst>
              <a:ext uri="{FF2B5EF4-FFF2-40B4-BE49-F238E27FC236}">
                <a16:creationId xmlns:a16="http://schemas.microsoft.com/office/drawing/2014/main" id="{BF7E4E3D-5B35-1B4B-BDA2-A3E1EEAB3A51}"/>
              </a:ext>
            </a:extLst>
          </p:cNvPr>
          <p:cNvPicPr>
            <a:picLocks noChangeAspect="1"/>
          </p:cNvPicPr>
          <p:nvPr userDrawn="1"/>
        </p:nvPicPr>
        <p:blipFill>
          <a:blip r:embed="rId4"/>
          <a:stretch>
            <a:fillRect/>
          </a:stretch>
        </p:blipFill>
        <p:spPr>
          <a:xfrm>
            <a:off x="8597619" y="90951"/>
            <a:ext cx="511656" cy="511656"/>
          </a:xfrm>
          <a:prstGeom prst="rect">
            <a:avLst/>
          </a:prstGeom>
        </p:spPr>
      </p:pic>
    </p:spTree>
  </p:cSld>
  <p:clrMap bg1="lt1" tx1="dk1" bg2="lt2" tx2="dk2" accent1="accent1" accent2="accent2" accent3="accent3" accent4="accent4" accent5="accent5" accent6="accent6" hlink="hlink" folHlink="folHlink"/>
  <p:sldLayoutIdLst>
    <p:sldLayoutId id="2147483887" r:id="rId1"/>
    <p:sldLayoutId id="2147483890" r:id="rId2"/>
  </p:sldLayoutIdLst>
  <p:hf hdr="0"/>
  <p:txStyles>
    <p:titleStyle>
      <a:lvl1pPr algn="l" defTabSz="457200" rtl="0" eaLnBrk="0" fontAlgn="base" hangingPunct="0">
        <a:spcBef>
          <a:spcPct val="0"/>
        </a:spcBef>
        <a:spcAft>
          <a:spcPct val="0"/>
        </a:spcAft>
        <a:buClr>
          <a:srgbClr val="17375E"/>
        </a:buClr>
        <a:buFont typeface="Wingdings" charset="2"/>
        <a:defRPr sz="2800" kern="1200">
          <a:solidFill>
            <a:schemeClr val="tx1"/>
          </a:solidFill>
          <a:latin typeface="Arial"/>
          <a:ea typeface="ＭＳ Ｐゴシック" charset="0"/>
          <a:cs typeface="Arial"/>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Clr>
          <a:srgbClr val="FF6600"/>
        </a:buClr>
        <a:buFont typeface="Wingdings" charset="2"/>
        <a:buChar char="§"/>
        <a:defRPr sz="2600" b="1" kern="1200">
          <a:solidFill>
            <a:srgbClr val="336699"/>
          </a:solidFill>
          <a:latin typeface="Arial"/>
          <a:ea typeface="ＭＳ Ｐゴシック" charset="0"/>
          <a:cs typeface="Arial"/>
        </a:defRPr>
      </a:lvl1pPr>
      <a:lvl2pPr marL="742950" indent="-285750" algn="l" defTabSz="457200" rtl="0" eaLnBrk="0" fontAlgn="base" hangingPunct="0">
        <a:spcBef>
          <a:spcPct val="20000"/>
        </a:spcBef>
        <a:spcAft>
          <a:spcPct val="0"/>
        </a:spcAft>
        <a:buSzPct val="100000"/>
        <a:buFont typeface="Arial" charset="0"/>
        <a:buChar char="•"/>
        <a:defRPr sz="2600" kern="1200">
          <a:solidFill>
            <a:schemeClr val="tx1"/>
          </a:solidFill>
          <a:latin typeface="Arial"/>
          <a:ea typeface="ＭＳ Ｐゴシック" charset="0"/>
          <a:cs typeface="Arial"/>
        </a:defRPr>
      </a:lvl2pPr>
      <a:lvl3pPr marL="1143000" indent="-228600" algn="l" defTabSz="457200" rtl="0" eaLnBrk="0" fontAlgn="base" hangingPunct="0">
        <a:spcBef>
          <a:spcPct val="20000"/>
        </a:spcBef>
        <a:spcAft>
          <a:spcPct val="0"/>
        </a:spcAft>
        <a:buClr>
          <a:srgbClr val="FF6600"/>
        </a:buClr>
        <a:buSzPct val="80000"/>
        <a:buFont typeface="Arial" charset="0"/>
        <a:buChar char="•"/>
        <a:defRPr sz="2400" kern="1200">
          <a:solidFill>
            <a:schemeClr val="tx1"/>
          </a:solidFill>
          <a:latin typeface="Arial"/>
          <a:ea typeface="ＭＳ Ｐゴシック" charset="0"/>
          <a:cs typeface="Arial"/>
        </a:defRPr>
      </a:lvl3pPr>
      <a:lvl4pPr marL="1600200" indent="-228600" algn="l" defTabSz="457200" rtl="0" eaLnBrk="0" fontAlgn="base" hangingPunct="0">
        <a:spcBef>
          <a:spcPct val="20000"/>
        </a:spcBef>
        <a:spcAft>
          <a:spcPct val="0"/>
        </a:spcAft>
        <a:buSzPct val="80000"/>
        <a:buFont typeface="Wingdings" charset="2"/>
        <a:buChar char="§"/>
        <a:defRPr sz="2200" kern="1200">
          <a:solidFill>
            <a:schemeClr val="tx1"/>
          </a:solidFill>
          <a:latin typeface="Arial"/>
          <a:ea typeface="ＭＳ Ｐゴシック" charset="0"/>
          <a:cs typeface="Arial"/>
        </a:defRPr>
      </a:lvl4pPr>
      <a:lvl5pPr marL="2057400" indent="-228600" algn="l" defTabSz="457200" rtl="0" eaLnBrk="0" fontAlgn="base" hangingPunct="0">
        <a:spcBef>
          <a:spcPct val="20000"/>
        </a:spcBef>
        <a:spcAft>
          <a:spcPct val="0"/>
        </a:spcAft>
        <a:buFont typeface="Arial" charset="0"/>
        <a:buChar char="»"/>
        <a:defRPr sz="2000" i="1"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4" name="Straight Connector 3"/>
          <p:cNvCxnSpPr/>
          <p:nvPr userDrawn="1"/>
        </p:nvCxnSpPr>
        <p:spPr>
          <a:xfrm flipV="1">
            <a:off x="203200" y="346779"/>
            <a:ext cx="8559800" cy="0"/>
          </a:xfrm>
          <a:prstGeom prst="line">
            <a:avLst/>
          </a:prstGeom>
          <a:ln w="28575">
            <a:solidFill>
              <a:srgbClr val="C1B5A8"/>
            </a:solidFill>
          </a:ln>
        </p:spPr>
        <p:style>
          <a:lnRef idx="1">
            <a:schemeClr val="accent1"/>
          </a:lnRef>
          <a:fillRef idx="0">
            <a:schemeClr val="accent1"/>
          </a:fillRef>
          <a:effectRef idx="0">
            <a:schemeClr val="accent1"/>
          </a:effectRef>
          <a:fontRef idx="minor">
            <a:schemeClr val="tx1"/>
          </a:fontRef>
        </p:style>
      </p:cxnSp>
      <p:sp>
        <p:nvSpPr>
          <p:cNvPr id="5" name="Rectangle 4"/>
          <p:cNvSpPr>
            <a:spLocks noChangeAspect="1"/>
          </p:cNvSpPr>
          <p:nvPr userDrawn="1"/>
        </p:nvSpPr>
        <p:spPr>
          <a:xfrm>
            <a:off x="6468400" y="202779"/>
            <a:ext cx="2880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p:cNvSpPr>
            <a:spLocks noChangeAspect="1"/>
          </p:cNvSpPr>
          <p:nvPr userDrawn="1"/>
        </p:nvSpPr>
        <p:spPr>
          <a:xfrm>
            <a:off x="6985000" y="202779"/>
            <a:ext cx="1524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p:cNvSpPr>
            <a:spLocks noChangeAspect="1"/>
          </p:cNvSpPr>
          <p:nvPr userDrawn="1"/>
        </p:nvSpPr>
        <p:spPr>
          <a:xfrm>
            <a:off x="7747000" y="202779"/>
            <a:ext cx="190500" cy="288000"/>
          </a:xfrm>
          <a:prstGeom prst="rect">
            <a:avLst/>
          </a:prstGeom>
          <a:solidFill>
            <a:srgbClr val="0A1C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p:cNvSpPr>
            <a:spLocks noChangeAspect="1"/>
          </p:cNvSpPr>
          <p:nvPr userDrawn="1"/>
        </p:nvSpPr>
        <p:spPr>
          <a:xfrm>
            <a:off x="7366000" y="202779"/>
            <a:ext cx="152400" cy="288000"/>
          </a:xfrm>
          <a:prstGeom prst="rect">
            <a:avLst/>
          </a:prstGeom>
          <a:solidFill>
            <a:srgbClr val="A594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Rectangle 9"/>
          <p:cNvSpPr>
            <a:spLocks noChangeAspect="1"/>
          </p:cNvSpPr>
          <p:nvPr userDrawn="1"/>
        </p:nvSpPr>
        <p:spPr>
          <a:xfrm>
            <a:off x="8204200" y="202779"/>
            <a:ext cx="288000" cy="288000"/>
          </a:xfrm>
          <a:prstGeom prst="rect">
            <a:avLst/>
          </a:prstGeom>
          <a:solidFill>
            <a:srgbClr val="A594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Rectangle 10"/>
          <p:cNvSpPr>
            <a:spLocks noChangeAspect="1"/>
          </p:cNvSpPr>
          <p:nvPr userDrawn="1"/>
        </p:nvSpPr>
        <p:spPr>
          <a:xfrm>
            <a:off x="6756400"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p:cNvSpPr>
            <a:spLocks noChangeAspect="1"/>
          </p:cNvSpPr>
          <p:nvPr userDrawn="1"/>
        </p:nvSpPr>
        <p:spPr>
          <a:xfrm>
            <a:off x="7133951"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p:cNvSpPr>
            <a:spLocks noChangeAspect="1"/>
          </p:cNvSpPr>
          <p:nvPr userDrawn="1"/>
        </p:nvSpPr>
        <p:spPr>
          <a:xfrm>
            <a:off x="7521716"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p:cNvSpPr>
            <a:spLocks noChangeAspect="1"/>
          </p:cNvSpPr>
          <p:nvPr userDrawn="1"/>
        </p:nvSpPr>
        <p:spPr>
          <a:xfrm>
            <a:off x="7968385" y="6578300"/>
            <a:ext cx="25767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Rectangle 14"/>
          <p:cNvSpPr>
            <a:spLocks noChangeAspect="1"/>
          </p:cNvSpPr>
          <p:nvPr userDrawn="1"/>
        </p:nvSpPr>
        <p:spPr>
          <a:xfrm>
            <a:off x="8492201" y="6579550"/>
            <a:ext cx="651800" cy="2772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Rectangle 15"/>
          <p:cNvSpPr>
            <a:spLocks noChangeAspect="1"/>
          </p:cNvSpPr>
          <p:nvPr userDrawn="1"/>
        </p:nvSpPr>
        <p:spPr>
          <a:xfrm>
            <a:off x="0" y="6578600"/>
            <a:ext cx="6468400" cy="279400"/>
          </a:xfrm>
          <a:prstGeom prst="rect">
            <a:avLst/>
          </a:prstGeom>
          <a:solidFill>
            <a:srgbClr val="BFB3A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TextBox 16"/>
          <p:cNvSpPr txBox="1"/>
          <p:nvPr userDrawn="1"/>
        </p:nvSpPr>
        <p:spPr>
          <a:xfrm>
            <a:off x="9525000" y="812800"/>
            <a:ext cx="184731" cy="369332"/>
          </a:xfrm>
          <a:prstGeom prst="rect">
            <a:avLst/>
          </a:prstGeom>
          <a:noFill/>
        </p:spPr>
        <p:txBody>
          <a:bodyPr wrap="none" rtlCol="0">
            <a:spAutoFit/>
          </a:bodyPr>
          <a:lstStyle/>
          <a:p>
            <a:endParaRPr lang="fr-FR" dirty="0"/>
          </a:p>
        </p:txBody>
      </p:sp>
      <p:pic>
        <p:nvPicPr>
          <p:cNvPr id="18" name="Picture 17"/>
          <p:cNvPicPr>
            <a:picLocks noChangeAspect="1"/>
          </p:cNvPicPr>
          <p:nvPr userDrawn="1"/>
        </p:nvPicPr>
        <p:blipFill rotWithShape="1">
          <a:blip r:embed="rId3"/>
          <a:srcRect l="17857" t="9524" r="11905" b="10714"/>
          <a:stretch/>
        </p:blipFill>
        <p:spPr>
          <a:xfrm>
            <a:off x="8582185" y="18859"/>
            <a:ext cx="577531" cy="655840"/>
          </a:xfrm>
          <a:prstGeom prst="rect">
            <a:avLst/>
          </a:prstGeom>
        </p:spPr>
      </p:pic>
    </p:spTree>
    <p:extLst>
      <p:ext uri="{BB962C8B-B14F-4D97-AF65-F5344CB8AC3E}">
        <p14:creationId xmlns:p14="http://schemas.microsoft.com/office/powerpoint/2010/main" val="262936960"/>
      </p:ext>
    </p:extLst>
  </p:cSld>
  <p:clrMap bg1="lt1" tx1="dk1" bg2="lt2" tx2="dk2" accent1="accent1" accent2="accent2" accent3="accent3" accent4="accent4" accent5="accent5" accent6="accent6" hlink="hlink" folHlink="folHlink"/>
  <p:sldLayoutIdLst>
    <p:sldLayoutId id="2147483889" r:id="rId1"/>
  </p:sldLayoutIdLst>
  <p:hf hdr="0"/>
  <p:txStyles>
    <p:titleStyle>
      <a:lvl1pPr algn="l" defTabSz="457200" rtl="0" eaLnBrk="0" fontAlgn="base" hangingPunct="0">
        <a:spcBef>
          <a:spcPct val="0"/>
        </a:spcBef>
        <a:spcAft>
          <a:spcPct val="0"/>
        </a:spcAft>
        <a:buClr>
          <a:srgbClr val="17375E"/>
        </a:buClr>
        <a:buFont typeface="Wingdings" charset="2"/>
        <a:defRPr sz="2800" kern="1200">
          <a:solidFill>
            <a:schemeClr val="tx1"/>
          </a:solidFill>
          <a:latin typeface="Arial"/>
          <a:ea typeface="ＭＳ Ｐゴシック" charset="0"/>
          <a:cs typeface="Arial"/>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p:titleStyle>
    <p:bodyStyle>
      <a:lvl1pPr marL="342900" indent="-342900" algn="l" defTabSz="457200" rtl="0" eaLnBrk="0" fontAlgn="base" hangingPunct="0">
        <a:spcBef>
          <a:spcPct val="20000"/>
        </a:spcBef>
        <a:spcAft>
          <a:spcPct val="0"/>
        </a:spcAft>
        <a:buClr>
          <a:srgbClr val="FF6600"/>
        </a:buClr>
        <a:buFont typeface="Wingdings" charset="2"/>
        <a:buChar char="§"/>
        <a:defRPr sz="2600" b="1" kern="1200">
          <a:solidFill>
            <a:srgbClr val="336699"/>
          </a:solidFill>
          <a:latin typeface="Arial"/>
          <a:ea typeface="ＭＳ Ｐゴシック" charset="0"/>
          <a:cs typeface="Arial"/>
        </a:defRPr>
      </a:lvl1pPr>
      <a:lvl2pPr marL="742950" indent="-285750" algn="l" defTabSz="457200" rtl="0" eaLnBrk="0" fontAlgn="base" hangingPunct="0">
        <a:spcBef>
          <a:spcPct val="20000"/>
        </a:spcBef>
        <a:spcAft>
          <a:spcPct val="0"/>
        </a:spcAft>
        <a:buSzPct val="100000"/>
        <a:buFont typeface="Arial" charset="0"/>
        <a:buChar char="•"/>
        <a:defRPr sz="2600" kern="1200">
          <a:solidFill>
            <a:schemeClr val="tx1"/>
          </a:solidFill>
          <a:latin typeface="Arial"/>
          <a:ea typeface="ＭＳ Ｐゴシック" charset="0"/>
          <a:cs typeface="Arial"/>
        </a:defRPr>
      </a:lvl2pPr>
      <a:lvl3pPr marL="1143000" indent="-228600" algn="l" defTabSz="457200" rtl="0" eaLnBrk="0" fontAlgn="base" hangingPunct="0">
        <a:spcBef>
          <a:spcPct val="20000"/>
        </a:spcBef>
        <a:spcAft>
          <a:spcPct val="0"/>
        </a:spcAft>
        <a:buClr>
          <a:srgbClr val="FF6600"/>
        </a:buClr>
        <a:buSzPct val="80000"/>
        <a:buFont typeface="Arial" charset="0"/>
        <a:buChar char="•"/>
        <a:defRPr sz="2400" kern="1200">
          <a:solidFill>
            <a:schemeClr val="tx1"/>
          </a:solidFill>
          <a:latin typeface="Arial"/>
          <a:ea typeface="ＭＳ Ｐゴシック" charset="0"/>
          <a:cs typeface="Arial"/>
        </a:defRPr>
      </a:lvl3pPr>
      <a:lvl4pPr marL="1600200" indent="-228600" algn="l" defTabSz="457200" rtl="0" eaLnBrk="0" fontAlgn="base" hangingPunct="0">
        <a:spcBef>
          <a:spcPct val="20000"/>
        </a:spcBef>
        <a:spcAft>
          <a:spcPct val="0"/>
        </a:spcAft>
        <a:buSzPct val="80000"/>
        <a:buFont typeface="Wingdings" charset="2"/>
        <a:buChar char="§"/>
        <a:defRPr sz="2200" kern="1200">
          <a:solidFill>
            <a:schemeClr val="tx1"/>
          </a:solidFill>
          <a:latin typeface="Arial"/>
          <a:ea typeface="ＭＳ Ｐゴシック" charset="0"/>
          <a:cs typeface="Arial"/>
        </a:defRPr>
      </a:lvl4pPr>
      <a:lvl5pPr marL="2057400" indent="-228600" algn="l" defTabSz="457200" rtl="0" eaLnBrk="0" fontAlgn="base" hangingPunct="0">
        <a:spcBef>
          <a:spcPct val="20000"/>
        </a:spcBef>
        <a:spcAft>
          <a:spcPct val="0"/>
        </a:spcAft>
        <a:buFont typeface="Arial" charset="0"/>
        <a:buChar char="»"/>
        <a:defRPr sz="2000" i="1" kern="1200">
          <a:solidFill>
            <a:schemeClr val="tx1"/>
          </a:solidFill>
          <a:latin typeface="Arial"/>
          <a:ea typeface="ＭＳ Ｐゴシック" charset="0"/>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1.sv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4.xml"/><Relationship Id="rId7" Type="http://schemas.microsoft.com/office/2007/relationships/diagramDrawing" Target="../diagrams/drawing4.xml"/><Relationship Id="rId12"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diagramColors" Target="../diagrams/colors4.xml"/><Relationship Id="rId11" Type="http://schemas.openxmlformats.org/officeDocument/2006/relationships/image" Target="../media/image40.png"/><Relationship Id="rId5" Type="http://schemas.openxmlformats.org/officeDocument/2006/relationships/diagramQuickStyle" Target="../diagrams/quickStyle4.xml"/><Relationship Id="rId10" Type="http://schemas.openxmlformats.org/officeDocument/2006/relationships/image" Target="../media/image39.png"/><Relationship Id="rId4" Type="http://schemas.openxmlformats.org/officeDocument/2006/relationships/diagramLayout" Target="../diagrams/layout4.xml"/><Relationship Id="rId9"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54.jpeg"/><Relationship Id="rId4" Type="http://schemas.openxmlformats.org/officeDocument/2006/relationships/image" Target="../media/image53.jpeg"/></Relationships>
</file>

<file path=ppt/slides/_rels/slide2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56.jpeg"/></Relationships>
</file>

<file path=ppt/slides/_rels/slide23.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629" y="1535607"/>
            <a:ext cx="6181969" cy="1107440"/>
          </a:xfrm>
        </p:spPr>
        <p:txBody>
          <a:bodyPr/>
          <a:lstStyle/>
          <a:p>
            <a:r>
              <a:rPr lang="en-LB" sz="2400" b="1" dirty="0">
                <a:effectLst/>
                <a:latin typeface="Nadeem" pitchFamily="2" charset="-78"/>
                <a:ea typeface="Times New Roman" panose="02020603050405020304" pitchFamily="18" charset="0"/>
                <a:cs typeface="Nadeem" pitchFamily="2" charset="-78"/>
              </a:rPr>
              <a:t>SnowFLOWS: </a:t>
            </a:r>
            <a:br>
              <a:rPr lang="en-LB" sz="2400" b="1" dirty="0">
                <a:effectLst/>
                <a:latin typeface="Nadeem" pitchFamily="2" charset="-78"/>
                <a:ea typeface="Times New Roman" panose="02020603050405020304" pitchFamily="18" charset="0"/>
                <a:cs typeface="Nadeem" pitchFamily="2" charset="-78"/>
              </a:rPr>
            </a:br>
            <a:r>
              <a:rPr lang="en-LB" sz="2400" b="1" dirty="0">
                <a:effectLst/>
                <a:latin typeface="Nadeem" pitchFamily="2" charset="-78"/>
                <a:ea typeface="Times New Roman" panose="02020603050405020304" pitchFamily="18" charset="0"/>
                <a:cs typeface="Nadeem" pitchFamily="2" charset="-78"/>
              </a:rPr>
              <a:t>Generative Spatio‑Temporal Modelling </a:t>
            </a:r>
            <a:br>
              <a:rPr lang="en-LB" sz="2400" b="1" dirty="0">
                <a:effectLst/>
                <a:latin typeface="Nadeem" pitchFamily="2" charset="-78"/>
                <a:ea typeface="Times New Roman" panose="02020603050405020304" pitchFamily="18" charset="0"/>
                <a:cs typeface="Nadeem" pitchFamily="2" charset="-78"/>
              </a:rPr>
            </a:br>
            <a:r>
              <a:rPr lang="en-LB" sz="2400" b="1" dirty="0">
                <a:effectLst/>
                <a:latin typeface="Nadeem" pitchFamily="2" charset="-78"/>
                <a:ea typeface="Times New Roman" panose="02020603050405020304" pitchFamily="18" charset="0"/>
                <a:cs typeface="Nadeem" pitchFamily="2" charset="-78"/>
              </a:rPr>
              <a:t>of Snow Cover Dynamics </a:t>
            </a:r>
            <a:br>
              <a:rPr lang="en-LB" sz="2400" b="1" dirty="0">
                <a:effectLst/>
                <a:latin typeface="Nadeem" pitchFamily="2" charset="-78"/>
                <a:ea typeface="Times New Roman" panose="02020603050405020304" pitchFamily="18" charset="0"/>
                <a:cs typeface="Nadeem" pitchFamily="2" charset="-78"/>
              </a:rPr>
            </a:br>
            <a:r>
              <a:rPr lang="en-LB" sz="2400" b="1" dirty="0">
                <a:effectLst/>
                <a:latin typeface="Nadeem" pitchFamily="2" charset="-78"/>
                <a:ea typeface="Times New Roman" panose="02020603050405020304" pitchFamily="18" charset="0"/>
                <a:cs typeface="Nadeem" pitchFamily="2" charset="-78"/>
              </a:rPr>
              <a:t>Using Satellite Imagery</a:t>
            </a:r>
            <a:br>
              <a:rPr lang="en-LB" sz="1800" dirty="0">
                <a:effectLst/>
                <a:latin typeface="Times New Roman" panose="02020603050405020304" pitchFamily="18" charset="0"/>
                <a:ea typeface="Times New Roman" panose="02020603050405020304" pitchFamily="18" charset="0"/>
              </a:rPr>
            </a:br>
            <a:endParaRPr lang="en-US" dirty="0"/>
          </a:p>
        </p:txBody>
      </p:sp>
      <p:sp>
        <p:nvSpPr>
          <p:cNvPr id="3" name="Text Placeholder 2"/>
          <p:cNvSpPr>
            <a:spLocks noGrp="1"/>
          </p:cNvSpPr>
          <p:nvPr>
            <p:ph type="body" sz="quarter" idx="10"/>
          </p:nvPr>
        </p:nvSpPr>
        <p:spPr>
          <a:xfrm>
            <a:off x="3480337" y="5502815"/>
            <a:ext cx="5566386" cy="642598"/>
          </a:xfrm>
        </p:spPr>
        <p:txBody>
          <a:bodyPr/>
          <a:lstStyle/>
          <a:p>
            <a:r>
              <a:rPr lang="en-US" b="1" dirty="0">
                <a:latin typeface="Nadeem" pitchFamily="2" charset="-78"/>
                <a:cs typeface="Nadeem" pitchFamily="2" charset="-78"/>
              </a:rPr>
              <a:t>ESIB Multidisciplinary Project                </a:t>
            </a:r>
          </a:p>
          <a:p>
            <a:r>
              <a:rPr lang="en-US" b="1" dirty="0">
                <a:latin typeface="Nadeem" pitchFamily="2" charset="-78"/>
                <a:cs typeface="Nadeem" pitchFamily="2" charset="-78"/>
              </a:rPr>
              <a:t>April, 2026</a:t>
            </a:r>
          </a:p>
        </p:txBody>
      </p:sp>
      <p:sp>
        <p:nvSpPr>
          <p:cNvPr id="4" name="Text Placeholder 3"/>
          <p:cNvSpPr>
            <a:spLocks noGrp="1"/>
          </p:cNvSpPr>
          <p:nvPr>
            <p:ph type="body" sz="quarter" idx="11"/>
          </p:nvPr>
        </p:nvSpPr>
        <p:spPr>
          <a:xfrm>
            <a:off x="486629" y="3705223"/>
            <a:ext cx="6181969" cy="1638190"/>
          </a:xfrm>
        </p:spPr>
        <p:txBody>
          <a:bodyPr/>
          <a:lstStyle/>
          <a:p>
            <a:r>
              <a:rPr lang="en-US" sz="1600" b="1" dirty="0">
                <a:latin typeface="Nadeem" pitchFamily="2" charset="-78"/>
                <a:cs typeface="Nadeem" pitchFamily="2" charset="-78"/>
              </a:rPr>
              <a:t>MDP26-19</a:t>
            </a:r>
          </a:p>
          <a:p>
            <a:endParaRPr lang="en-US" sz="600" b="1" dirty="0">
              <a:latin typeface="Nadeem" pitchFamily="2" charset="-78"/>
              <a:cs typeface="Nadeem" pitchFamily="2" charset="-78"/>
            </a:endParaRPr>
          </a:p>
          <a:p>
            <a:endParaRPr lang="en-US" sz="1050" b="1" dirty="0">
              <a:latin typeface="Nadeem" pitchFamily="2" charset="-78"/>
              <a:cs typeface="Nadeem" pitchFamily="2" charset="-78"/>
            </a:endParaRPr>
          </a:p>
          <a:p>
            <a:endParaRPr lang="en-US" sz="1050" b="1" dirty="0">
              <a:latin typeface="Nadeem" pitchFamily="2" charset="-78"/>
              <a:cs typeface="Nadeem" pitchFamily="2" charset="-78"/>
            </a:endParaRPr>
          </a:p>
          <a:p>
            <a:r>
              <a:rPr lang="en-US" sz="1400" b="1" dirty="0">
                <a:latin typeface="Nadeem" pitchFamily="2" charset="-78"/>
                <a:cs typeface="Nadeem" pitchFamily="2" charset="-78"/>
              </a:rPr>
              <a:t>Presented by:</a:t>
            </a:r>
          </a:p>
          <a:p>
            <a:r>
              <a:rPr lang="en-US" sz="1400" kern="1400" spc="25" dirty="0">
                <a:effectLst/>
                <a:latin typeface="Nadeem" pitchFamily="2" charset="-78"/>
                <a:ea typeface="Times New Roman" panose="02020603050405020304" pitchFamily="18" charset="0"/>
                <a:cs typeface="Nadeem" pitchFamily="2" charset="-78"/>
              </a:rPr>
              <a:t>Reina Taher (230134)</a:t>
            </a:r>
          </a:p>
          <a:p>
            <a:r>
              <a:rPr lang="en-US" sz="1400" kern="1400" spc="25" dirty="0">
                <a:effectLst/>
                <a:latin typeface="Nadeem" pitchFamily="2" charset="-78"/>
                <a:ea typeface="Times New Roman" panose="02020603050405020304" pitchFamily="18" charset="0"/>
                <a:cs typeface="Nadeem" pitchFamily="2" charset="-78"/>
              </a:rPr>
              <a:t>Carla </a:t>
            </a:r>
            <a:r>
              <a:rPr lang="en-US" sz="1400" kern="1400" spc="25" dirty="0" err="1">
                <a:effectLst/>
                <a:latin typeface="Nadeem" pitchFamily="2" charset="-78"/>
                <a:ea typeface="Times New Roman" panose="02020603050405020304" pitchFamily="18" charset="0"/>
                <a:cs typeface="Nadeem" pitchFamily="2" charset="-78"/>
              </a:rPr>
              <a:t>Youness</a:t>
            </a:r>
            <a:r>
              <a:rPr lang="en-US" sz="1400" kern="1400" spc="25" dirty="0">
                <a:effectLst/>
                <a:latin typeface="Nadeem" pitchFamily="2" charset="-78"/>
                <a:ea typeface="Times New Roman" panose="02020603050405020304" pitchFamily="18" charset="0"/>
                <a:cs typeface="Nadeem" pitchFamily="2" charset="-78"/>
              </a:rPr>
              <a:t> (232771)</a:t>
            </a:r>
            <a:endParaRPr lang="en-LB" sz="1400" kern="1400" spc="25" dirty="0">
              <a:effectLst/>
              <a:latin typeface="Nadeem" pitchFamily="2" charset="-78"/>
              <a:ea typeface="Times New Roman" panose="02020603050405020304" pitchFamily="18" charset="0"/>
              <a:cs typeface="Nadeem" pitchFamily="2" charset="-78"/>
            </a:endParaRPr>
          </a:p>
          <a:p>
            <a:r>
              <a:rPr lang="en-US" sz="1400" kern="1400" spc="25" dirty="0">
                <a:effectLst/>
                <a:latin typeface="Nadeem" pitchFamily="2" charset="-78"/>
                <a:ea typeface="Times New Roman" panose="02020603050405020304" pitchFamily="18" charset="0"/>
                <a:cs typeface="Nadeem" pitchFamily="2" charset="-78"/>
              </a:rPr>
              <a:t>Nour </a:t>
            </a:r>
            <a:r>
              <a:rPr lang="en-US" sz="1400" kern="1400" spc="25" dirty="0" err="1">
                <a:effectLst/>
                <a:latin typeface="Nadeem" pitchFamily="2" charset="-78"/>
                <a:ea typeface="Times New Roman" panose="02020603050405020304" pitchFamily="18" charset="0"/>
                <a:cs typeface="Nadeem" pitchFamily="2" charset="-78"/>
              </a:rPr>
              <a:t>el</a:t>
            </a:r>
            <a:r>
              <a:rPr lang="en-US" sz="1400" kern="1400" spc="25" dirty="0">
                <a:effectLst/>
                <a:latin typeface="Nadeem" pitchFamily="2" charset="-78"/>
                <a:ea typeface="Times New Roman" panose="02020603050405020304" pitchFamily="18" charset="0"/>
                <a:cs typeface="Nadeem" pitchFamily="2" charset="-78"/>
              </a:rPr>
              <a:t> </a:t>
            </a:r>
            <a:r>
              <a:rPr lang="en-US" sz="1400" kern="1400" spc="25" dirty="0" err="1">
                <a:effectLst/>
                <a:latin typeface="Nadeem" pitchFamily="2" charset="-78"/>
                <a:ea typeface="Times New Roman" panose="02020603050405020304" pitchFamily="18" charset="0"/>
                <a:cs typeface="Nadeem" pitchFamily="2" charset="-78"/>
              </a:rPr>
              <a:t>Saghir</a:t>
            </a:r>
            <a:r>
              <a:rPr lang="en-US" sz="1400" kern="1400" spc="25" dirty="0">
                <a:effectLst/>
                <a:latin typeface="Nadeem" pitchFamily="2" charset="-78"/>
                <a:ea typeface="Times New Roman" panose="02020603050405020304" pitchFamily="18" charset="0"/>
                <a:cs typeface="Nadeem" pitchFamily="2" charset="-78"/>
              </a:rPr>
              <a:t> (230520)</a:t>
            </a:r>
            <a:endParaRPr lang="en-LB" sz="1400" kern="1400" spc="25" dirty="0">
              <a:effectLst/>
              <a:latin typeface="Nadeem" pitchFamily="2" charset="-78"/>
              <a:ea typeface="Times New Roman" panose="02020603050405020304" pitchFamily="18" charset="0"/>
              <a:cs typeface="Nadeem" pitchFamily="2" charset="-78"/>
            </a:endParaRPr>
          </a:p>
          <a:p>
            <a:r>
              <a:rPr lang="en-US" sz="1400" kern="1400" spc="25" dirty="0">
                <a:effectLst/>
                <a:latin typeface="Nadeem" pitchFamily="2" charset="-78"/>
                <a:ea typeface="Times New Roman" panose="02020603050405020304" pitchFamily="18" charset="0"/>
                <a:cs typeface="Nadeem" pitchFamily="2" charset="-78"/>
              </a:rPr>
              <a:t>Ali Mansour (231039)</a:t>
            </a:r>
            <a:endParaRPr lang="en-LB" sz="1400" kern="1400" spc="25" dirty="0">
              <a:effectLst/>
              <a:latin typeface="Nadeem" pitchFamily="2" charset="-78"/>
              <a:ea typeface="Times New Roman" panose="02020603050405020304" pitchFamily="18" charset="0"/>
              <a:cs typeface="Nadeem" pitchFamily="2" charset="-78"/>
            </a:endParaRPr>
          </a:p>
          <a:p>
            <a:pPr>
              <a:spcAft>
                <a:spcPts val="1500"/>
              </a:spcAft>
            </a:pPr>
            <a:r>
              <a:rPr lang="en-US" sz="1400" kern="1400" spc="25" dirty="0">
                <a:effectLst/>
                <a:latin typeface="Nadeem" pitchFamily="2" charset="-78"/>
                <a:ea typeface="Times New Roman" panose="02020603050405020304" pitchFamily="18" charset="0"/>
                <a:cs typeface="Nadeem" pitchFamily="2" charset="-78"/>
              </a:rPr>
              <a:t>Hassan </a:t>
            </a:r>
            <a:r>
              <a:rPr lang="en-US" sz="1400" kern="1400" spc="25" dirty="0" err="1">
                <a:effectLst/>
                <a:latin typeface="Nadeem" pitchFamily="2" charset="-78"/>
                <a:ea typeface="Times New Roman" panose="02020603050405020304" pitchFamily="18" charset="0"/>
                <a:cs typeface="Nadeem" pitchFamily="2" charset="-78"/>
              </a:rPr>
              <a:t>Dakhlallah</a:t>
            </a:r>
            <a:r>
              <a:rPr lang="en-US" sz="1400" kern="1400" spc="25" dirty="0">
                <a:effectLst/>
                <a:latin typeface="Nadeem" pitchFamily="2" charset="-78"/>
                <a:ea typeface="Times New Roman" panose="02020603050405020304" pitchFamily="18" charset="0"/>
                <a:cs typeface="Nadeem" pitchFamily="2" charset="-78"/>
              </a:rPr>
              <a:t> (222814)</a:t>
            </a:r>
            <a:endParaRPr lang="en-LB" sz="1400" kern="1400" spc="25" dirty="0">
              <a:effectLst/>
              <a:latin typeface="Nadeem" pitchFamily="2" charset="-78"/>
              <a:ea typeface="Times New Roman" panose="02020603050405020304" pitchFamily="18" charset="0"/>
              <a:cs typeface="Nadeem" pitchFamily="2" charset="-78"/>
            </a:endParaRPr>
          </a:p>
        </p:txBody>
      </p:sp>
      <p:sp>
        <p:nvSpPr>
          <p:cNvPr id="5" name="Text Placeholder 4"/>
          <p:cNvSpPr>
            <a:spLocks noGrp="1"/>
          </p:cNvSpPr>
          <p:nvPr>
            <p:ph type="body" sz="quarter" idx="12"/>
          </p:nvPr>
        </p:nvSpPr>
        <p:spPr>
          <a:xfrm>
            <a:off x="3480337" y="4135838"/>
            <a:ext cx="2870201" cy="1277346"/>
          </a:xfrm>
        </p:spPr>
        <p:txBody>
          <a:bodyPr/>
          <a:lstStyle/>
          <a:p>
            <a:r>
              <a:rPr lang="en-US" b="1" dirty="0">
                <a:latin typeface="Nadeem" pitchFamily="2" charset="-78"/>
                <a:cs typeface="Nadeem" pitchFamily="2" charset="-78"/>
              </a:rPr>
              <a:t>Supervised by:</a:t>
            </a:r>
          </a:p>
          <a:p>
            <a:r>
              <a:rPr lang="en-US" kern="1400" spc="25" dirty="0">
                <a:effectLst/>
                <a:latin typeface="Nadeem" pitchFamily="2" charset="-78"/>
                <a:ea typeface="Times New Roman" panose="02020603050405020304" pitchFamily="18" charset="0"/>
                <a:cs typeface="Nadeem" pitchFamily="2" charset="-78"/>
              </a:rPr>
              <a:t>Dr. Laurent Drapeau</a:t>
            </a:r>
          </a:p>
          <a:p>
            <a:endParaRPr lang="en-US" sz="700" kern="1400" spc="25" dirty="0">
              <a:effectLst/>
              <a:latin typeface="Nadeem" pitchFamily="2" charset="-78"/>
              <a:ea typeface="Times New Roman" panose="02020603050405020304" pitchFamily="18" charset="0"/>
              <a:cs typeface="Nadeem" pitchFamily="2" charset="-78"/>
            </a:endParaRPr>
          </a:p>
          <a:p>
            <a:r>
              <a:rPr lang="en-US" b="1" dirty="0">
                <a:latin typeface="Nadeem" pitchFamily="2" charset="-78"/>
                <a:cs typeface="Nadeem" pitchFamily="2" charset="-78"/>
              </a:rPr>
              <a:t>Co-Supervised by:</a:t>
            </a:r>
            <a:endParaRPr lang="en-LB" kern="1400" spc="25" dirty="0">
              <a:effectLst/>
              <a:latin typeface="Nadeem" pitchFamily="2" charset="-78"/>
              <a:ea typeface="Times New Roman" panose="02020603050405020304" pitchFamily="18" charset="0"/>
              <a:cs typeface="Nadeem" pitchFamily="2" charset="-78"/>
            </a:endParaRPr>
          </a:p>
          <a:p>
            <a:pPr>
              <a:spcAft>
                <a:spcPts val="1500"/>
              </a:spcAft>
            </a:pPr>
            <a:r>
              <a:rPr lang="en-US" kern="1400" spc="25" dirty="0">
                <a:effectLst/>
                <a:latin typeface="Nadeem" pitchFamily="2" charset="-78"/>
                <a:ea typeface="Times New Roman" panose="02020603050405020304" pitchFamily="18" charset="0"/>
                <a:cs typeface="Nadeem" pitchFamily="2" charset="-78"/>
              </a:rPr>
              <a:t>Dr. Youssef El </a:t>
            </a:r>
            <a:r>
              <a:rPr lang="en-US" kern="1400" spc="25" dirty="0" err="1">
                <a:effectLst/>
                <a:latin typeface="Nadeem" pitchFamily="2" charset="-78"/>
                <a:ea typeface="Times New Roman" panose="02020603050405020304" pitchFamily="18" charset="0"/>
                <a:cs typeface="Nadeem" pitchFamily="2" charset="-78"/>
              </a:rPr>
              <a:t>Bakouny</a:t>
            </a:r>
            <a:endParaRPr lang="en-LB" kern="1400" spc="25" dirty="0">
              <a:effectLst/>
              <a:latin typeface="Nadeem" pitchFamily="2" charset="-78"/>
              <a:ea typeface="Times New Roman" panose="02020603050405020304" pitchFamily="18" charset="0"/>
              <a:cs typeface="Nadeem" pitchFamily="2" charset="-78"/>
            </a:endParaRPr>
          </a:p>
          <a:p>
            <a:endParaRPr lang="en-US" dirty="0"/>
          </a:p>
        </p:txBody>
      </p:sp>
    </p:spTree>
    <p:extLst>
      <p:ext uri="{BB962C8B-B14F-4D97-AF65-F5344CB8AC3E}">
        <p14:creationId xmlns:p14="http://schemas.microsoft.com/office/powerpoint/2010/main" val="2455286241"/>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457200" y="497115"/>
            <a:ext cx="8229599" cy="1081314"/>
          </a:xfrm>
        </p:spPr>
        <p:txBody>
          <a:bodyPr>
            <a:normAutofit fontScale="90000"/>
          </a:bodyPr>
          <a:lstStyle/>
          <a:p>
            <a:pPr>
              <a:lnSpc>
                <a:spcPct val="90000"/>
              </a:lnSpc>
            </a:pPr>
            <a:r>
              <a:rPr lang="fr-FR" sz="3200" dirty="0">
                <a:solidFill>
                  <a:srgbClr val="0A1C72"/>
                </a:solidFill>
                <a:latin typeface="Nadeem" pitchFamily="2" charset="-78"/>
                <a:cs typeface="Nadeem" pitchFamily="2" charset="-78"/>
              </a:rPr>
              <a:t>Introduction</a:t>
            </a:r>
            <a:br>
              <a:rPr lang="fr-FR" sz="3200" dirty="0">
                <a:solidFill>
                  <a:srgbClr val="0A1C72"/>
                </a:solidFill>
                <a:latin typeface="Nadeem" pitchFamily="2" charset="-78"/>
                <a:cs typeface="Nadeem" pitchFamily="2" charset="-78"/>
              </a:rPr>
            </a:br>
            <a:r>
              <a:rPr lang="fr-FR" sz="900" dirty="0">
                <a:solidFill>
                  <a:schemeClr val="bg1"/>
                </a:solidFill>
                <a:latin typeface="Nadeem" pitchFamily="2" charset="-78"/>
                <a:cs typeface="Nadeem" pitchFamily="2" charset="-78"/>
              </a:rPr>
              <a:t>.</a:t>
            </a:r>
            <a:r>
              <a:rPr lang="fr-FR" sz="2000" dirty="0" err="1">
                <a:solidFill>
                  <a:srgbClr val="0A1C72"/>
                </a:solidFill>
                <a:latin typeface="Nadeem" pitchFamily="2" charset="-78"/>
                <a:cs typeface="Nadeem" pitchFamily="2" charset="-78"/>
              </a:rPr>
              <a:t>Spatio-Temporal</a:t>
            </a:r>
            <a:r>
              <a:rPr lang="fr-FR" sz="2000" dirty="0">
                <a:solidFill>
                  <a:srgbClr val="0A1C72"/>
                </a:solidFill>
                <a:latin typeface="Nadeem" pitchFamily="2" charset="-78"/>
                <a:cs typeface="Nadeem" pitchFamily="2" charset="-78"/>
              </a:rPr>
              <a:t> Snow </a:t>
            </a:r>
            <a:r>
              <a:rPr lang="fr-FR" sz="2000" dirty="0" err="1">
                <a:solidFill>
                  <a:srgbClr val="0A1C72"/>
                </a:solidFill>
                <a:latin typeface="Nadeem" pitchFamily="2" charset="-78"/>
                <a:cs typeface="Nadeem" pitchFamily="2" charset="-78"/>
              </a:rPr>
              <a:t>Forecasting</a:t>
            </a:r>
            <a:r>
              <a:rPr lang="fr-FR" sz="2000" dirty="0">
                <a:solidFill>
                  <a:srgbClr val="0A1C72"/>
                </a:solidFill>
                <a:latin typeface="Nadeem" pitchFamily="2" charset="-78"/>
                <a:cs typeface="Nadeem" pitchFamily="2" charset="-78"/>
              </a:rPr>
              <a:t> </a:t>
            </a:r>
            <a:r>
              <a:rPr lang="fr-FR" sz="2000" dirty="0" err="1">
                <a:solidFill>
                  <a:srgbClr val="0A1C72"/>
                </a:solidFill>
                <a:latin typeface="Nadeem" pitchFamily="2" charset="-78"/>
                <a:cs typeface="Nadeem" pitchFamily="2" charset="-78"/>
              </a:rPr>
              <a:t>using</a:t>
            </a:r>
            <a:r>
              <a:rPr lang="fr-FR" sz="2000" dirty="0">
                <a:solidFill>
                  <a:srgbClr val="0A1C72"/>
                </a:solidFill>
                <a:latin typeface="Nadeem" pitchFamily="2" charset="-78"/>
                <a:cs typeface="Nadeem" pitchFamily="2" charset="-78"/>
              </a:rPr>
              <a:t> </a:t>
            </a:r>
            <a:r>
              <a:rPr lang="fr-FR" sz="2000" dirty="0" err="1">
                <a:solidFill>
                  <a:srgbClr val="0A1C72"/>
                </a:solidFill>
                <a:latin typeface="Nadeem" pitchFamily="2" charset="-78"/>
                <a:cs typeface="Nadeem" pitchFamily="2" charset="-78"/>
              </a:rPr>
              <a:t>Deep</a:t>
            </a:r>
            <a:r>
              <a:rPr lang="fr-FR" sz="2000" dirty="0">
                <a:solidFill>
                  <a:srgbClr val="0A1C72"/>
                </a:solidFill>
                <a:latin typeface="Nadeem" pitchFamily="2" charset="-78"/>
                <a:cs typeface="Nadeem" pitchFamily="2" charset="-78"/>
              </a:rPr>
              <a:t> Learning and Satellite Data</a:t>
            </a:r>
          </a:p>
        </p:txBody>
      </p:sp>
      <p:sp>
        <p:nvSpPr>
          <p:cNvPr id="2" name="Date Placeholder 3">
            <a:extLst>
              <a:ext uri="{FF2B5EF4-FFF2-40B4-BE49-F238E27FC236}">
                <a16:creationId xmlns:a16="http://schemas.microsoft.com/office/drawing/2014/main" id="{A82E7680-74CB-508E-5EB0-0640F97A01CD}"/>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0" name="Slide Number Placeholder 9"/>
          <p:cNvSpPr>
            <a:spLocks noGrp="1"/>
          </p:cNvSpPr>
          <p:nvPr>
            <p:ph type="sldNum" sz="quarter" idx="12"/>
          </p:nvPr>
        </p:nvSpPr>
        <p:spPr>
          <a:xfrm>
            <a:off x="4102312" y="7188584"/>
            <a:ext cx="1071152" cy="365125"/>
          </a:xfrm>
        </p:spPr>
        <p:txBody>
          <a:bodyPr vert="horz" wrap="square" lIns="91440" tIns="45720" rIns="91440" bIns="45720" numCol="1" anchor="t" anchorCtr="0" compatLnSpc="1">
            <a:prstTxWarp prst="textNoShape">
              <a:avLst/>
            </a:prstTxWarp>
            <a:normAutofit/>
          </a:bodyPr>
          <a:lstStyle/>
          <a:p>
            <a:pPr>
              <a:spcAft>
                <a:spcPts val="600"/>
              </a:spcAft>
            </a:pPr>
            <a:fld id="{7F40025E-8A47-7E48-AA2F-82A25E5E3F97}" type="slidenum">
              <a:rPr lang="fr-FR" altLang="en-US" smtClean="0"/>
              <a:pPr>
                <a:spcAft>
                  <a:spcPts val="600"/>
                </a:spcAft>
              </a:pPr>
              <a:t>2</a:t>
            </a:fld>
            <a:endParaRPr lang="fr-FR" altLang="en-US"/>
          </a:p>
        </p:txBody>
      </p:sp>
      <p:sp>
        <p:nvSpPr>
          <p:cNvPr id="15" name="Footer Placeholder 4">
            <a:extLst>
              <a:ext uri="{FF2B5EF4-FFF2-40B4-BE49-F238E27FC236}">
                <a16:creationId xmlns:a16="http://schemas.microsoft.com/office/drawing/2014/main" id="{5B1E3AF8-4517-C5CF-4623-93525BEE2D80}"/>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6" name="Rectangle 15">
            <a:extLst>
              <a:ext uri="{FF2B5EF4-FFF2-40B4-BE49-F238E27FC236}">
                <a16:creationId xmlns:a16="http://schemas.microsoft.com/office/drawing/2014/main" id="{6EFADFBF-739A-4377-7661-82C23B13AED6}"/>
              </a:ext>
            </a:extLst>
          </p:cNvPr>
          <p:cNvSpPr/>
          <p:nvPr/>
        </p:nvSpPr>
        <p:spPr>
          <a:xfrm>
            <a:off x="477346" y="1379623"/>
            <a:ext cx="697471" cy="690080"/>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7" name="Rectangle 16">
            <a:extLst>
              <a:ext uri="{FF2B5EF4-FFF2-40B4-BE49-F238E27FC236}">
                <a16:creationId xmlns:a16="http://schemas.microsoft.com/office/drawing/2014/main" id="{A2CCAD88-F165-2DA5-2E8B-14BF1F6E9E73}"/>
              </a:ext>
            </a:extLst>
          </p:cNvPr>
          <p:cNvSpPr/>
          <p:nvPr/>
        </p:nvSpPr>
        <p:spPr>
          <a:xfrm>
            <a:off x="538538" y="2483980"/>
            <a:ext cx="569191" cy="588088"/>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8" name="Rectangle 17">
            <a:extLst>
              <a:ext uri="{FF2B5EF4-FFF2-40B4-BE49-F238E27FC236}">
                <a16:creationId xmlns:a16="http://schemas.microsoft.com/office/drawing/2014/main" id="{08CEF6C7-8E5C-5213-5CE3-984A18391862}"/>
              </a:ext>
            </a:extLst>
          </p:cNvPr>
          <p:cNvSpPr/>
          <p:nvPr/>
        </p:nvSpPr>
        <p:spPr>
          <a:xfrm>
            <a:off x="530823" y="3675664"/>
            <a:ext cx="572206" cy="588088"/>
          </a:xfrm>
          <a:prstGeom prst="rect">
            <a:avLst/>
          </a:prstGeom>
          <a: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sp>
      <p:sp>
        <p:nvSpPr>
          <p:cNvPr id="19" name="Rectangle 18">
            <a:extLst>
              <a:ext uri="{FF2B5EF4-FFF2-40B4-BE49-F238E27FC236}">
                <a16:creationId xmlns:a16="http://schemas.microsoft.com/office/drawing/2014/main" id="{FE545BDA-167D-833A-AE17-029BFE6A9026}"/>
              </a:ext>
            </a:extLst>
          </p:cNvPr>
          <p:cNvSpPr/>
          <p:nvPr/>
        </p:nvSpPr>
        <p:spPr>
          <a:xfrm>
            <a:off x="609605" y="4913419"/>
            <a:ext cx="540177" cy="541148"/>
          </a:xfrm>
          <a:prstGeom prst="rect">
            <a:avLst/>
          </a:prstGeom>
          <a: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p:spPr>
        <p:style>
          <a:lnRef idx="2">
            <a:scrgbClr r="0" g="0" b="0"/>
          </a:lnRef>
          <a:fillRef idx="1">
            <a:scrgbClr r="0" g="0" b="0"/>
          </a:fillRef>
          <a:effectRef idx="0">
            <a:schemeClr val="dk2">
              <a:hueOff val="0"/>
              <a:satOff val="0"/>
              <a:lumOff val="0"/>
              <a:alphaOff val="0"/>
            </a:schemeClr>
          </a:effectRef>
          <a:fontRef idx="minor">
            <a:schemeClr val="lt1"/>
          </a:fontRef>
        </p:style>
        <p:txBody>
          <a:bodyPr/>
          <a:lstStyle/>
          <a:p>
            <a:endParaRPr lang="en-LB" dirty="0"/>
          </a:p>
        </p:txBody>
      </p:sp>
      <p:grpSp>
        <p:nvGrpSpPr>
          <p:cNvPr id="20" name="Group 19">
            <a:extLst>
              <a:ext uri="{FF2B5EF4-FFF2-40B4-BE49-F238E27FC236}">
                <a16:creationId xmlns:a16="http://schemas.microsoft.com/office/drawing/2014/main" id="{BBE83F30-13A3-976C-4B1D-F400C7AE56E6}"/>
              </a:ext>
            </a:extLst>
          </p:cNvPr>
          <p:cNvGrpSpPr/>
          <p:nvPr/>
        </p:nvGrpSpPr>
        <p:grpSpPr>
          <a:xfrm>
            <a:off x="1251676" y="1250526"/>
            <a:ext cx="4982359" cy="714443"/>
            <a:chOff x="-217617" y="288330"/>
            <a:chExt cx="2519065" cy="714443"/>
          </a:xfrm>
        </p:grpSpPr>
        <p:sp>
          <p:nvSpPr>
            <p:cNvPr id="21" name="Rectangle 20">
              <a:extLst>
                <a:ext uri="{FF2B5EF4-FFF2-40B4-BE49-F238E27FC236}">
                  <a16:creationId xmlns:a16="http://schemas.microsoft.com/office/drawing/2014/main" id="{988B5602-2DAC-DF80-0637-5D7421F87786}"/>
                </a:ext>
              </a:extLst>
            </p:cNvPr>
            <p:cNvSpPr/>
            <p:nvPr/>
          </p:nvSpPr>
          <p:spPr>
            <a:xfrm>
              <a:off x="-217617" y="288330"/>
              <a:ext cx="2519065" cy="714443"/>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22" name="TextBox 21">
              <a:extLst>
                <a:ext uri="{FF2B5EF4-FFF2-40B4-BE49-F238E27FC236}">
                  <a16:creationId xmlns:a16="http://schemas.microsoft.com/office/drawing/2014/main" id="{8746B99D-1AB0-9E48-1E5E-15C9734C0AA2}"/>
                </a:ext>
              </a:extLst>
            </p:cNvPr>
            <p:cNvSpPr txBox="1"/>
            <p:nvPr/>
          </p:nvSpPr>
          <p:spPr>
            <a:xfrm>
              <a:off x="-217617" y="288330"/>
              <a:ext cx="2519065" cy="7144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5612" tIns="75612" rIns="75612" bIns="75612"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rgbClr val="0A1C72"/>
                  </a:solidFill>
                  <a:latin typeface="Nadeem" pitchFamily="2" charset="-78"/>
                  <a:cs typeface="Nadeem" pitchFamily="2" charset="-78"/>
                </a:rPr>
                <a:t>Project Team &amp; Multidisciplinary Contex</a:t>
              </a:r>
              <a:r>
                <a:rPr lang="en-US" sz="1400" b="1" kern="1200" dirty="0">
                  <a:solidFill>
                    <a:schemeClr val="tx1"/>
                  </a:solidFill>
                  <a:latin typeface="Nadeem" pitchFamily="2" charset="-78"/>
                  <a:cs typeface="Nadeem" pitchFamily="2" charset="-78"/>
                </a:rPr>
                <a:t>t</a:t>
              </a:r>
              <a:endParaRPr lang="en-US" sz="1400" kern="1200" dirty="0">
                <a:solidFill>
                  <a:schemeClr val="tx1"/>
                </a:solidFill>
                <a:latin typeface="Nadeem" pitchFamily="2" charset="-78"/>
                <a:cs typeface="Nadeem" pitchFamily="2" charset="-78"/>
              </a:endParaRPr>
            </a:p>
          </p:txBody>
        </p:sp>
      </p:grpSp>
      <p:grpSp>
        <p:nvGrpSpPr>
          <p:cNvPr id="23" name="Group 22">
            <a:extLst>
              <a:ext uri="{FF2B5EF4-FFF2-40B4-BE49-F238E27FC236}">
                <a16:creationId xmlns:a16="http://schemas.microsoft.com/office/drawing/2014/main" id="{68D6B551-BBD6-67BE-9918-37A832419F30}"/>
              </a:ext>
            </a:extLst>
          </p:cNvPr>
          <p:cNvGrpSpPr/>
          <p:nvPr/>
        </p:nvGrpSpPr>
        <p:grpSpPr>
          <a:xfrm>
            <a:off x="-299102" y="1254034"/>
            <a:ext cx="7888644" cy="1777564"/>
            <a:chOff x="-217617" y="1433582"/>
            <a:chExt cx="6173375" cy="1777564"/>
          </a:xfrm>
        </p:grpSpPr>
        <p:sp>
          <p:nvSpPr>
            <p:cNvPr id="24" name="Rectangle 23">
              <a:extLst>
                <a:ext uri="{FF2B5EF4-FFF2-40B4-BE49-F238E27FC236}">
                  <a16:creationId xmlns:a16="http://schemas.microsoft.com/office/drawing/2014/main" id="{1BA08AEA-EAED-011B-0A30-309D4E157CCA}"/>
                </a:ext>
              </a:extLst>
            </p:cNvPr>
            <p:cNvSpPr/>
            <p:nvPr/>
          </p:nvSpPr>
          <p:spPr>
            <a:xfrm>
              <a:off x="-217617" y="1433582"/>
              <a:ext cx="3703320" cy="714443"/>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25" name="TextBox 24">
              <a:extLst>
                <a:ext uri="{FF2B5EF4-FFF2-40B4-BE49-F238E27FC236}">
                  <a16:creationId xmlns:a16="http://schemas.microsoft.com/office/drawing/2014/main" id="{D5F7F121-4D88-6751-970A-6F1A83CCBD6B}"/>
                </a:ext>
              </a:extLst>
            </p:cNvPr>
            <p:cNvSpPr txBox="1"/>
            <p:nvPr/>
          </p:nvSpPr>
          <p:spPr>
            <a:xfrm>
              <a:off x="991407" y="2496703"/>
              <a:ext cx="4964351" cy="7144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5612" tIns="75612" rIns="75612" bIns="75612"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rgbClr val="0A1C72"/>
                  </a:solidFill>
                  <a:latin typeface="Nadeem" pitchFamily="2" charset="-78"/>
                  <a:cs typeface="Nadeem" pitchFamily="2" charset="-78"/>
                </a:rPr>
                <a:t>Project Context</a:t>
              </a:r>
              <a:endParaRPr lang="en-US" sz="1400" kern="1200" dirty="0">
                <a:solidFill>
                  <a:srgbClr val="0A1C72"/>
                </a:solidFill>
                <a:latin typeface="Nadeem" pitchFamily="2" charset="-78"/>
                <a:cs typeface="Nadeem" pitchFamily="2" charset="-78"/>
              </a:endParaRPr>
            </a:p>
          </p:txBody>
        </p:sp>
      </p:grpSp>
      <p:grpSp>
        <p:nvGrpSpPr>
          <p:cNvPr id="26" name="Group 25">
            <a:extLst>
              <a:ext uri="{FF2B5EF4-FFF2-40B4-BE49-F238E27FC236}">
                <a16:creationId xmlns:a16="http://schemas.microsoft.com/office/drawing/2014/main" id="{5B0704BD-E025-1BFE-BCEF-A949D5486273}"/>
              </a:ext>
            </a:extLst>
          </p:cNvPr>
          <p:cNvGrpSpPr/>
          <p:nvPr/>
        </p:nvGrpSpPr>
        <p:grpSpPr>
          <a:xfrm>
            <a:off x="1245849" y="3431634"/>
            <a:ext cx="3703320" cy="714443"/>
            <a:chOff x="-217617" y="2587412"/>
            <a:chExt cx="3703320" cy="714443"/>
          </a:xfrm>
        </p:grpSpPr>
        <p:sp>
          <p:nvSpPr>
            <p:cNvPr id="27" name="Rectangle 26">
              <a:extLst>
                <a:ext uri="{FF2B5EF4-FFF2-40B4-BE49-F238E27FC236}">
                  <a16:creationId xmlns:a16="http://schemas.microsoft.com/office/drawing/2014/main" id="{B583432D-6E33-67F4-B788-654E64C4EAF9}"/>
                </a:ext>
              </a:extLst>
            </p:cNvPr>
            <p:cNvSpPr/>
            <p:nvPr/>
          </p:nvSpPr>
          <p:spPr>
            <a:xfrm>
              <a:off x="-217617" y="2587412"/>
              <a:ext cx="3703320" cy="714443"/>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28" name="TextBox 27">
              <a:extLst>
                <a:ext uri="{FF2B5EF4-FFF2-40B4-BE49-F238E27FC236}">
                  <a16:creationId xmlns:a16="http://schemas.microsoft.com/office/drawing/2014/main" id="{3F4E3160-DD2C-9FA5-79FA-4358AB3EC067}"/>
                </a:ext>
              </a:extLst>
            </p:cNvPr>
            <p:cNvSpPr txBox="1"/>
            <p:nvPr/>
          </p:nvSpPr>
          <p:spPr>
            <a:xfrm>
              <a:off x="-217617" y="2587412"/>
              <a:ext cx="3703320" cy="7144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5612" tIns="75612" rIns="75612" bIns="75612"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rgbClr val="0A1C72"/>
                  </a:solidFill>
                  <a:latin typeface="Nadeem" pitchFamily="2" charset="-78"/>
                  <a:cs typeface="Nadeem" pitchFamily="2" charset="-78"/>
                </a:rPr>
                <a:t>Problem Statement</a:t>
              </a:r>
              <a:endParaRPr lang="en-US" sz="1400" kern="1200" dirty="0">
                <a:solidFill>
                  <a:srgbClr val="0A1C72"/>
                </a:solidFill>
                <a:latin typeface="Nadeem" pitchFamily="2" charset="-78"/>
                <a:cs typeface="Nadeem" pitchFamily="2" charset="-78"/>
              </a:endParaRPr>
            </a:p>
          </p:txBody>
        </p:sp>
      </p:grpSp>
      <p:grpSp>
        <p:nvGrpSpPr>
          <p:cNvPr id="29" name="Group 28">
            <a:extLst>
              <a:ext uri="{FF2B5EF4-FFF2-40B4-BE49-F238E27FC236}">
                <a16:creationId xmlns:a16="http://schemas.microsoft.com/office/drawing/2014/main" id="{99CA3ED8-7CDD-6AAA-73A4-7CE0216A54EE}"/>
              </a:ext>
            </a:extLst>
          </p:cNvPr>
          <p:cNvGrpSpPr/>
          <p:nvPr/>
        </p:nvGrpSpPr>
        <p:grpSpPr>
          <a:xfrm>
            <a:off x="879693" y="4586309"/>
            <a:ext cx="4104062" cy="911614"/>
            <a:chOff x="-217617" y="3782977"/>
            <a:chExt cx="4104062" cy="911614"/>
          </a:xfrm>
        </p:grpSpPr>
        <p:sp>
          <p:nvSpPr>
            <p:cNvPr id="30" name="Rectangle 29">
              <a:extLst>
                <a:ext uri="{FF2B5EF4-FFF2-40B4-BE49-F238E27FC236}">
                  <a16:creationId xmlns:a16="http://schemas.microsoft.com/office/drawing/2014/main" id="{78CD3810-EF8B-1100-72E2-88DFB3B952AF}"/>
                </a:ext>
              </a:extLst>
            </p:cNvPr>
            <p:cNvSpPr/>
            <p:nvPr/>
          </p:nvSpPr>
          <p:spPr>
            <a:xfrm>
              <a:off x="-217617" y="3782977"/>
              <a:ext cx="3703320" cy="714443"/>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31" name="TextBox 30">
              <a:extLst>
                <a:ext uri="{FF2B5EF4-FFF2-40B4-BE49-F238E27FC236}">
                  <a16:creationId xmlns:a16="http://schemas.microsoft.com/office/drawing/2014/main" id="{F0E5AE98-2EF9-A5EC-3743-379BDDE8BFE1}"/>
                </a:ext>
              </a:extLst>
            </p:cNvPr>
            <p:cNvSpPr txBox="1"/>
            <p:nvPr/>
          </p:nvSpPr>
          <p:spPr>
            <a:xfrm>
              <a:off x="183125" y="3980148"/>
              <a:ext cx="3703320" cy="714443"/>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5612" tIns="75612" rIns="75612" bIns="75612" numCol="1" spcCol="1270" anchor="ctr" anchorCtr="0">
              <a:noAutofit/>
            </a:bodyPr>
            <a:lstStyle/>
            <a:p>
              <a:pPr marL="0" lvl="0" indent="0" algn="l" defTabSz="622300">
                <a:lnSpc>
                  <a:spcPct val="100000"/>
                </a:lnSpc>
                <a:spcBef>
                  <a:spcPct val="0"/>
                </a:spcBef>
                <a:spcAft>
                  <a:spcPct val="35000"/>
                </a:spcAft>
                <a:buNone/>
              </a:pPr>
              <a:r>
                <a:rPr lang="en-US" sz="1400" b="1" kern="1200" dirty="0">
                  <a:solidFill>
                    <a:srgbClr val="0A1C72"/>
                  </a:solidFill>
                  <a:latin typeface="Nadeem" pitchFamily="2" charset="-78"/>
                  <a:cs typeface="Nadeem" pitchFamily="2" charset="-78"/>
                </a:rPr>
                <a:t>Engineering Challenge</a:t>
              </a:r>
              <a:endParaRPr lang="en-US" sz="1400" kern="1200" dirty="0">
                <a:solidFill>
                  <a:srgbClr val="0A1C72"/>
                </a:solidFill>
                <a:latin typeface="Nadeem" pitchFamily="2" charset="-78"/>
                <a:cs typeface="Nadeem" pitchFamily="2" charset="-78"/>
              </a:endParaRPr>
            </a:p>
          </p:txBody>
        </p:sp>
      </p:grpSp>
      <p:grpSp>
        <p:nvGrpSpPr>
          <p:cNvPr id="32" name="Group 31">
            <a:extLst>
              <a:ext uri="{FF2B5EF4-FFF2-40B4-BE49-F238E27FC236}">
                <a16:creationId xmlns:a16="http://schemas.microsoft.com/office/drawing/2014/main" id="{A840EEE1-8FC2-5F4C-0E99-EBF56D54CA3B}"/>
              </a:ext>
            </a:extLst>
          </p:cNvPr>
          <p:cNvGrpSpPr/>
          <p:nvPr/>
        </p:nvGrpSpPr>
        <p:grpSpPr>
          <a:xfrm>
            <a:off x="1280435" y="1727310"/>
            <a:ext cx="6887935" cy="672417"/>
            <a:chOff x="1879005" y="277054"/>
            <a:chExt cx="5441901" cy="672417"/>
          </a:xfrm>
        </p:grpSpPr>
        <p:sp>
          <p:nvSpPr>
            <p:cNvPr id="33" name="Rectangle 32">
              <a:extLst>
                <a:ext uri="{FF2B5EF4-FFF2-40B4-BE49-F238E27FC236}">
                  <a16:creationId xmlns:a16="http://schemas.microsoft.com/office/drawing/2014/main" id="{EED8A7C9-28DA-BA54-BC02-63A951064619}"/>
                </a:ext>
              </a:extLst>
            </p:cNvPr>
            <p:cNvSpPr/>
            <p:nvPr/>
          </p:nvSpPr>
          <p:spPr>
            <a:xfrm>
              <a:off x="1879005" y="277054"/>
              <a:ext cx="5441901" cy="672417"/>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34" name="TextBox 33">
              <a:extLst>
                <a:ext uri="{FF2B5EF4-FFF2-40B4-BE49-F238E27FC236}">
                  <a16:creationId xmlns:a16="http://schemas.microsoft.com/office/drawing/2014/main" id="{F6057E77-68E4-06E6-EC25-84EF8BE7128A}"/>
                </a:ext>
              </a:extLst>
            </p:cNvPr>
            <p:cNvSpPr txBox="1"/>
            <p:nvPr/>
          </p:nvSpPr>
          <p:spPr>
            <a:xfrm>
              <a:off x="1879005" y="277054"/>
              <a:ext cx="5441901" cy="6724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1164" tIns="71164" rIns="71164" bIns="71164" numCol="1" spcCol="1270" anchor="ctr" anchorCtr="0">
              <a:noAutofit/>
            </a:bodyPr>
            <a:lstStyle/>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Computer &amp; Communications Engineering (CCE) students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Collaboration between data processing, modeling, and system design </a:t>
              </a:r>
            </a:p>
          </p:txBody>
        </p:sp>
      </p:grpSp>
      <p:grpSp>
        <p:nvGrpSpPr>
          <p:cNvPr id="35" name="Group 34">
            <a:extLst>
              <a:ext uri="{FF2B5EF4-FFF2-40B4-BE49-F238E27FC236}">
                <a16:creationId xmlns:a16="http://schemas.microsoft.com/office/drawing/2014/main" id="{14AA06DE-0C3A-C38A-29E6-B04637DAEDC9}"/>
              </a:ext>
            </a:extLst>
          </p:cNvPr>
          <p:cNvGrpSpPr/>
          <p:nvPr/>
        </p:nvGrpSpPr>
        <p:grpSpPr>
          <a:xfrm>
            <a:off x="1288802" y="2438515"/>
            <a:ext cx="7735807" cy="1059672"/>
            <a:chOff x="-457762" y="1434171"/>
            <a:chExt cx="7735807" cy="1059672"/>
          </a:xfrm>
        </p:grpSpPr>
        <p:sp>
          <p:nvSpPr>
            <p:cNvPr id="36" name="Rectangle 35">
              <a:extLst>
                <a:ext uri="{FF2B5EF4-FFF2-40B4-BE49-F238E27FC236}">
                  <a16:creationId xmlns:a16="http://schemas.microsoft.com/office/drawing/2014/main" id="{F124476D-FC83-4852-C1B3-B583DA400527}"/>
                </a:ext>
              </a:extLst>
            </p:cNvPr>
            <p:cNvSpPr/>
            <p:nvPr/>
          </p:nvSpPr>
          <p:spPr>
            <a:xfrm>
              <a:off x="1419774" y="1434171"/>
              <a:ext cx="5858271" cy="672417"/>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37" name="TextBox 36">
              <a:extLst>
                <a:ext uri="{FF2B5EF4-FFF2-40B4-BE49-F238E27FC236}">
                  <a16:creationId xmlns:a16="http://schemas.microsoft.com/office/drawing/2014/main" id="{32818510-4E8D-CEA8-339F-8EA456BEB8AB}"/>
                </a:ext>
              </a:extLst>
            </p:cNvPr>
            <p:cNvSpPr txBox="1"/>
            <p:nvPr/>
          </p:nvSpPr>
          <p:spPr>
            <a:xfrm>
              <a:off x="-457762" y="1821426"/>
              <a:ext cx="7055262" cy="6724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1164" tIns="71164" rIns="71164" bIns="71164" numCol="1" spcCol="1270" anchor="ctr" anchorCtr="0">
              <a:noAutofit/>
            </a:bodyPr>
            <a:lstStyle/>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Snow cover plays a critical role in water resources in Lebanon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Monitoring snow dynamics is essential for environmental and economic planning</a:t>
              </a:r>
            </a:p>
          </p:txBody>
        </p:sp>
      </p:grpSp>
      <p:grpSp>
        <p:nvGrpSpPr>
          <p:cNvPr id="38" name="Group 37">
            <a:extLst>
              <a:ext uri="{FF2B5EF4-FFF2-40B4-BE49-F238E27FC236}">
                <a16:creationId xmlns:a16="http://schemas.microsoft.com/office/drawing/2014/main" id="{A6880171-5CC7-E1C3-54A1-6BEFF3BC410B}"/>
              </a:ext>
            </a:extLst>
          </p:cNvPr>
          <p:cNvGrpSpPr/>
          <p:nvPr/>
        </p:nvGrpSpPr>
        <p:grpSpPr>
          <a:xfrm>
            <a:off x="1271424" y="3429000"/>
            <a:ext cx="8898350" cy="1290173"/>
            <a:chOff x="266042" y="2587804"/>
            <a:chExt cx="8898350" cy="1290173"/>
          </a:xfrm>
        </p:grpSpPr>
        <p:sp>
          <p:nvSpPr>
            <p:cNvPr id="39" name="Rectangle 38">
              <a:extLst>
                <a:ext uri="{FF2B5EF4-FFF2-40B4-BE49-F238E27FC236}">
                  <a16:creationId xmlns:a16="http://schemas.microsoft.com/office/drawing/2014/main" id="{2721AC1D-3A70-CC46-8629-00B099729298}"/>
                </a:ext>
              </a:extLst>
            </p:cNvPr>
            <p:cNvSpPr/>
            <p:nvPr/>
          </p:nvSpPr>
          <p:spPr>
            <a:xfrm>
              <a:off x="1411207" y="2587804"/>
              <a:ext cx="7753185" cy="672417"/>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40" name="TextBox 39">
              <a:extLst>
                <a:ext uri="{FF2B5EF4-FFF2-40B4-BE49-F238E27FC236}">
                  <a16:creationId xmlns:a16="http://schemas.microsoft.com/office/drawing/2014/main" id="{1102F50A-81C8-4DCC-241A-63FFBD88A6A4}"/>
                </a:ext>
              </a:extLst>
            </p:cNvPr>
            <p:cNvSpPr txBox="1"/>
            <p:nvPr/>
          </p:nvSpPr>
          <p:spPr>
            <a:xfrm>
              <a:off x="266042" y="3205560"/>
              <a:ext cx="7753185" cy="6724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1164" tIns="71164" rIns="71164" bIns="71164" numCol="1" spcCol="1270" anchor="ctr" anchorCtr="0">
              <a:noAutofit/>
            </a:bodyPr>
            <a:lstStyle/>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Difficulty in accurately forecasting snow evolution over time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Limited temporal coverage (Sentinel-2) vs limited spatial resolution (MODIS)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High variability of snow behavior in mountainous regions </a:t>
              </a:r>
            </a:p>
          </p:txBody>
        </p:sp>
      </p:grpSp>
      <p:grpSp>
        <p:nvGrpSpPr>
          <p:cNvPr id="41" name="Group 40">
            <a:extLst>
              <a:ext uri="{FF2B5EF4-FFF2-40B4-BE49-F238E27FC236}">
                <a16:creationId xmlns:a16="http://schemas.microsoft.com/office/drawing/2014/main" id="{7C3D01F5-6360-E93D-FD5C-E4EA82102C1A}"/>
              </a:ext>
            </a:extLst>
          </p:cNvPr>
          <p:cNvGrpSpPr/>
          <p:nvPr/>
        </p:nvGrpSpPr>
        <p:grpSpPr>
          <a:xfrm>
            <a:off x="1280435" y="5124860"/>
            <a:ext cx="8496649" cy="960397"/>
            <a:chOff x="590645" y="3750320"/>
            <a:chExt cx="8496649" cy="960397"/>
          </a:xfrm>
        </p:grpSpPr>
        <p:sp>
          <p:nvSpPr>
            <p:cNvPr id="42" name="Rectangle 41">
              <a:extLst>
                <a:ext uri="{FF2B5EF4-FFF2-40B4-BE49-F238E27FC236}">
                  <a16:creationId xmlns:a16="http://schemas.microsoft.com/office/drawing/2014/main" id="{278494FE-2A72-B24B-A6D2-DF4309E81DDE}"/>
                </a:ext>
              </a:extLst>
            </p:cNvPr>
            <p:cNvSpPr/>
            <p:nvPr/>
          </p:nvSpPr>
          <p:spPr>
            <a:xfrm>
              <a:off x="1416124" y="3750320"/>
              <a:ext cx="7671170" cy="672417"/>
            </a:xfrm>
            <a:prstGeom prst="rect">
              <a:avLst/>
            </a:prstGeom>
          </p:spPr>
          <p:style>
            <a:lnRef idx="0">
              <a:schemeClr val="dk1">
                <a:alpha val="0"/>
                <a:hueOff val="0"/>
                <a:satOff val="0"/>
                <a:lumOff val="0"/>
                <a:alphaOff val="0"/>
              </a:schemeClr>
            </a:lnRef>
            <a:fillRef idx="0">
              <a:schemeClr val="lt2">
                <a:alpha val="0"/>
                <a:hueOff val="0"/>
                <a:satOff val="0"/>
                <a:lumOff val="0"/>
                <a:alphaOff val="0"/>
              </a:schemeClr>
            </a:fillRef>
            <a:effectRef idx="0">
              <a:schemeClr val="lt2">
                <a:alpha val="0"/>
                <a:hueOff val="0"/>
                <a:satOff val="0"/>
                <a:lumOff val="0"/>
                <a:alphaOff val="0"/>
              </a:schemeClr>
            </a:effectRef>
            <a:fontRef idx="minor">
              <a:schemeClr val="tx1">
                <a:hueOff val="0"/>
                <a:satOff val="0"/>
                <a:lumOff val="0"/>
                <a:alphaOff val="0"/>
              </a:schemeClr>
            </a:fontRef>
          </p:style>
        </p:sp>
        <p:sp>
          <p:nvSpPr>
            <p:cNvPr id="43" name="TextBox 42">
              <a:extLst>
                <a:ext uri="{FF2B5EF4-FFF2-40B4-BE49-F238E27FC236}">
                  <a16:creationId xmlns:a16="http://schemas.microsoft.com/office/drawing/2014/main" id="{28A55E93-95E5-4778-97E4-1F032DE15B5B}"/>
                </a:ext>
              </a:extLst>
            </p:cNvPr>
            <p:cNvSpPr txBox="1"/>
            <p:nvPr/>
          </p:nvSpPr>
          <p:spPr>
            <a:xfrm>
              <a:off x="590645" y="4038300"/>
              <a:ext cx="7671170" cy="672417"/>
            </a:xfrm>
            <a:prstGeom prst="rect">
              <a:avLst/>
            </a:prstGeom>
          </p:spPr>
          <p:style>
            <a:lnRef idx="0">
              <a:scrgbClr r="0" g="0" b="0"/>
            </a:lnRef>
            <a:fillRef idx="0">
              <a:scrgbClr r="0" g="0" b="0"/>
            </a:fillRef>
            <a:effectRef idx="0">
              <a:scrgbClr r="0" g="0" b="0"/>
            </a:effectRef>
            <a:fontRef idx="minor">
              <a:schemeClr val="tx1">
                <a:hueOff val="0"/>
                <a:satOff val="0"/>
                <a:lumOff val="0"/>
                <a:alphaOff val="0"/>
              </a:schemeClr>
            </a:fontRef>
          </p:style>
          <p:txBody>
            <a:bodyPr spcFirstLastPara="0" vert="horz" wrap="square" lIns="71164" tIns="71164" rIns="71164" bIns="71164" numCol="1" spcCol="1270" anchor="ctr" anchorCtr="0">
              <a:noAutofit/>
            </a:bodyPr>
            <a:lstStyle/>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Design a system capable of modeling complex </a:t>
              </a:r>
              <a:r>
                <a:rPr lang="en-US" sz="1400" kern="1200" dirty="0" err="1">
                  <a:latin typeface="Nadeem" pitchFamily="2" charset="-78"/>
                  <a:cs typeface="Nadeem" pitchFamily="2" charset="-78"/>
                </a:rPr>
                <a:t>spatio</a:t>
              </a:r>
              <a:r>
                <a:rPr lang="en-US" sz="1400" kern="1200" dirty="0">
                  <a:latin typeface="Nadeem" pitchFamily="2" charset="-78"/>
                  <a:cs typeface="Nadeem" pitchFamily="2" charset="-78"/>
                </a:rPr>
                <a:t>-temporal snow dynamics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Integrate multi-source satellite data </a:t>
              </a:r>
            </a:p>
            <a:p>
              <a:pPr marL="285750" lvl="0" indent="-285750" algn="l" defTabSz="622300">
                <a:lnSpc>
                  <a:spcPct val="100000"/>
                </a:lnSpc>
                <a:spcBef>
                  <a:spcPct val="0"/>
                </a:spcBef>
                <a:spcAft>
                  <a:spcPct val="35000"/>
                </a:spcAft>
                <a:buFont typeface="Arial" panose="020B0604020202020204" pitchFamily="34" charset="0"/>
                <a:buChar char="•"/>
              </a:pPr>
              <a:r>
                <a:rPr lang="en-US" sz="1400" kern="1200" dirty="0">
                  <a:latin typeface="Nadeem" pitchFamily="2" charset="-78"/>
                  <a:cs typeface="Nadeem" pitchFamily="2" charset="-78"/>
                </a:rPr>
                <a:t>Capture nonlinear temporal dependencies using machine learning</a:t>
              </a:r>
            </a:p>
          </p:txBody>
        </p:sp>
      </p:grpSp>
      <p:sp>
        <p:nvSpPr>
          <p:cNvPr id="44" name="Slide Number Placeholder 5">
            <a:extLst>
              <a:ext uri="{FF2B5EF4-FFF2-40B4-BE49-F238E27FC236}">
                <a16:creationId xmlns:a16="http://schemas.microsoft.com/office/drawing/2014/main" id="{E8400204-5770-4485-9A67-018A067AB479}"/>
              </a:ext>
            </a:extLst>
          </p:cNvPr>
          <p:cNvSpPr txBox="1">
            <a:spLocks/>
          </p:cNvSpPr>
          <p:nvPr/>
        </p:nvSpPr>
        <p:spPr>
          <a:xfrm>
            <a:off x="7908724" y="6590810"/>
            <a:ext cx="1071152" cy="365125"/>
          </a:xfrm>
          <a:prstGeom prst="rect">
            <a:avLst/>
          </a:prstGeom>
        </p:spPr>
        <p:txBody>
          <a:bodyPr vert="horz" wrap="square" lIns="91440" tIns="45720" rIns="91440" bIns="45720" numCol="1" anchor="t" anchorCtr="0" compatLnSpc="1">
            <a:prstTxWarp prst="textNoShape">
              <a:avLst/>
            </a:prstTxWarp>
          </a:bodyPr>
          <a:lstStyle>
            <a:defPPr>
              <a:defRPr lang="fr-FR"/>
            </a:defPPr>
            <a:lvl1pPr algn="r" defTabSz="457200" rtl="0" fontAlgn="base">
              <a:spcBef>
                <a:spcPct val="0"/>
              </a:spcBef>
              <a:spcAft>
                <a:spcPct val="0"/>
              </a:spcAft>
              <a:defRPr sz="1000" b="0" i="0" kern="120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fld id="{7F40025E-8A47-7E48-AA2F-82A25E5E3F97}" type="slidenum">
              <a:rPr lang="fr-FR" altLang="en-US" smtClean="0"/>
              <a:pPr/>
              <a:t>2</a:t>
            </a:fld>
            <a:endParaRPr lang="fr-FR" altLang="en-US"/>
          </a:p>
        </p:txBody>
      </p:sp>
    </p:spTree>
    <p:extLst>
      <p:ext uri="{BB962C8B-B14F-4D97-AF65-F5344CB8AC3E}">
        <p14:creationId xmlns:p14="http://schemas.microsoft.com/office/powerpoint/2010/main" val="2685096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4188" y="625304"/>
            <a:ext cx="8229599" cy="747713"/>
          </a:xfrm>
        </p:spPr>
        <p:txBody>
          <a:bodyPr/>
          <a:lstStyle/>
          <a:p>
            <a:r>
              <a:rPr lang="en-US" sz="3200" dirty="0">
                <a:solidFill>
                  <a:srgbClr val="0A1C72"/>
                </a:solidFill>
                <a:latin typeface="Nadeem" pitchFamily="2" charset="-78"/>
                <a:cs typeface="Nadeem" pitchFamily="2" charset="-78"/>
              </a:rPr>
              <a:t>Project Objectives and Outcomes</a:t>
            </a:r>
          </a:p>
        </p:txBody>
      </p:sp>
      <p:sp>
        <p:nvSpPr>
          <p:cNvPr id="3" name="Content Placeholder 2"/>
          <p:cNvSpPr>
            <a:spLocks noGrp="1"/>
          </p:cNvSpPr>
          <p:nvPr>
            <p:ph idx="1"/>
          </p:nvPr>
        </p:nvSpPr>
        <p:spPr>
          <a:xfrm>
            <a:off x="771705" y="1423746"/>
            <a:ext cx="8229600" cy="4767626"/>
          </a:xfrm>
        </p:spPr>
        <p:txBody>
          <a:bodyPr/>
          <a:lstStyle/>
          <a:p>
            <a:pPr marL="0" indent="0">
              <a:buNone/>
            </a:pPr>
            <a:r>
              <a:rPr lang="en-US" sz="1400" dirty="0">
                <a:solidFill>
                  <a:schemeClr val="tx1"/>
                </a:solidFill>
                <a:latin typeface="Nadeem" pitchFamily="2" charset="-78"/>
                <a:cs typeface="Nadeem" pitchFamily="2" charset="-78"/>
              </a:rPr>
              <a:t>Project Objectives</a:t>
            </a:r>
          </a:p>
          <a:p>
            <a:pPr>
              <a:buFont typeface="Arial" panose="020B0604020202020204" pitchFamily="34" charset="0"/>
              <a:buChar char="•"/>
            </a:pPr>
            <a:r>
              <a:rPr lang="en-US" sz="1400" b="0" dirty="0">
                <a:solidFill>
                  <a:schemeClr val="tx1"/>
                </a:solidFill>
                <a:latin typeface="Nadeem" pitchFamily="2" charset="-78"/>
                <a:cs typeface="Nadeem" pitchFamily="2" charset="-78"/>
              </a:rPr>
              <a:t>Develop a snow forecasting system using satellite data </a:t>
            </a:r>
          </a:p>
          <a:p>
            <a:pPr>
              <a:buFont typeface="Arial" panose="020B0604020202020204" pitchFamily="34" charset="0"/>
              <a:buChar char="•"/>
            </a:pPr>
            <a:r>
              <a:rPr lang="en-US" sz="1400" b="0" dirty="0">
                <a:solidFill>
                  <a:schemeClr val="tx1"/>
                </a:solidFill>
                <a:latin typeface="Nadeem" pitchFamily="2" charset="-78"/>
                <a:cs typeface="Nadeem" pitchFamily="2" charset="-78"/>
              </a:rPr>
              <a:t>Model temporal dynamics of snow cover using LSTM networks </a:t>
            </a:r>
          </a:p>
          <a:p>
            <a:pPr>
              <a:buFont typeface="Arial" panose="020B0604020202020204" pitchFamily="34" charset="0"/>
              <a:buChar char="•"/>
            </a:pPr>
            <a:r>
              <a:rPr lang="en-US" sz="1400" b="0" dirty="0">
                <a:solidFill>
                  <a:schemeClr val="tx1"/>
                </a:solidFill>
                <a:latin typeface="Nadeem" pitchFamily="2" charset="-78"/>
                <a:cs typeface="Nadeem" pitchFamily="2" charset="-78"/>
              </a:rPr>
              <a:t>Analyze the impact of sequence length on prediction performance </a:t>
            </a:r>
          </a:p>
          <a:p>
            <a:pPr marL="0" indent="0">
              <a:buNone/>
            </a:pPr>
            <a:endParaRPr lang="en-US" sz="1400" b="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Project Outcomes</a:t>
            </a:r>
          </a:p>
          <a:p>
            <a:pPr>
              <a:buFont typeface="Arial" panose="020B0604020202020204" pitchFamily="34" charset="0"/>
              <a:buChar char="•"/>
            </a:pPr>
            <a:r>
              <a:rPr lang="en-US" sz="1400" b="0" dirty="0">
                <a:solidFill>
                  <a:schemeClr val="tx1"/>
                </a:solidFill>
                <a:latin typeface="Nadeem" pitchFamily="2" charset="-78"/>
                <a:cs typeface="Nadeem" pitchFamily="2" charset="-78"/>
              </a:rPr>
              <a:t>Built a multi-source dataset (Sentinel-2, MODIS, meteorological data) </a:t>
            </a:r>
          </a:p>
          <a:p>
            <a:pPr>
              <a:buFont typeface="Arial" panose="020B0604020202020204" pitchFamily="34" charset="0"/>
              <a:buChar char="•"/>
            </a:pPr>
            <a:r>
              <a:rPr lang="en-US" sz="1400" b="0" dirty="0">
                <a:solidFill>
                  <a:schemeClr val="tx1"/>
                </a:solidFill>
                <a:latin typeface="Nadeem" pitchFamily="2" charset="-78"/>
                <a:cs typeface="Nadeem" pitchFamily="2" charset="-78"/>
              </a:rPr>
              <a:t>Achieved improved performance over baseline models </a:t>
            </a:r>
          </a:p>
          <a:p>
            <a:pPr>
              <a:buFont typeface="Arial" panose="020B0604020202020204" pitchFamily="34" charset="0"/>
              <a:buChar char="•"/>
            </a:pPr>
            <a:r>
              <a:rPr lang="en-US" sz="1400" b="0" dirty="0">
                <a:solidFill>
                  <a:schemeClr val="tx1"/>
                </a:solidFill>
                <a:latin typeface="Nadeem" pitchFamily="2" charset="-78"/>
                <a:cs typeface="Nadeem" pitchFamily="2" charset="-78"/>
              </a:rPr>
              <a:t>Identified trade-off between numerical accuracy and visual realism </a:t>
            </a:r>
          </a:p>
          <a:p>
            <a:pPr marL="0" indent="0">
              <a:buNone/>
            </a:pPr>
            <a:endParaRPr lang="en-US" sz="1400" b="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endParaRPr lang="en-US" sz="120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Why ? Because …</a:t>
            </a:r>
          </a:p>
          <a:p>
            <a:pPr>
              <a:buFont typeface="Arial" panose="020B0604020202020204" pitchFamily="34" charset="0"/>
              <a:buChar char="•"/>
            </a:pPr>
            <a:r>
              <a:rPr lang="en-US" sz="1400" b="0" dirty="0">
                <a:solidFill>
                  <a:schemeClr val="tx1"/>
                </a:solidFill>
                <a:latin typeface="Nadeem" pitchFamily="2" charset="-78"/>
                <a:cs typeface="Nadeem" pitchFamily="2" charset="-78"/>
              </a:rPr>
              <a:t>Snow behavior is nonlinear and time-dependent </a:t>
            </a:r>
          </a:p>
          <a:p>
            <a:pPr>
              <a:buFont typeface="Arial" panose="020B0604020202020204" pitchFamily="34" charset="0"/>
              <a:buChar char="•"/>
            </a:pPr>
            <a:r>
              <a:rPr lang="en-US" sz="1400" b="0" dirty="0">
                <a:solidFill>
                  <a:schemeClr val="tx1"/>
                </a:solidFill>
                <a:latin typeface="Nadeem" pitchFamily="2" charset="-78"/>
                <a:cs typeface="Nadeem" pitchFamily="2" charset="-78"/>
              </a:rPr>
              <a:t>Traditional methods fail to capture complex temporal patterns </a:t>
            </a:r>
          </a:p>
          <a:p>
            <a:pPr>
              <a:buFont typeface="Arial" panose="020B0604020202020204" pitchFamily="34" charset="0"/>
              <a:buChar char="•"/>
            </a:pPr>
            <a:r>
              <a:rPr lang="en-US" sz="1400" b="0" dirty="0">
                <a:solidFill>
                  <a:schemeClr val="tx1"/>
                </a:solidFill>
                <a:latin typeface="Nadeem" pitchFamily="2" charset="-78"/>
                <a:cs typeface="Nadeem" pitchFamily="2" charset="-78"/>
              </a:rPr>
              <a:t>Deep learning enables data-driven modeling of environmental systems </a:t>
            </a:r>
          </a:p>
          <a:p>
            <a:pPr marL="0" indent="0" algn="just">
              <a:buNone/>
            </a:pPr>
            <a:endParaRPr lang="en-US" b="0" dirty="0">
              <a:solidFill>
                <a:schemeClr val="tx1"/>
              </a:solidFill>
            </a:endParaRP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3</a:t>
            </a:fld>
            <a:endParaRPr lang="fr-FR" altLang="en-US"/>
          </a:p>
        </p:txBody>
      </p:sp>
      <p:graphicFrame>
        <p:nvGraphicFramePr>
          <p:cNvPr id="8" name="Diagram 7">
            <a:extLst>
              <a:ext uri="{FF2B5EF4-FFF2-40B4-BE49-F238E27FC236}">
                <a16:creationId xmlns:a16="http://schemas.microsoft.com/office/drawing/2014/main" id="{7DE4DABC-2F88-22EA-2AB4-FB8D44A1448D}"/>
              </a:ext>
            </a:extLst>
          </p:cNvPr>
          <p:cNvGraphicFramePr/>
          <p:nvPr>
            <p:extLst>
              <p:ext uri="{D42A27DB-BD31-4B8C-83A1-F6EECF244321}">
                <p14:modId xmlns:p14="http://schemas.microsoft.com/office/powerpoint/2010/main" val="605243125"/>
              </p:ext>
            </p:extLst>
          </p:nvPr>
        </p:nvGraphicFramePr>
        <p:xfrm>
          <a:off x="1224188" y="3831561"/>
          <a:ext cx="6695622" cy="108839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098" name="Picture 2" descr="Objective White Icons – Free Download SVG, PNG, GIF">
            <a:extLst>
              <a:ext uri="{FF2B5EF4-FFF2-40B4-BE49-F238E27FC236}">
                <a16:creationId xmlns:a16="http://schemas.microsoft.com/office/drawing/2014/main" id="{B9A73291-781E-5190-97F2-4A5F3C0F729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 y="579387"/>
            <a:ext cx="629010" cy="629010"/>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3">
            <a:extLst>
              <a:ext uri="{FF2B5EF4-FFF2-40B4-BE49-F238E27FC236}">
                <a16:creationId xmlns:a16="http://schemas.microsoft.com/office/drawing/2014/main" id="{ADC8BD23-FCC4-06B6-AC2B-AE05F9F10A8A}"/>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0" name="Footer Placeholder 4">
            <a:extLst>
              <a:ext uri="{FF2B5EF4-FFF2-40B4-BE49-F238E27FC236}">
                <a16:creationId xmlns:a16="http://schemas.microsoft.com/office/drawing/2014/main" id="{0EB6E66E-EC3D-44A9-44CB-A8033CAFE498}"/>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Tree>
    <p:extLst>
      <p:ext uri="{BB962C8B-B14F-4D97-AF65-F5344CB8AC3E}">
        <p14:creationId xmlns:p14="http://schemas.microsoft.com/office/powerpoint/2010/main" val="299170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8128" y="611449"/>
            <a:ext cx="8229599" cy="747713"/>
          </a:xfrm>
        </p:spPr>
        <p:txBody>
          <a:bodyPr/>
          <a:lstStyle/>
          <a:p>
            <a:r>
              <a:rPr lang="en-US" sz="3200" dirty="0">
                <a:solidFill>
                  <a:srgbClr val="0A1C72"/>
                </a:solidFill>
                <a:latin typeface="Nadeem" pitchFamily="2" charset="-78"/>
                <a:cs typeface="Nadeem" pitchFamily="2" charset="-78"/>
              </a:rPr>
              <a:t>Project Functional Requirements</a:t>
            </a:r>
          </a:p>
        </p:txBody>
      </p:sp>
      <p:sp>
        <p:nvSpPr>
          <p:cNvPr id="3" name="Content Placeholder 2"/>
          <p:cNvSpPr>
            <a:spLocks noGrp="1"/>
          </p:cNvSpPr>
          <p:nvPr>
            <p:ph idx="1"/>
          </p:nvPr>
        </p:nvSpPr>
        <p:spPr>
          <a:xfrm>
            <a:off x="750276" y="1359162"/>
            <a:ext cx="8229600" cy="4767626"/>
          </a:xfrm>
        </p:spPr>
        <p:txBody>
          <a:bodyPr/>
          <a:lstStyle/>
          <a:p>
            <a:pPr marL="0" indent="0">
              <a:buNone/>
            </a:pPr>
            <a:r>
              <a:rPr lang="en-US" sz="1600" dirty="0">
                <a:solidFill>
                  <a:schemeClr val="tx1"/>
                </a:solidFill>
                <a:latin typeface="Nadeem" pitchFamily="2" charset="-78"/>
                <a:cs typeface="Nadeem" pitchFamily="2" charset="-78"/>
              </a:rPr>
              <a:t>Data Requirements</a:t>
            </a:r>
          </a:p>
          <a:p>
            <a:pPr lvl="1">
              <a:buFont typeface="Wingdings" pitchFamily="2" charset="2"/>
              <a:buChar char="ü"/>
            </a:pPr>
            <a:r>
              <a:rPr lang="en-US" sz="1600" b="0" dirty="0">
                <a:solidFill>
                  <a:schemeClr val="tx1"/>
                </a:solidFill>
                <a:latin typeface="Nadeem" pitchFamily="2" charset="-78"/>
                <a:cs typeface="Nadeem" pitchFamily="2" charset="-78"/>
              </a:rPr>
              <a:t>Extract satellite data (Sentinel-2, MODIS) </a:t>
            </a:r>
          </a:p>
          <a:p>
            <a:pPr lvl="1">
              <a:buFont typeface="Wingdings" pitchFamily="2" charset="2"/>
              <a:buChar char="ü"/>
            </a:pPr>
            <a:r>
              <a:rPr lang="en-US" sz="1600" b="0" dirty="0">
                <a:solidFill>
                  <a:schemeClr val="tx1"/>
                </a:solidFill>
                <a:latin typeface="Nadeem" pitchFamily="2" charset="-78"/>
                <a:cs typeface="Nadeem" pitchFamily="2" charset="-78"/>
              </a:rPr>
              <a:t>Ensure temporal consistency and alignment </a:t>
            </a:r>
          </a:p>
          <a:p>
            <a:pPr lvl="1">
              <a:buFont typeface="Wingdings" pitchFamily="2" charset="2"/>
              <a:buChar char="ü"/>
            </a:pPr>
            <a:r>
              <a:rPr lang="en-US" sz="1600" b="0" dirty="0">
                <a:solidFill>
                  <a:schemeClr val="tx1"/>
                </a:solidFill>
                <a:latin typeface="Nadeem" pitchFamily="2" charset="-78"/>
                <a:cs typeface="Nadeem" pitchFamily="2" charset="-78"/>
              </a:rPr>
              <a:t>Build structured time-series dataset </a:t>
            </a:r>
          </a:p>
          <a:p>
            <a:pPr marL="0" indent="0">
              <a:buNone/>
            </a:pPr>
            <a:r>
              <a:rPr lang="en-US" sz="1600" dirty="0">
                <a:solidFill>
                  <a:schemeClr val="tx1"/>
                </a:solidFill>
                <a:latin typeface="Nadeem" pitchFamily="2" charset="-78"/>
                <a:cs typeface="Nadeem" pitchFamily="2" charset="-78"/>
              </a:rPr>
              <a:t>Model Requirements</a:t>
            </a:r>
          </a:p>
          <a:p>
            <a:pPr lvl="1">
              <a:buFont typeface="Wingdings" pitchFamily="2" charset="2"/>
              <a:buChar char="ü"/>
            </a:pPr>
            <a:r>
              <a:rPr lang="en-US" sz="1600" b="0" dirty="0">
                <a:solidFill>
                  <a:schemeClr val="tx1"/>
                </a:solidFill>
                <a:latin typeface="Nadeem" pitchFamily="2" charset="-78"/>
                <a:cs typeface="Nadeem" pitchFamily="2" charset="-78"/>
              </a:rPr>
              <a:t>Predict weekly snow cover </a:t>
            </a:r>
          </a:p>
          <a:p>
            <a:pPr lvl="1">
              <a:buFont typeface="Wingdings" pitchFamily="2" charset="2"/>
              <a:buChar char="ü"/>
            </a:pPr>
            <a:r>
              <a:rPr lang="en-US" sz="1600" b="0" dirty="0">
                <a:solidFill>
                  <a:schemeClr val="tx1"/>
                </a:solidFill>
                <a:latin typeface="Nadeem" pitchFamily="2" charset="-78"/>
                <a:cs typeface="Nadeem" pitchFamily="2" charset="-78"/>
              </a:rPr>
              <a:t>Capture temporal dependencies </a:t>
            </a:r>
          </a:p>
          <a:p>
            <a:pPr lvl="1">
              <a:buFont typeface="Wingdings" pitchFamily="2" charset="2"/>
              <a:buChar char="ü"/>
            </a:pPr>
            <a:r>
              <a:rPr lang="en-US" sz="1600" b="0" dirty="0">
                <a:solidFill>
                  <a:schemeClr val="tx1"/>
                </a:solidFill>
                <a:latin typeface="Nadeem" pitchFamily="2" charset="-78"/>
                <a:cs typeface="Nadeem" pitchFamily="2" charset="-78"/>
              </a:rPr>
              <a:t>Support sequence-based input (LSTM) </a:t>
            </a:r>
          </a:p>
          <a:p>
            <a:pPr marL="0" indent="0">
              <a:buNone/>
            </a:pPr>
            <a:r>
              <a:rPr lang="en-US" sz="1600" dirty="0">
                <a:solidFill>
                  <a:schemeClr val="tx1"/>
                </a:solidFill>
                <a:latin typeface="Nadeem" pitchFamily="2" charset="-78"/>
                <a:cs typeface="Nadeem" pitchFamily="2" charset="-78"/>
              </a:rPr>
              <a:t>Feature Requirements</a:t>
            </a:r>
          </a:p>
          <a:p>
            <a:pPr lvl="1">
              <a:buFont typeface="Wingdings" pitchFamily="2" charset="2"/>
              <a:buChar char="ü"/>
            </a:pPr>
            <a:r>
              <a:rPr lang="en-US" sz="1600" b="0" dirty="0">
                <a:solidFill>
                  <a:schemeClr val="tx1"/>
                </a:solidFill>
                <a:latin typeface="Nadeem" pitchFamily="2" charset="-78"/>
                <a:cs typeface="Nadeem" pitchFamily="2" charset="-78"/>
              </a:rPr>
              <a:t>Integrate multi-source variables (snow, temperature, precipitation) </a:t>
            </a:r>
          </a:p>
          <a:p>
            <a:pPr lvl="1">
              <a:buFont typeface="Wingdings" pitchFamily="2" charset="2"/>
              <a:buChar char="ü"/>
            </a:pPr>
            <a:r>
              <a:rPr lang="en-US" sz="1600" b="0" dirty="0">
                <a:solidFill>
                  <a:schemeClr val="tx1"/>
                </a:solidFill>
                <a:latin typeface="Nadeem" pitchFamily="2" charset="-78"/>
                <a:cs typeface="Nadeem" pitchFamily="2" charset="-78"/>
              </a:rPr>
              <a:t>Encode seasonality (cyclical features) </a:t>
            </a:r>
          </a:p>
          <a:p>
            <a:pPr lvl="1">
              <a:buFont typeface="Wingdings" pitchFamily="2" charset="2"/>
              <a:buChar char="ü"/>
            </a:pPr>
            <a:r>
              <a:rPr lang="en-US" sz="1600" b="0" dirty="0">
                <a:solidFill>
                  <a:schemeClr val="tx1"/>
                </a:solidFill>
                <a:latin typeface="Nadeem" pitchFamily="2" charset="-78"/>
                <a:cs typeface="Nadeem" pitchFamily="2" charset="-78"/>
              </a:rPr>
              <a:t>Normalize data for stable training </a:t>
            </a:r>
          </a:p>
          <a:p>
            <a:pPr marL="0" indent="0">
              <a:buNone/>
            </a:pPr>
            <a:r>
              <a:rPr lang="en-US" sz="1600" dirty="0">
                <a:solidFill>
                  <a:schemeClr val="tx1"/>
                </a:solidFill>
                <a:latin typeface="Nadeem" pitchFamily="2" charset="-78"/>
                <a:cs typeface="Nadeem" pitchFamily="2" charset="-78"/>
              </a:rPr>
              <a:t>Evaluation Requirements</a:t>
            </a:r>
          </a:p>
          <a:p>
            <a:pPr lvl="1">
              <a:buFont typeface="Wingdings" pitchFamily="2" charset="2"/>
              <a:buChar char="ü"/>
            </a:pPr>
            <a:r>
              <a:rPr lang="en-US" sz="1600" b="0" dirty="0">
                <a:solidFill>
                  <a:schemeClr val="tx1"/>
                </a:solidFill>
                <a:latin typeface="Nadeem" pitchFamily="2" charset="-78"/>
                <a:cs typeface="Nadeem" pitchFamily="2" charset="-78"/>
              </a:rPr>
              <a:t>Compare with baseline persistence model </a:t>
            </a:r>
          </a:p>
          <a:p>
            <a:pPr lvl="1">
              <a:buFont typeface="Wingdings" pitchFamily="2" charset="2"/>
              <a:buChar char="ü"/>
            </a:pPr>
            <a:r>
              <a:rPr lang="en-US" sz="1600" b="0" dirty="0">
                <a:solidFill>
                  <a:schemeClr val="tx1"/>
                </a:solidFill>
                <a:latin typeface="Nadeem" pitchFamily="2" charset="-78"/>
                <a:cs typeface="Nadeem" pitchFamily="2" charset="-78"/>
              </a:rPr>
              <a:t>Use MAE and RMSE </a:t>
            </a:r>
          </a:p>
          <a:p>
            <a:pPr lvl="1">
              <a:buFont typeface="Wingdings" pitchFamily="2" charset="2"/>
              <a:buChar char="ü"/>
            </a:pPr>
            <a:r>
              <a:rPr lang="en-US" sz="1600" b="0" dirty="0">
                <a:solidFill>
                  <a:schemeClr val="tx1"/>
                </a:solidFill>
                <a:latin typeface="Nadeem" pitchFamily="2" charset="-78"/>
                <a:cs typeface="Nadeem" pitchFamily="2" charset="-78"/>
              </a:rPr>
              <a:t>Analyze different sequence lengths</a:t>
            </a:r>
          </a:p>
          <a:p>
            <a:pPr marL="0" indent="0" algn="just">
              <a:buNone/>
            </a:pPr>
            <a:endParaRPr lang="en-US" sz="1400" dirty="0">
              <a:solidFill>
                <a:schemeClr val="tx1"/>
              </a:solidFill>
            </a:endParaRP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4</a:t>
            </a:fld>
            <a:endParaRPr lang="fr-FR" altLang="en-US"/>
          </a:p>
        </p:txBody>
      </p:sp>
      <p:pic>
        <p:nvPicPr>
          <p:cNvPr id="3076" name="Picture 4" descr="Requirement Vector Thick Line Icon For Personal And Commercial Use Stock  Illustration - Download Image Now - iStock">
            <a:extLst>
              <a:ext uri="{FF2B5EF4-FFF2-40B4-BE49-F238E27FC236}">
                <a16:creationId xmlns:a16="http://schemas.microsoft.com/office/drawing/2014/main" id="{CFB94106-AB2D-6255-8009-7B160D127C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414" y="460804"/>
            <a:ext cx="747714" cy="747714"/>
          </a:xfrm>
          <a:prstGeom prst="rect">
            <a:avLst/>
          </a:prstGeom>
          <a:noFill/>
          <a:extLst>
            <a:ext uri="{909E8E84-426E-40DD-AFC4-6F175D3DCCD1}">
              <a14:hiddenFill xmlns:a14="http://schemas.microsoft.com/office/drawing/2010/main">
                <a:solidFill>
                  <a:srgbClr val="FFFFFF"/>
                </a:solidFill>
              </a14:hiddenFill>
            </a:ext>
          </a:extLst>
        </p:spPr>
      </p:pic>
      <p:sp>
        <p:nvSpPr>
          <p:cNvPr id="9" name="Date Placeholder 3">
            <a:extLst>
              <a:ext uri="{FF2B5EF4-FFF2-40B4-BE49-F238E27FC236}">
                <a16:creationId xmlns:a16="http://schemas.microsoft.com/office/drawing/2014/main" id="{3638CEC7-8EAB-8711-5C89-8D6E46E22553}"/>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0" name="Footer Placeholder 4">
            <a:extLst>
              <a:ext uri="{FF2B5EF4-FFF2-40B4-BE49-F238E27FC236}">
                <a16:creationId xmlns:a16="http://schemas.microsoft.com/office/drawing/2014/main" id="{ACE2974F-8113-F83A-8257-B5CD90FC6EEE}"/>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Tree>
    <p:extLst>
      <p:ext uri="{BB962C8B-B14F-4D97-AF65-F5344CB8AC3E}">
        <p14:creationId xmlns:p14="http://schemas.microsoft.com/office/powerpoint/2010/main" val="3136382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515177"/>
            <a:ext cx="8229599" cy="747713"/>
          </a:xfrm>
        </p:spPr>
        <p:txBody>
          <a:bodyPr/>
          <a:lstStyle/>
          <a:p>
            <a:r>
              <a:rPr lang="en-US" sz="3200" dirty="0">
                <a:solidFill>
                  <a:srgbClr val="0A1C72"/>
                </a:solidFill>
                <a:latin typeface="Nadeem" pitchFamily="2" charset="-78"/>
                <a:cs typeface="Nadeem" pitchFamily="2" charset="-78"/>
              </a:rPr>
              <a:t>Project Constraints</a:t>
            </a:r>
          </a:p>
        </p:txBody>
      </p:sp>
      <p:sp>
        <p:nvSpPr>
          <p:cNvPr id="3" name="Content Placeholder 2"/>
          <p:cNvSpPr>
            <a:spLocks noGrp="1"/>
          </p:cNvSpPr>
          <p:nvPr>
            <p:ph idx="1"/>
          </p:nvPr>
        </p:nvSpPr>
        <p:spPr>
          <a:xfrm>
            <a:off x="457200" y="1200417"/>
            <a:ext cx="8229598" cy="4767626"/>
          </a:xfrm>
        </p:spPr>
        <p:txBody>
          <a:bodyPr/>
          <a:lstStyle/>
          <a:p>
            <a:pPr marL="0" indent="0">
              <a:buNone/>
            </a:pPr>
            <a:r>
              <a:rPr lang="en-US" sz="1600" dirty="0">
                <a:solidFill>
                  <a:schemeClr val="tx1"/>
                </a:solidFill>
                <a:latin typeface="Nadeem" pitchFamily="2" charset="-78"/>
                <a:cs typeface="Nadeem" pitchFamily="2" charset="-78"/>
              </a:rPr>
              <a:t>1. Data Constraints</a:t>
            </a:r>
          </a:p>
          <a:p>
            <a:pPr>
              <a:buFont typeface="Arial" panose="020B0604020202020204" pitchFamily="34" charset="0"/>
              <a:buChar char="•"/>
            </a:pPr>
            <a:r>
              <a:rPr lang="en-US" sz="1600" b="0" dirty="0">
                <a:solidFill>
                  <a:schemeClr val="tx1"/>
                </a:solidFill>
                <a:latin typeface="Nadeem" pitchFamily="2" charset="-78"/>
                <a:cs typeface="Nadeem" pitchFamily="2" charset="-78"/>
              </a:rPr>
              <a:t>Cloud coverage affecting Sentinel-2 observations </a:t>
            </a:r>
          </a:p>
          <a:p>
            <a:pPr>
              <a:buFont typeface="Arial" panose="020B0604020202020204" pitchFamily="34" charset="0"/>
              <a:buChar char="•"/>
            </a:pPr>
            <a:r>
              <a:rPr lang="en-US" sz="1600" b="0" dirty="0">
                <a:solidFill>
                  <a:schemeClr val="tx1"/>
                </a:solidFill>
                <a:latin typeface="Nadeem" pitchFamily="2" charset="-78"/>
                <a:cs typeface="Nadeem" pitchFamily="2" charset="-78"/>
              </a:rPr>
              <a:t>Limited temporal coverage of high-resolution Sentinel-2 data </a:t>
            </a:r>
          </a:p>
          <a:p>
            <a:pPr marL="0" indent="0">
              <a:buNone/>
            </a:pPr>
            <a:endParaRPr lang="en-US" sz="1000" b="0" dirty="0">
              <a:solidFill>
                <a:schemeClr val="tx1"/>
              </a:solidFill>
              <a:latin typeface="Nadeem" pitchFamily="2" charset="-78"/>
              <a:cs typeface="Nadeem" pitchFamily="2" charset="-78"/>
            </a:endParaRPr>
          </a:p>
          <a:p>
            <a:pPr marL="0" indent="0">
              <a:buNone/>
            </a:pPr>
            <a:r>
              <a:rPr lang="en-US" sz="1600" dirty="0">
                <a:solidFill>
                  <a:schemeClr val="tx1"/>
                </a:solidFill>
                <a:latin typeface="Nadeem" pitchFamily="2" charset="-78"/>
                <a:cs typeface="Nadeem" pitchFamily="2" charset="-78"/>
              </a:rPr>
              <a:t>2. Technical Constraints</a:t>
            </a:r>
          </a:p>
          <a:p>
            <a:pPr>
              <a:buFont typeface="Arial" panose="020B0604020202020204" pitchFamily="34" charset="0"/>
              <a:buChar char="•"/>
            </a:pPr>
            <a:r>
              <a:rPr lang="en-US" sz="1600" b="0" dirty="0">
                <a:solidFill>
                  <a:schemeClr val="tx1"/>
                </a:solidFill>
                <a:latin typeface="Nadeem" pitchFamily="2" charset="-78"/>
                <a:cs typeface="Nadeem" pitchFamily="2" charset="-78"/>
              </a:rPr>
              <a:t>Trade-off:</a:t>
            </a:r>
            <a:br>
              <a:rPr lang="en-US" sz="1600" b="0" dirty="0">
                <a:solidFill>
                  <a:schemeClr val="tx1"/>
                </a:solidFill>
                <a:latin typeface="Nadeem" pitchFamily="2" charset="-78"/>
                <a:cs typeface="Nadeem" pitchFamily="2" charset="-78"/>
              </a:rPr>
            </a:br>
            <a:endParaRPr lang="en-US" sz="1600" b="0" dirty="0">
              <a:solidFill>
                <a:schemeClr val="tx1"/>
              </a:solidFill>
              <a:latin typeface="Nadeem" pitchFamily="2" charset="-78"/>
              <a:cs typeface="Nadeem" pitchFamily="2" charset="-78"/>
            </a:endParaRPr>
          </a:p>
          <a:p>
            <a:pPr>
              <a:buFont typeface="Arial" panose="020B0604020202020204" pitchFamily="34" charset="0"/>
              <a:buChar char="•"/>
            </a:pPr>
            <a:endParaRPr lang="en-US" sz="1600" b="0" dirty="0">
              <a:solidFill>
                <a:schemeClr val="tx1"/>
              </a:solidFill>
              <a:latin typeface="Nadeem" pitchFamily="2" charset="-78"/>
              <a:cs typeface="Nadeem" pitchFamily="2" charset="-78"/>
            </a:endParaRPr>
          </a:p>
          <a:p>
            <a:pPr marL="0" indent="0">
              <a:buNone/>
            </a:pPr>
            <a:endParaRPr lang="en-US" sz="1600" b="0" dirty="0">
              <a:solidFill>
                <a:schemeClr val="tx1"/>
              </a:solidFill>
              <a:latin typeface="Nadeem" pitchFamily="2" charset="-78"/>
              <a:cs typeface="Nadeem" pitchFamily="2" charset="-78"/>
            </a:endParaRPr>
          </a:p>
          <a:p>
            <a:pPr marL="0" indent="0">
              <a:buNone/>
            </a:pPr>
            <a:endParaRPr lang="en-US" sz="400" b="0" dirty="0">
              <a:solidFill>
                <a:schemeClr val="tx1"/>
              </a:solidFill>
              <a:latin typeface="Nadeem" pitchFamily="2" charset="-78"/>
              <a:cs typeface="Nadeem" pitchFamily="2" charset="-78"/>
            </a:endParaRPr>
          </a:p>
          <a:p>
            <a:pPr>
              <a:buFont typeface="Arial" panose="020B0604020202020204" pitchFamily="34" charset="0"/>
              <a:buChar char="•"/>
            </a:pPr>
            <a:r>
              <a:rPr lang="en-US" sz="1600" b="0" dirty="0">
                <a:solidFill>
                  <a:schemeClr val="tx1"/>
                </a:solidFill>
                <a:latin typeface="Nadeem" pitchFamily="2" charset="-78"/>
                <a:cs typeface="Nadeem" pitchFamily="2" charset="-78"/>
              </a:rPr>
              <a:t>Processing limitations for large multi-year satellite datasets </a:t>
            </a:r>
          </a:p>
          <a:p>
            <a:pPr marL="0" indent="0">
              <a:buNone/>
            </a:pPr>
            <a:endParaRPr lang="en-US" sz="1600" b="0" dirty="0">
              <a:solidFill>
                <a:schemeClr val="tx1"/>
              </a:solidFill>
              <a:latin typeface="Nadeem" pitchFamily="2" charset="-78"/>
              <a:cs typeface="Nadeem" pitchFamily="2" charset="-78"/>
            </a:endParaRPr>
          </a:p>
          <a:p>
            <a:pPr marL="0" indent="0">
              <a:buNone/>
            </a:pPr>
            <a:r>
              <a:rPr lang="en-LB" sz="1500" dirty="0">
                <a:solidFill>
                  <a:schemeClr val="tx1"/>
                </a:solidFill>
                <a:latin typeface="Nadeem" pitchFamily="2" charset="-78"/>
                <a:cs typeface="Nadeem" pitchFamily="2" charset="-78"/>
              </a:rPr>
              <a:t>3. </a:t>
            </a:r>
            <a:r>
              <a:rPr lang="en-US" sz="1500" dirty="0">
                <a:solidFill>
                  <a:schemeClr val="tx1"/>
                </a:solidFill>
                <a:latin typeface="Nadeem" pitchFamily="2" charset="-78"/>
                <a:cs typeface="Nadeem" pitchFamily="2" charset="-78"/>
              </a:rPr>
              <a:t>Model Constraints</a:t>
            </a:r>
          </a:p>
          <a:p>
            <a:pPr>
              <a:buFont typeface="Arial" panose="020B0604020202020204" pitchFamily="34" charset="0"/>
              <a:buChar char="•"/>
            </a:pPr>
            <a:r>
              <a:rPr lang="en-US" sz="1500" b="0" dirty="0">
                <a:solidFill>
                  <a:schemeClr val="tx1"/>
                </a:solidFill>
                <a:latin typeface="Nadeem" pitchFamily="2" charset="-78"/>
                <a:cs typeface="Nadeem" pitchFamily="2" charset="-78"/>
              </a:rPr>
              <a:t>Sensitivity to sequence length selection </a:t>
            </a:r>
          </a:p>
          <a:p>
            <a:pPr>
              <a:buFont typeface="Arial" panose="020B0604020202020204" pitchFamily="34" charset="0"/>
              <a:buChar char="•"/>
            </a:pPr>
            <a:r>
              <a:rPr lang="en-US" sz="1500" b="0" dirty="0">
                <a:solidFill>
                  <a:schemeClr val="tx1"/>
                </a:solidFill>
                <a:latin typeface="Nadeem" pitchFamily="2" charset="-78"/>
                <a:cs typeface="Nadeem" pitchFamily="2" charset="-78"/>
              </a:rPr>
              <a:t>Risk of overfitting with long sequences </a:t>
            </a:r>
          </a:p>
          <a:p>
            <a:pPr>
              <a:buFont typeface="Arial" panose="020B0604020202020204" pitchFamily="34" charset="0"/>
              <a:buChar char="•"/>
            </a:pPr>
            <a:r>
              <a:rPr lang="en-US" sz="1500" b="0" dirty="0">
                <a:solidFill>
                  <a:schemeClr val="tx1"/>
                </a:solidFill>
                <a:latin typeface="Nadeem" pitchFamily="2" charset="-78"/>
                <a:cs typeface="Nadeem" pitchFamily="2" charset="-78"/>
              </a:rPr>
              <a:t>Difficulty capturing extreme snow </a:t>
            </a:r>
          </a:p>
          <a:p>
            <a:pPr marL="0" indent="0">
              <a:buNone/>
            </a:pPr>
            <a:r>
              <a:rPr lang="en-US" sz="1500" b="0" dirty="0">
                <a:solidFill>
                  <a:schemeClr val="tx1"/>
                </a:solidFill>
                <a:latin typeface="Nadeem" pitchFamily="2" charset="-78"/>
                <a:cs typeface="Nadeem" pitchFamily="2" charset="-78"/>
              </a:rPr>
              <a:t>	peaks accurately </a:t>
            </a:r>
          </a:p>
          <a:p>
            <a:pPr marL="0" indent="0">
              <a:buNone/>
            </a:pPr>
            <a:endParaRPr lang="en-US" sz="1600" b="0" dirty="0">
              <a:solidFill>
                <a:schemeClr val="tx1"/>
              </a:solidFill>
              <a:latin typeface="Nadeem" pitchFamily="2" charset="-78"/>
              <a:cs typeface="Nadeem" pitchFamily="2" charset="-78"/>
            </a:endParaRPr>
          </a:p>
        </p:txBody>
      </p:sp>
      <p:sp>
        <p:nvSpPr>
          <p:cNvPr id="6" name="Slide Number Placeholder 5"/>
          <p:cNvSpPr>
            <a:spLocks noGrp="1"/>
          </p:cNvSpPr>
          <p:nvPr>
            <p:ph type="sldNum" sz="quarter" idx="12"/>
          </p:nvPr>
        </p:nvSpPr>
        <p:spPr>
          <a:xfrm>
            <a:off x="7908723" y="6590810"/>
            <a:ext cx="1071152" cy="365125"/>
          </a:xfrm>
        </p:spPr>
        <p:txBody>
          <a:bodyPr/>
          <a:lstStyle/>
          <a:p>
            <a:fld id="{7F40025E-8A47-7E48-AA2F-82A25E5E3F97}" type="slidenum">
              <a:rPr lang="fr-FR" altLang="en-US" smtClean="0"/>
              <a:pPr/>
              <a:t>5</a:t>
            </a:fld>
            <a:endParaRPr lang="fr-FR" altLang="en-US"/>
          </a:p>
        </p:txBody>
      </p:sp>
      <p:graphicFrame>
        <p:nvGraphicFramePr>
          <p:cNvPr id="13" name="Table 13">
            <a:extLst>
              <a:ext uri="{FF2B5EF4-FFF2-40B4-BE49-F238E27FC236}">
                <a16:creationId xmlns:a16="http://schemas.microsoft.com/office/drawing/2014/main" id="{DEE7FF2A-7080-7614-E51C-E61077AEB326}"/>
              </a:ext>
            </a:extLst>
          </p:cNvPr>
          <p:cNvGraphicFramePr>
            <a:graphicFrameLocks noGrp="1"/>
          </p:cNvGraphicFramePr>
          <p:nvPr>
            <p:extLst>
              <p:ext uri="{D42A27DB-BD31-4B8C-83A1-F6EECF244321}">
                <p14:modId xmlns:p14="http://schemas.microsoft.com/office/powerpoint/2010/main" val="3628663222"/>
              </p:ext>
            </p:extLst>
          </p:nvPr>
        </p:nvGraphicFramePr>
        <p:xfrm>
          <a:off x="888076" y="2660924"/>
          <a:ext cx="6651171" cy="914400"/>
        </p:xfrm>
        <a:graphic>
          <a:graphicData uri="http://schemas.openxmlformats.org/drawingml/2006/table">
            <a:tbl>
              <a:tblPr firstRow="1" bandRow="1">
                <a:tableStyleId>{2D5ABB26-0587-4C30-8999-92F81FD0307C}</a:tableStyleId>
              </a:tblPr>
              <a:tblGrid>
                <a:gridCol w="2217057">
                  <a:extLst>
                    <a:ext uri="{9D8B030D-6E8A-4147-A177-3AD203B41FA5}">
                      <a16:colId xmlns:a16="http://schemas.microsoft.com/office/drawing/2014/main" val="2628808309"/>
                    </a:ext>
                  </a:extLst>
                </a:gridCol>
                <a:gridCol w="2217057">
                  <a:extLst>
                    <a:ext uri="{9D8B030D-6E8A-4147-A177-3AD203B41FA5}">
                      <a16:colId xmlns:a16="http://schemas.microsoft.com/office/drawing/2014/main" val="3787941092"/>
                    </a:ext>
                  </a:extLst>
                </a:gridCol>
                <a:gridCol w="2217057">
                  <a:extLst>
                    <a:ext uri="{9D8B030D-6E8A-4147-A177-3AD203B41FA5}">
                      <a16:colId xmlns:a16="http://schemas.microsoft.com/office/drawing/2014/main" val="2007141631"/>
                    </a:ext>
                  </a:extLst>
                </a:gridCol>
              </a:tblGrid>
              <a:tr h="276768">
                <a:tc>
                  <a:txBody>
                    <a:bodyPr/>
                    <a:lstStyle/>
                    <a:p>
                      <a:endParaRPr lang="en-LB" sz="1400" b="1" dirty="0">
                        <a:latin typeface="Nadeem" pitchFamily="2" charset="-78"/>
                        <a:cs typeface="Nadeem" pitchFamily="2" charset="-78"/>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LB" sz="1400" b="1" dirty="0">
                          <a:latin typeface="Nadeem" pitchFamily="2" charset="-78"/>
                          <a:cs typeface="Nadeem" pitchFamily="2" charset="-78"/>
                        </a:rPr>
                        <a:t>Spatial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LB" sz="1400" b="1" dirty="0">
                          <a:latin typeface="Nadeem" pitchFamily="2" charset="-78"/>
                          <a:cs typeface="Nadeem" pitchFamily="2" charset="-78"/>
                        </a:rPr>
                        <a:t>Temporal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98606439"/>
                  </a:ext>
                </a:extLst>
              </a:tr>
              <a:tr h="276768">
                <a:tc>
                  <a:txBody>
                    <a:bodyPr/>
                    <a:lstStyle/>
                    <a:p>
                      <a:r>
                        <a:rPr lang="en-LB" sz="1400" b="1" dirty="0">
                          <a:latin typeface="Nadeem" pitchFamily="2" charset="-78"/>
                          <a:cs typeface="Nadeem" pitchFamily="2" charset="-78"/>
                        </a:rPr>
                        <a:t>MODIS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LB" sz="1400" dirty="0">
                          <a:latin typeface="Nadeem" pitchFamily="2" charset="-78"/>
                          <a:cs typeface="Nadeem" pitchFamily="2" charset="-78"/>
                        </a:rPr>
                        <a:t>Low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LB" sz="1400" dirty="0">
                          <a:latin typeface="Nadeem" pitchFamily="2" charset="-78"/>
                          <a:cs typeface="Nadeem" pitchFamily="2" charset="-78"/>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4670509"/>
                  </a:ext>
                </a:extLst>
              </a:tr>
              <a:tr h="276768">
                <a:tc>
                  <a:txBody>
                    <a:bodyPr/>
                    <a:lstStyle/>
                    <a:p>
                      <a:r>
                        <a:rPr lang="en-LB" sz="1400" b="1" dirty="0">
                          <a:latin typeface="Nadeem" pitchFamily="2" charset="-78"/>
                          <a:cs typeface="Nadeem" pitchFamily="2" charset="-78"/>
                        </a:rPr>
                        <a:t>Sentinel-2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LB" sz="1400" dirty="0">
                          <a:latin typeface="Nadeem" pitchFamily="2" charset="-78"/>
                          <a:cs typeface="Nadeem" pitchFamily="2" charset="-78"/>
                        </a:rPr>
                        <a:t>High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LB" sz="1400" dirty="0">
                          <a:latin typeface="Nadeem" pitchFamily="2" charset="-78"/>
                          <a:cs typeface="Nadeem" pitchFamily="2" charset="-78"/>
                        </a:rPr>
                        <a:t>Low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4969491"/>
                  </a:ext>
                </a:extLst>
              </a:tr>
            </a:tbl>
          </a:graphicData>
        </a:graphic>
      </p:graphicFrame>
      <p:pic>
        <p:nvPicPr>
          <p:cNvPr id="17" name="Graphic 16" descr="Arrow Down with solid fill">
            <a:extLst>
              <a:ext uri="{FF2B5EF4-FFF2-40B4-BE49-F238E27FC236}">
                <a16:creationId xmlns:a16="http://schemas.microsoft.com/office/drawing/2014/main" id="{0857DFF0-EEF1-05E4-0752-F318D5343AA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685704" y="3009267"/>
            <a:ext cx="217714" cy="217714"/>
          </a:xfrm>
          <a:prstGeom prst="rect">
            <a:avLst/>
          </a:prstGeom>
        </p:spPr>
      </p:pic>
      <p:pic>
        <p:nvPicPr>
          <p:cNvPr id="19" name="Graphic 18" descr="Arrow Up with solid fill">
            <a:extLst>
              <a:ext uri="{FF2B5EF4-FFF2-40B4-BE49-F238E27FC236}">
                <a16:creationId xmlns:a16="http://schemas.microsoft.com/office/drawing/2014/main" id="{6052A235-45F5-69E4-8A86-CC1D161F06B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685704" y="3321324"/>
            <a:ext cx="217714" cy="217714"/>
          </a:xfrm>
          <a:prstGeom prst="rect">
            <a:avLst/>
          </a:prstGeom>
        </p:spPr>
      </p:pic>
      <p:pic>
        <p:nvPicPr>
          <p:cNvPr id="20" name="Graphic 19" descr="Arrow Down with solid fill">
            <a:extLst>
              <a:ext uri="{FF2B5EF4-FFF2-40B4-BE49-F238E27FC236}">
                <a16:creationId xmlns:a16="http://schemas.microsoft.com/office/drawing/2014/main" id="{51D7FFC8-484A-6B36-1953-973223355DF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57612" y="3313749"/>
            <a:ext cx="217714" cy="217714"/>
          </a:xfrm>
          <a:prstGeom prst="rect">
            <a:avLst/>
          </a:prstGeom>
        </p:spPr>
      </p:pic>
      <p:pic>
        <p:nvPicPr>
          <p:cNvPr id="21" name="Graphic 20" descr="Arrow Up with solid fill">
            <a:extLst>
              <a:ext uri="{FF2B5EF4-FFF2-40B4-BE49-F238E27FC236}">
                <a16:creationId xmlns:a16="http://schemas.microsoft.com/office/drawing/2014/main" id="{C622E2B7-AF5C-8D5C-FAFA-6BC10BA5F6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53772" y="3009267"/>
            <a:ext cx="217714" cy="217714"/>
          </a:xfrm>
          <a:prstGeom prst="rect">
            <a:avLst/>
          </a:prstGeom>
        </p:spPr>
      </p:pic>
      <p:pic>
        <p:nvPicPr>
          <p:cNvPr id="6146" name="Picture 2" descr="Link - Free multimedia icons">
            <a:extLst>
              <a:ext uri="{FF2B5EF4-FFF2-40B4-BE49-F238E27FC236}">
                <a16:creationId xmlns:a16="http://schemas.microsoft.com/office/drawing/2014/main" id="{D568589A-791D-D761-EBF2-58C1700D5EA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3021" y="517500"/>
            <a:ext cx="524796" cy="524796"/>
          </a:xfrm>
          <a:prstGeom prst="rect">
            <a:avLst/>
          </a:prstGeom>
          <a:noFill/>
          <a:extLst>
            <a:ext uri="{909E8E84-426E-40DD-AFC4-6F175D3DCCD1}">
              <a14:hiddenFill xmlns:a14="http://schemas.microsoft.com/office/drawing/2010/main">
                <a:solidFill>
                  <a:srgbClr val="FFFFFF"/>
                </a:solidFill>
              </a14:hiddenFill>
            </a:ext>
          </a:extLst>
        </p:spPr>
      </p:pic>
      <p:sp>
        <p:nvSpPr>
          <p:cNvPr id="23" name="Date Placeholder 3">
            <a:extLst>
              <a:ext uri="{FF2B5EF4-FFF2-40B4-BE49-F238E27FC236}">
                <a16:creationId xmlns:a16="http://schemas.microsoft.com/office/drawing/2014/main" id="{5D0D7F1B-C78A-5CF9-73B2-59A6757C299F}"/>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24" name="Footer Placeholder 4">
            <a:extLst>
              <a:ext uri="{FF2B5EF4-FFF2-40B4-BE49-F238E27FC236}">
                <a16:creationId xmlns:a16="http://schemas.microsoft.com/office/drawing/2014/main" id="{541CDDB8-5D0C-2606-9AA2-7075E1BF0284}"/>
              </a:ext>
            </a:extLst>
          </p:cNvPr>
          <p:cNvSpPr txBox="1">
            <a:spLocks/>
          </p:cNvSpPr>
          <p:nvPr/>
        </p:nvSpPr>
        <p:spPr>
          <a:xfrm>
            <a:off x="1487498"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graphicFrame>
        <p:nvGraphicFramePr>
          <p:cNvPr id="25" name="Table 26">
            <a:extLst>
              <a:ext uri="{FF2B5EF4-FFF2-40B4-BE49-F238E27FC236}">
                <a16:creationId xmlns:a16="http://schemas.microsoft.com/office/drawing/2014/main" id="{A2DA13E1-7743-C89D-38E4-8CDE78A25C97}"/>
              </a:ext>
            </a:extLst>
          </p:cNvPr>
          <p:cNvGraphicFramePr>
            <a:graphicFrameLocks noGrp="1"/>
          </p:cNvGraphicFramePr>
          <p:nvPr>
            <p:extLst>
              <p:ext uri="{D42A27DB-BD31-4B8C-83A1-F6EECF244321}">
                <p14:modId xmlns:p14="http://schemas.microsoft.com/office/powerpoint/2010/main" val="1632370681"/>
              </p:ext>
            </p:extLst>
          </p:nvPr>
        </p:nvGraphicFramePr>
        <p:xfrm>
          <a:off x="4572000" y="4285112"/>
          <a:ext cx="4114798" cy="1889760"/>
        </p:xfrm>
        <a:graphic>
          <a:graphicData uri="http://schemas.openxmlformats.org/drawingml/2006/table">
            <a:tbl>
              <a:tblPr firstRow="1" bandRow="1">
                <a:tableStyleId>{5940675A-B579-460E-94D1-54222C63F5DA}</a:tableStyleId>
              </a:tblPr>
              <a:tblGrid>
                <a:gridCol w="4114798">
                  <a:extLst>
                    <a:ext uri="{9D8B030D-6E8A-4147-A177-3AD203B41FA5}">
                      <a16:colId xmlns:a16="http://schemas.microsoft.com/office/drawing/2014/main" val="176690259"/>
                    </a:ext>
                  </a:extLst>
                </a:gridCol>
              </a:tblGrid>
              <a:tr h="276341">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Nadeem" pitchFamily="2" charset="-78"/>
                          <a:cs typeface="Nadeem" pitchFamily="2" charset="-78"/>
                        </a:rPr>
                        <a:t>Standards Applied</a:t>
                      </a:r>
                    </a:p>
                  </a:txBody>
                  <a:tcPr>
                    <a:solidFill>
                      <a:schemeClr val="accent1">
                        <a:lumMod val="20000"/>
                        <a:lumOff val="80000"/>
                      </a:schemeClr>
                    </a:solidFill>
                  </a:tcPr>
                </a:tc>
                <a:extLst>
                  <a:ext uri="{0D108BD9-81ED-4DB2-BD59-A6C34878D82A}">
                    <a16:rowId xmlns:a16="http://schemas.microsoft.com/office/drawing/2014/main" val="3403654702"/>
                  </a:ext>
                </a:extLst>
              </a:tr>
              <a:tr h="1053631">
                <a:tc>
                  <a:txBody>
                    <a:bodyPr/>
                    <a:lstStyle/>
                    <a:p>
                      <a:pPr marL="285750" indent="-285750">
                        <a:buFont typeface="Arial" panose="020B0604020202020204" pitchFamily="34" charset="0"/>
                        <a:buChar char="•"/>
                      </a:pPr>
                      <a:r>
                        <a:rPr lang="en-US" sz="1400" b="0" dirty="0">
                          <a:solidFill>
                            <a:schemeClr val="tx1"/>
                          </a:solidFill>
                          <a:latin typeface="Nadeem" pitchFamily="2" charset="-78"/>
                          <a:cs typeface="Nadeem" pitchFamily="2" charset="-78"/>
                        </a:rPr>
                        <a:t>ESA Copernicus Sentinel-2 data format compliance </a:t>
                      </a:r>
                    </a:p>
                    <a:p>
                      <a:pPr marL="285750" indent="-285750">
                        <a:buFont typeface="Arial" panose="020B0604020202020204" pitchFamily="34" charset="0"/>
                        <a:buChar char="•"/>
                      </a:pPr>
                      <a:r>
                        <a:rPr lang="en-US" sz="1400" b="0" dirty="0">
                          <a:solidFill>
                            <a:schemeClr val="tx1"/>
                          </a:solidFill>
                          <a:latin typeface="Nadeem" pitchFamily="2" charset="-78"/>
                          <a:cs typeface="Nadeem" pitchFamily="2" charset="-78"/>
                        </a:rPr>
                        <a:t>NASA MODIS data usage standards </a:t>
                      </a:r>
                    </a:p>
                    <a:p>
                      <a:pPr marL="285750" indent="-285750">
                        <a:buFont typeface="Arial" panose="020B0604020202020204" pitchFamily="34" charset="0"/>
                        <a:buChar char="•"/>
                      </a:pPr>
                      <a:r>
                        <a:rPr lang="en-US" sz="1400" b="0" dirty="0">
                          <a:solidFill>
                            <a:schemeClr val="tx1"/>
                          </a:solidFill>
                          <a:latin typeface="Nadeem" pitchFamily="2" charset="-78"/>
                          <a:cs typeface="Nadeem" pitchFamily="2" charset="-78"/>
                        </a:rPr>
                        <a:t>NDSI-based snow detection (remote sensing standard) </a:t>
                      </a:r>
                    </a:p>
                    <a:p>
                      <a:pPr marL="285750" indent="-285750">
                        <a:buFont typeface="Arial" panose="020B0604020202020204" pitchFamily="34" charset="0"/>
                        <a:buChar char="•"/>
                      </a:pPr>
                      <a:r>
                        <a:rPr lang="en-US" sz="1400" b="0" dirty="0">
                          <a:solidFill>
                            <a:schemeClr val="tx1"/>
                          </a:solidFill>
                          <a:latin typeface="Nadeem" pitchFamily="2" charset="-78"/>
                          <a:cs typeface="Nadeem" pitchFamily="2" charset="-78"/>
                        </a:rPr>
                        <a:t>Standard ML pipeline: normalization + train/test split</a:t>
                      </a:r>
                      <a:endParaRPr lang="en-LB" sz="1400" dirty="0">
                        <a:latin typeface="Nadeem" pitchFamily="2" charset="-78"/>
                        <a:cs typeface="Nadeem" pitchFamily="2" charset="-78"/>
                      </a:endParaRPr>
                    </a:p>
                  </a:txBody>
                  <a:tcPr/>
                </a:tc>
                <a:extLst>
                  <a:ext uri="{0D108BD9-81ED-4DB2-BD59-A6C34878D82A}">
                    <a16:rowId xmlns:a16="http://schemas.microsoft.com/office/drawing/2014/main" val="2132533735"/>
                  </a:ext>
                </a:extLst>
              </a:tr>
            </a:tbl>
          </a:graphicData>
        </a:graphic>
      </p:graphicFrame>
    </p:spTree>
    <p:extLst>
      <p:ext uri="{BB962C8B-B14F-4D97-AF65-F5344CB8AC3E}">
        <p14:creationId xmlns:p14="http://schemas.microsoft.com/office/powerpoint/2010/main" val="1191294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59880" y="718060"/>
            <a:ext cx="8229599" cy="747713"/>
          </a:xfrm>
        </p:spPr>
        <p:txBody>
          <a:bodyPr/>
          <a:lstStyle/>
          <a:p>
            <a:r>
              <a:rPr lang="en-US" sz="2800" dirty="0">
                <a:solidFill>
                  <a:srgbClr val="0A1C72"/>
                </a:solidFill>
                <a:latin typeface="Nadeem" pitchFamily="2" charset="-78"/>
                <a:cs typeface="Nadeem" pitchFamily="2" charset="-78"/>
              </a:rPr>
              <a:t>Related Works</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6</a:t>
            </a:fld>
            <a:endParaRPr lang="fr-FR" altLang="en-US"/>
          </a:p>
        </p:txBody>
      </p:sp>
      <p:graphicFrame>
        <p:nvGraphicFramePr>
          <p:cNvPr id="8" name="Table 7">
            <a:extLst>
              <a:ext uri="{FF2B5EF4-FFF2-40B4-BE49-F238E27FC236}">
                <a16:creationId xmlns:a16="http://schemas.microsoft.com/office/drawing/2014/main" id="{13F39E0A-1B7F-2C6D-F7E9-B52C847EBBA0}"/>
              </a:ext>
            </a:extLst>
          </p:cNvPr>
          <p:cNvGraphicFramePr>
            <a:graphicFrameLocks noGrp="1"/>
          </p:cNvGraphicFramePr>
          <p:nvPr>
            <p:extLst>
              <p:ext uri="{D42A27DB-BD31-4B8C-83A1-F6EECF244321}">
                <p14:modId xmlns:p14="http://schemas.microsoft.com/office/powerpoint/2010/main" val="547585554"/>
              </p:ext>
            </p:extLst>
          </p:nvPr>
        </p:nvGraphicFramePr>
        <p:xfrm>
          <a:off x="628650" y="1465773"/>
          <a:ext cx="7886700" cy="3644439"/>
        </p:xfrm>
        <a:graphic>
          <a:graphicData uri="http://schemas.openxmlformats.org/drawingml/2006/table">
            <a:tbl>
              <a:tblPr>
                <a:tableStyleId>{5940675A-B579-460E-94D1-54222C63F5DA}</a:tableStyleId>
              </a:tblPr>
              <a:tblGrid>
                <a:gridCol w="1711779">
                  <a:extLst>
                    <a:ext uri="{9D8B030D-6E8A-4147-A177-3AD203B41FA5}">
                      <a16:colId xmlns:a16="http://schemas.microsoft.com/office/drawing/2014/main" val="286972697"/>
                    </a:ext>
                  </a:extLst>
                </a:gridCol>
                <a:gridCol w="1937657">
                  <a:extLst>
                    <a:ext uri="{9D8B030D-6E8A-4147-A177-3AD203B41FA5}">
                      <a16:colId xmlns:a16="http://schemas.microsoft.com/office/drawing/2014/main" val="580426913"/>
                    </a:ext>
                  </a:extLst>
                </a:gridCol>
                <a:gridCol w="1894114">
                  <a:extLst>
                    <a:ext uri="{9D8B030D-6E8A-4147-A177-3AD203B41FA5}">
                      <a16:colId xmlns:a16="http://schemas.microsoft.com/office/drawing/2014/main" val="387846662"/>
                    </a:ext>
                  </a:extLst>
                </a:gridCol>
                <a:gridCol w="2343150">
                  <a:extLst>
                    <a:ext uri="{9D8B030D-6E8A-4147-A177-3AD203B41FA5}">
                      <a16:colId xmlns:a16="http://schemas.microsoft.com/office/drawing/2014/main" val="849872630"/>
                    </a:ext>
                  </a:extLst>
                </a:gridCol>
              </a:tblGrid>
              <a:tr h="783270">
                <a:tc>
                  <a:txBody>
                    <a:bodyPr/>
                    <a:lstStyle/>
                    <a:p>
                      <a:r>
                        <a:rPr lang="en-US" sz="1400" b="1" dirty="0">
                          <a:latin typeface="Nadeem" pitchFamily="2" charset="-78"/>
                          <a:cs typeface="Nadeem" pitchFamily="2" charset="-78"/>
                        </a:rPr>
                        <a:t>Approach</a:t>
                      </a:r>
                    </a:p>
                  </a:txBody>
                  <a:tcPr anchor="ctr">
                    <a:solidFill>
                      <a:schemeClr val="accent1">
                        <a:lumMod val="20000"/>
                        <a:lumOff val="80000"/>
                      </a:schemeClr>
                    </a:solidFill>
                  </a:tcPr>
                </a:tc>
                <a:tc>
                  <a:txBody>
                    <a:bodyPr/>
                    <a:lstStyle/>
                    <a:p>
                      <a:r>
                        <a:rPr lang="en-US" sz="1400" b="1" dirty="0">
                          <a:latin typeface="Nadeem" pitchFamily="2" charset="-78"/>
                          <a:cs typeface="Nadeem" pitchFamily="2" charset="-78"/>
                        </a:rPr>
                        <a:t>Strengths</a:t>
                      </a:r>
                    </a:p>
                  </a:txBody>
                  <a:tcPr anchor="ctr">
                    <a:solidFill>
                      <a:schemeClr val="accent1">
                        <a:lumMod val="20000"/>
                        <a:lumOff val="80000"/>
                      </a:schemeClr>
                    </a:solidFill>
                  </a:tcPr>
                </a:tc>
                <a:tc>
                  <a:txBody>
                    <a:bodyPr/>
                    <a:lstStyle/>
                    <a:p>
                      <a:r>
                        <a:rPr lang="en-US" sz="1400" b="1" dirty="0">
                          <a:latin typeface="Nadeem" pitchFamily="2" charset="-78"/>
                          <a:cs typeface="Nadeem" pitchFamily="2" charset="-78"/>
                        </a:rPr>
                        <a:t>Limitations</a:t>
                      </a:r>
                    </a:p>
                  </a:txBody>
                  <a:tcPr anchor="ctr">
                    <a:solidFill>
                      <a:schemeClr val="accent1">
                        <a:lumMod val="20000"/>
                        <a:lumOff val="80000"/>
                      </a:schemeClr>
                    </a:solidFill>
                  </a:tcPr>
                </a:tc>
                <a:tc>
                  <a:txBody>
                    <a:bodyPr/>
                    <a:lstStyle/>
                    <a:p>
                      <a:r>
                        <a:rPr lang="en-US" sz="1400" b="1" dirty="0">
                          <a:latin typeface="Nadeem" pitchFamily="2" charset="-78"/>
                          <a:cs typeface="Nadeem" pitchFamily="2" charset="-78"/>
                        </a:rPr>
                        <a:t>Suitability for Snow Forecasting</a:t>
                      </a:r>
                    </a:p>
                  </a:txBody>
                  <a:tcPr anchor="ctr">
                    <a:solidFill>
                      <a:schemeClr val="accent1">
                        <a:lumMod val="20000"/>
                        <a:lumOff val="80000"/>
                      </a:schemeClr>
                    </a:solidFill>
                  </a:tcPr>
                </a:tc>
                <a:extLst>
                  <a:ext uri="{0D108BD9-81ED-4DB2-BD59-A6C34878D82A}">
                    <a16:rowId xmlns:a16="http://schemas.microsoft.com/office/drawing/2014/main" val="186625220"/>
                  </a:ext>
                </a:extLst>
              </a:tr>
              <a:tr h="953723">
                <a:tc>
                  <a:txBody>
                    <a:bodyPr/>
                    <a:lstStyle/>
                    <a:p>
                      <a:r>
                        <a:rPr lang="en-US" sz="1400" b="1" dirty="0">
                          <a:latin typeface="Nadeem" pitchFamily="2" charset="-78"/>
                          <a:cs typeface="Nadeem" pitchFamily="2" charset="-78"/>
                        </a:rPr>
                        <a:t>ARIMA</a:t>
                      </a:r>
                    </a:p>
                  </a:txBody>
                  <a:tcPr anchor="ctr">
                    <a:solidFill>
                      <a:schemeClr val="accent1">
                        <a:lumMod val="20000"/>
                        <a:lumOff val="80000"/>
                      </a:schemeClr>
                    </a:solidFill>
                  </a:tcPr>
                </a:tc>
                <a:tc>
                  <a:txBody>
                    <a:bodyPr/>
                    <a:lstStyle/>
                    <a:p>
                      <a:r>
                        <a:rPr lang="en-US" sz="1400" dirty="0">
                          <a:latin typeface="Nadeem" pitchFamily="2" charset="-78"/>
                          <a:cs typeface="Nadeem" pitchFamily="2" charset="-78"/>
                        </a:rPr>
                        <a:t>Simple, interpretable</a:t>
                      </a:r>
                    </a:p>
                  </a:txBody>
                  <a:tcPr anchor="ctr"/>
                </a:tc>
                <a:tc>
                  <a:txBody>
                    <a:bodyPr/>
                    <a:lstStyle/>
                    <a:p>
                      <a:r>
                        <a:rPr lang="en-US" sz="1400">
                          <a:latin typeface="Nadeem" pitchFamily="2" charset="-78"/>
                          <a:cs typeface="Nadeem" pitchFamily="2" charset="-78"/>
                        </a:rPr>
                        <a:t>Linear assumptions</a:t>
                      </a:r>
                    </a:p>
                  </a:txBody>
                  <a:tcPr anchor="ctr"/>
                </a:tc>
                <a:tc>
                  <a:txBody>
                    <a:bodyPr/>
                    <a:lstStyle/>
                    <a:p>
                      <a:r>
                        <a:rPr lang="en-US" sz="1400" dirty="0">
                          <a:latin typeface="Nadeem" pitchFamily="2" charset="-78"/>
                          <a:cs typeface="Nadeem" pitchFamily="2" charset="-78"/>
                        </a:rPr>
                        <a:t>       Poor for nonlinear snow dynamics</a:t>
                      </a:r>
                    </a:p>
                  </a:txBody>
                  <a:tcPr anchor="ctr">
                    <a:solidFill>
                      <a:schemeClr val="accent2">
                        <a:lumMod val="20000"/>
                        <a:lumOff val="80000"/>
                      </a:schemeClr>
                    </a:solidFill>
                  </a:tcPr>
                </a:tc>
                <a:extLst>
                  <a:ext uri="{0D108BD9-81ED-4DB2-BD59-A6C34878D82A}">
                    <a16:rowId xmlns:a16="http://schemas.microsoft.com/office/drawing/2014/main" val="2362613689"/>
                  </a:ext>
                </a:extLst>
              </a:tr>
              <a:tr h="953723">
                <a:tc>
                  <a:txBody>
                    <a:bodyPr/>
                    <a:lstStyle/>
                    <a:p>
                      <a:r>
                        <a:rPr lang="en-US" sz="1400" b="1" dirty="0">
                          <a:latin typeface="Nadeem" pitchFamily="2" charset="-78"/>
                          <a:cs typeface="Nadeem" pitchFamily="2" charset="-78"/>
                        </a:rPr>
                        <a:t>Random Forest</a:t>
                      </a:r>
                    </a:p>
                  </a:txBody>
                  <a:tcPr anchor="ctr">
                    <a:solidFill>
                      <a:schemeClr val="accent1">
                        <a:lumMod val="20000"/>
                        <a:lumOff val="80000"/>
                      </a:schemeClr>
                    </a:solidFill>
                  </a:tcPr>
                </a:tc>
                <a:tc>
                  <a:txBody>
                    <a:bodyPr/>
                    <a:lstStyle/>
                    <a:p>
                      <a:r>
                        <a:rPr lang="en-US" sz="1400" dirty="0">
                          <a:latin typeface="Nadeem" pitchFamily="2" charset="-78"/>
                          <a:cs typeface="Nadeem" pitchFamily="2" charset="-78"/>
                        </a:rPr>
                        <a:t>Handles nonlinear data</a:t>
                      </a:r>
                    </a:p>
                  </a:txBody>
                  <a:tcPr anchor="ctr"/>
                </a:tc>
                <a:tc>
                  <a:txBody>
                    <a:bodyPr/>
                    <a:lstStyle/>
                    <a:p>
                      <a:r>
                        <a:rPr lang="en-US" sz="1400">
                          <a:latin typeface="Nadeem" pitchFamily="2" charset="-78"/>
                          <a:cs typeface="Nadeem" pitchFamily="2" charset="-78"/>
                        </a:rPr>
                        <a:t>No temporal memory</a:t>
                      </a:r>
                    </a:p>
                  </a:txBody>
                  <a:tcPr anchor="ctr"/>
                </a:tc>
                <a:tc>
                  <a:txBody>
                    <a:bodyPr/>
                    <a:lstStyle/>
                    <a:p>
                      <a:r>
                        <a:rPr lang="en-US" sz="2400" dirty="0">
                          <a:latin typeface="Nadeem" pitchFamily="2" charset="-78"/>
                          <a:cs typeface="Nadeem" pitchFamily="2" charset="-78"/>
                        </a:rPr>
                        <a:t> ! </a:t>
                      </a:r>
                      <a:r>
                        <a:rPr lang="en-US" sz="1400" dirty="0">
                          <a:latin typeface="Nadeem" pitchFamily="2" charset="-78"/>
                          <a:cs typeface="Nadeem" pitchFamily="2" charset="-78"/>
                        </a:rPr>
                        <a:t>Limited for time series</a:t>
                      </a:r>
                    </a:p>
                  </a:txBody>
                  <a:tcPr anchor="ctr">
                    <a:solidFill>
                      <a:schemeClr val="accent6">
                        <a:lumMod val="20000"/>
                        <a:lumOff val="80000"/>
                      </a:schemeClr>
                    </a:solidFill>
                  </a:tcPr>
                </a:tc>
                <a:extLst>
                  <a:ext uri="{0D108BD9-81ED-4DB2-BD59-A6C34878D82A}">
                    <a16:rowId xmlns:a16="http://schemas.microsoft.com/office/drawing/2014/main" val="1919745213"/>
                  </a:ext>
                </a:extLst>
              </a:tr>
              <a:tr h="953723">
                <a:tc>
                  <a:txBody>
                    <a:bodyPr/>
                    <a:lstStyle/>
                    <a:p>
                      <a:r>
                        <a:rPr lang="en-US" sz="1400" b="1" dirty="0">
                          <a:latin typeface="Nadeem" pitchFamily="2" charset="-78"/>
                          <a:cs typeface="Nadeem" pitchFamily="2" charset="-78"/>
                        </a:rPr>
                        <a:t>LSTM (our choice)</a:t>
                      </a:r>
                    </a:p>
                  </a:txBody>
                  <a:tcPr anchor="ctr">
                    <a:solidFill>
                      <a:schemeClr val="accent1">
                        <a:lumMod val="20000"/>
                        <a:lumOff val="80000"/>
                      </a:schemeClr>
                    </a:solidFill>
                  </a:tcPr>
                </a:tc>
                <a:tc>
                  <a:txBody>
                    <a:bodyPr/>
                    <a:lstStyle/>
                    <a:p>
                      <a:r>
                        <a:rPr lang="en-US" sz="1400" dirty="0">
                          <a:latin typeface="Nadeem" pitchFamily="2" charset="-78"/>
                          <a:cs typeface="Nadeem" pitchFamily="2" charset="-78"/>
                        </a:rPr>
                        <a:t>Captures temporal dependencies</a:t>
                      </a:r>
                    </a:p>
                  </a:txBody>
                  <a:tcPr anchor="ctr"/>
                </a:tc>
                <a:tc>
                  <a:txBody>
                    <a:bodyPr/>
                    <a:lstStyle/>
                    <a:p>
                      <a:r>
                        <a:rPr lang="en-US" sz="1400" dirty="0">
                          <a:latin typeface="Nadeem" pitchFamily="2" charset="-78"/>
                          <a:cs typeface="Nadeem" pitchFamily="2" charset="-78"/>
                        </a:rPr>
                        <a:t>Needs tuning</a:t>
                      </a:r>
                    </a:p>
                  </a:txBody>
                  <a:tcPr anchor="ctr"/>
                </a:tc>
                <a:tc>
                  <a:txBody>
                    <a:bodyPr/>
                    <a:lstStyle/>
                    <a:p>
                      <a:pPr marL="285750" indent="-285750">
                        <a:buFont typeface="Wingdings" pitchFamily="2" charset="2"/>
                        <a:buChar char="ü"/>
                      </a:pPr>
                      <a:r>
                        <a:rPr lang="en-US" sz="1400" b="1" dirty="0">
                          <a:latin typeface="Nadeem" pitchFamily="2" charset="-78"/>
                          <a:cs typeface="Nadeem" pitchFamily="2" charset="-78"/>
                        </a:rPr>
                        <a:t>Best suited</a:t>
                      </a:r>
                    </a:p>
                  </a:txBody>
                  <a:tcPr anchor="ctr">
                    <a:solidFill>
                      <a:schemeClr val="accent3">
                        <a:lumMod val="20000"/>
                        <a:lumOff val="80000"/>
                      </a:schemeClr>
                    </a:solidFill>
                  </a:tcPr>
                </a:tc>
                <a:extLst>
                  <a:ext uri="{0D108BD9-81ED-4DB2-BD59-A6C34878D82A}">
                    <a16:rowId xmlns:a16="http://schemas.microsoft.com/office/drawing/2014/main" val="463391575"/>
                  </a:ext>
                </a:extLst>
              </a:tr>
            </a:tbl>
          </a:graphicData>
        </a:graphic>
      </p:graphicFrame>
      <p:sp>
        <p:nvSpPr>
          <p:cNvPr id="12" name="TextBox 11">
            <a:extLst>
              <a:ext uri="{FF2B5EF4-FFF2-40B4-BE49-F238E27FC236}">
                <a16:creationId xmlns:a16="http://schemas.microsoft.com/office/drawing/2014/main" id="{240854AD-8E6A-CC58-C647-FF5287E13EF3}"/>
              </a:ext>
            </a:extLst>
          </p:cNvPr>
          <p:cNvSpPr txBox="1"/>
          <p:nvPr/>
        </p:nvSpPr>
        <p:spPr>
          <a:xfrm>
            <a:off x="628649" y="5320273"/>
            <a:ext cx="7522029" cy="969496"/>
          </a:xfrm>
          <a:prstGeom prst="rect">
            <a:avLst/>
          </a:prstGeom>
          <a:noFill/>
        </p:spPr>
        <p:txBody>
          <a:bodyPr wrap="square">
            <a:spAutoFit/>
          </a:bodyPr>
          <a:lstStyle/>
          <a:p>
            <a:r>
              <a:rPr lang="en-US" sz="1600" b="1" dirty="0">
                <a:latin typeface="Nadeem" pitchFamily="2" charset="-78"/>
                <a:cs typeface="Nadeem" pitchFamily="2" charset="-78"/>
              </a:rPr>
              <a:t>Key Insight</a:t>
            </a:r>
          </a:p>
          <a:p>
            <a:endParaRPr lang="en-US" sz="900" b="1" dirty="0">
              <a:latin typeface="Nadeem" pitchFamily="2" charset="-78"/>
              <a:cs typeface="Nadeem" pitchFamily="2" charset="-78"/>
            </a:endParaRPr>
          </a:p>
          <a:p>
            <a:pPr marL="285750" indent="-285750">
              <a:buFont typeface="Arial" panose="020B0604020202020204" pitchFamily="34" charset="0"/>
              <a:buChar char="•"/>
            </a:pPr>
            <a:r>
              <a:rPr lang="en-US" sz="1600" dirty="0">
                <a:latin typeface="Nadeem" pitchFamily="2" charset="-78"/>
                <a:cs typeface="Nadeem" pitchFamily="2" charset="-78"/>
              </a:rPr>
              <a:t>Snow forecasting requires modeling nonlinear temporal behavior </a:t>
            </a:r>
          </a:p>
          <a:p>
            <a:pPr marL="285750" indent="-285750">
              <a:buFont typeface="Arial" panose="020B0604020202020204" pitchFamily="34" charset="0"/>
              <a:buChar char="•"/>
            </a:pPr>
            <a:r>
              <a:rPr lang="en-US" sz="1600" dirty="0">
                <a:latin typeface="Nadeem" pitchFamily="2" charset="-78"/>
                <a:cs typeface="Nadeem" pitchFamily="2" charset="-78"/>
              </a:rPr>
              <a:t>LSTM is more suitable for </a:t>
            </a:r>
            <a:r>
              <a:rPr lang="en-US" sz="1600" dirty="0" err="1">
                <a:latin typeface="Nadeem" pitchFamily="2" charset="-78"/>
                <a:cs typeface="Nadeem" pitchFamily="2" charset="-78"/>
              </a:rPr>
              <a:t>spatio</a:t>
            </a:r>
            <a:r>
              <a:rPr lang="en-US" sz="1600" dirty="0">
                <a:latin typeface="Nadeem" pitchFamily="2" charset="-78"/>
                <a:cs typeface="Nadeem" pitchFamily="2" charset="-78"/>
              </a:rPr>
              <a:t>-temporal satellite data</a:t>
            </a:r>
          </a:p>
        </p:txBody>
      </p:sp>
      <p:pic>
        <p:nvPicPr>
          <p:cNvPr id="1026" name="Picture 2" descr="Article PNG, Vector, PSD, and Clipart With Transparent Background for Free  Download | Pngtree">
            <a:extLst>
              <a:ext uri="{FF2B5EF4-FFF2-40B4-BE49-F238E27FC236}">
                <a16:creationId xmlns:a16="http://schemas.microsoft.com/office/drawing/2014/main" id="{1DB23F77-84F1-FCB7-8C70-8A92572A29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8649" y="599167"/>
            <a:ext cx="525237" cy="656546"/>
          </a:xfrm>
          <a:prstGeom prst="rect">
            <a:avLst/>
          </a:prstGeom>
          <a:noFill/>
          <a:extLst>
            <a:ext uri="{909E8E84-426E-40DD-AFC4-6F175D3DCCD1}">
              <a14:hiddenFill xmlns:a14="http://schemas.microsoft.com/office/drawing/2010/main">
                <a:solidFill>
                  <a:srgbClr val="FFFFFF"/>
                </a:solidFill>
              </a14:hiddenFill>
            </a:ext>
          </a:extLst>
        </p:spPr>
      </p:pic>
      <p:sp>
        <p:nvSpPr>
          <p:cNvPr id="16" name="Date Placeholder 3">
            <a:extLst>
              <a:ext uri="{FF2B5EF4-FFF2-40B4-BE49-F238E27FC236}">
                <a16:creationId xmlns:a16="http://schemas.microsoft.com/office/drawing/2014/main" id="{0324611E-ABDB-9F18-E8A8-398417447070}"/>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7" name="Footer Placeholder 4">
            <a:extLst>
              <a:ext uri="{FF2B5EF4-FFF2-40B4-BE49-F238E27FC236}">
                <a16:creationId xmlns:a16="http://schemas.microsoft.com/office/drawing/2014/main" id="{5EB65358-4836-10E2-0401-136C29517D5D}"/>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8" name="Graphic 17" descr="Arrow Down with solid fill">
            <a:extLst>
              <a:ext uri="{FF2B5EF4-FFF2-40B4-BE49-F238E27FC236}">
                <a16:creationId xmlns:a16="http://schemas.microsoft.com/office/drawing/2014/main" id="{ABF5AB49-4E31-5D4D-6BC8-C779E956392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65618" y="2455087"/>
            <a:ext cx="217714" cy="217714"/>
          </a:xfrm>
          <a:prstGeom prst="rect">
            <a:avLst/>
          </a:prstGeom>
        </p:spPr>
      </p:pic>
    </p:spTree>
    <p:extLst>
      <p:ext uri="{BB962C8B-B14F-4D97-AF65-F5344CB8AC3E}">
        <p14:creationId xmlns:p14="http://schemas.microsoft.com/office/powerpoint/2010/main" val="32326443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7499" y="522751"/>
            <a:ext cx="8244328" cy="825052"/>
          </a:xfrm>
        </p:spPr>
        <p:txBody>
          <a:bodyPr/>
          <a:lstStyle/>
          <a:p>
            <a:r>
              <a:rPr lang="en-US" sz="2800" dirty="0">
                <a:solidFill>
                  <a:srgbClr val="0A1C72"/>
                </a:solidFill>
                <a:latin typeface="Nadeem" pitchFamily="2" charset="-78"/>
                <a:cs typeface="Nadeem" pitchFamily="2" charset="-78"/>
              </a:rPr>
              <a:t>Solution Design </a:t>
            </a:r>
            <a:br>
              <a:rPr lang="en-US" dirty="0"/>
            </a:br>
            <a:r>
              <a:rPr lang="en-US" dirty="0">
                <a:solidFill>
                  <a:srgbClr val="0A1C72"/>
                </a:solidFill>
                <a:latin typeface="Nadeem" pitchFamily="2" charset="-78"/>
                <a:cs typeface="Nadeem" pitchFamily="2" charset="-78"/>
              </a:rPr>
              <a:t>Overview</a:t>
            </a:r>
            <a:endParaRPr lang="en-US" sz="2800" dirty="0">
              <a:solidFill>
                <a:srgbClr val="0A1C72"/>
              </a:solidFill>
              <a:latin typeface="Nadeem" pitchFamily="2" charset="-78"/>
              <a:cs typeface="Nadeem" pitchFamily="2" charset="-78"/>
            </a:endParaRPr>
          </a:p>
        </p:txBody>
      </p:sp>
      <p:sp>
        <p:nvSpPr>
          <p:cNvPr id="3" name="Content Placeholder 2"/>
          <p:cNvSpPr>
            <a:spLocks noGrp="1"/>
          </p:cNvSpPr>
          <p:nvPr>
            <p:ph idx="1"/>
          </p:nvPr>
        </p:nvSpPr>
        <p:spPr>
          <a:xfrm>
            <a:off x="212503" y="2335917"/>
            <a:ext cx="8881622" cy="4767626"/>
          </a:xfrm>
        </p:spPr>
        <p:txBody>
          <a:bodyPr/>
          <a:lstStyle/>
          <a:p>
            <a:pPr marL="0" indent="0">
              <a:buNone/>
            </a:pPr>
            <a:r>
              <a:rPr lang="en-US" sz="1400" dirty="0">
                <a:solidFill>
                  <a:schemeClr val="tx1"/>
                </a:solidFill>
                <a:latin typeface="Nadeem" pitchFamily="2" charset="-78"/>
                <a:cs typeface="Nadeem" pitchFamily="2" charset="-78"/>
              </a:rPr>
              <a:t>Goal of the system</a:t>
            </a:r>
          </a:p>
          <a:p>
            <a:pPr>
              <a:buFont typeface="Arial" panose="020B0604020202020204" pitchFamily="34" charset="0"/>
              <a:buChar char="•"/>
            </a:pPr>
            <a:r>
              <a:rPr lang="en-US" sz="1400" b="0" dirty="0">
                <a:solidFill>
                  <a:schemeClr val="tx1"/>
                </a:solidFill>
                <a:latin typeface="Nadeem" pitchFamily="2" charset="-78"/>
                <a:cs typeface="Nadeem" pitchFamily="2" charset="-78"/>
              </a:rPr>
              <a:t>End-to-end framework to forecast weekly snow cover using satellite data and machine learning.</a:t>
            </a:r>
          </a:p>
          <a:p>
            <a:pPr>
              <a:buFont typeface="Arial" panose="020B0604020202020204" pitchFamily="34" charset="0"/>
              <a:buChar char="•"/>
            </a:pPr>
            <a:endParaRPr lang="en-US" sz="1400" b="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Data Sources </a:t>
            </a:r>
          </a:p>
          <a:p>
            <a:pPr>
              <a:buFont typeface="Arial" panose="020B0604020202020204" pitchFamily="34" charset="0"/>
              <a:buChar char="•"/>
            </a:pPr>
            <a:r>
              <a:rPr lang="en-US" sz="1400" b="0" dirty="0">
                <a:solidFill>
                  <a:schemeClr val="tx1"/>
                </a:solidFill>
                <a:latin typeface="Nadeem" pitchFamily="2" charset="-78"/>
                <a:cs typeface="Nadeem" pitchFamily="2" charset="-78"/>
              </a:rPr>
              <a:t>Sentinel-2 (ESA): high-resolution optical imagery (10m) for detailed snow detection </a:t>
            </a:r>
          </a:p>
          <a:p>
            <a:pPr>
              <a:buFont typeface="Arial" panose="020B0604020202020204" pitchFamily="34" charset="0"/>
              <a:buChar char="•"/>
            </a:pPr>
            <a:r>
              <a:rPr lang="en-US" sz="1400" b="0" dirty="0">
                <a:solidFill>
                  <a:schemeClr val="tx1"/>
                </a:solidFill>
                <a:latin typeface="Nadeem" pitchFamily="2" charset="-78"/>
                <a:cs typeface="Nadeem" pitchFamily="2" charset="-78"/>
              </a:rPr>
              <a:t>MODIS (NASA): long-term medium-resolution data (~500m) for temporal consistency </a:t>
            </a:r>
          </a:p>
          <a:p>
            <a:pPr>
              <a:buFont typeface="Arial" panose="020B0604020202020204" pitchFamily="34" charset="0"/>
              <a:buChar char="•"/>
            </a:pPr>
            <a:r>
              <a:rPr lang="en-US" sz="1400" b="0" dirty="0">
                <a:solidFill>
                  <a:schemeClr val="tx1"/>
                </a:solidFill>
                <a:latin typeface="Nadeem" pitchFamily="2" charset="-78"/>
                <a:cs typeface="Nadeem" pitchFamily="2" charset="-78"/>
              </a:rPr>
              <a:t>ERA5: meteorological reanalysis (temperature &amp; precipitation)</a:t>
            </a:r>
          </a:p>
          <a:p>
            <a:pPr>
              <a:buFont typeface="Arial" panose="020B0604020202020204" pitchFamily="34" charset="0"/>
              <a:buChar char="•"/>
            </a:pPr>
            <a:endParaRPr lang="en-US" sz="1400" b="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Core Idea</a:t>
            </a:r>
          </a:p>
          <a:p>
            <a:pPr>
              <a:buFont typeface="Arial" panose="020B0604020202020204" pitchFamily="34" charset="0"/>
              <a:buChar char="•"/>
            </a:pPr>
            <a:r>
              <a:rPr lang="en-US" sz="1400" b="0" dirty="0">
                <a:solidFill>
                  <a:schemeClr val="tx1"/>
                </a:solidFill>
                <a:latin typeface="Nadeem" pitchFamily="2" charset="-78"/>
                <a:cs typeface="Nadeem" pitchFamily="2" charset="-78"/>
              </a:rPr>
              <a:t>Transform raw satellite observations into structured time-series inputs for deep learning-based forecasting.</a:t>
            </a:r>
          </a:p>
          <a:p>
            <a:pPr>
              <a:buFont typeface="Arial" panose="020B0604020202020204" pitchFamily="34" charset="0"/>
              <a:buChar char="•"/>
            </a:pPr>
            <a:endParaRPr lang="en-US" sz="1400" b="0" dirty="0">
              <a:solidFill>
                <a:schemeClr val="tx1"/>
              </a:solidFill>
              <a:latin typeface="Nadeem" pitchFamily="2" charset="-78"/>
              <a:cs typeface="Nadeem" pitchFamily="2" charset="-78"/>
            </a:endParaRPr>
          </a:p>
          <a:p>
            <a:pPr marL="0" indent="0">
              <a:buNone/>
            </a:pPr>
            <a:r>
              <a:rPr lang="en-US" sz="1400" dirty="0">
                <a:solidFill>
                  <a:schemeClr val="tx1"/>
                </a:solidFill>
                <a:latin typeface="Nadeem" pitchFamily="2" charset="-78"/>
                <a:cs typeface="Nadeem" pitchFamily="2" charset="-78"/>
              </a:rPr>
              <a:t>Model Choice</a:t>
            </a:r>
          </a:p>
          <a:p>
            <a:pPr>
              <a:buFont typeface="Arial" panose="020B0604020202020204" pitchFamily="34" charset="0"/>
              <a:buChar char="•"/>
            </a:pPr>
            <a:r>
              <a:rPr lang="en-US" sz="1400" b="0" dirty="0">
                <a:solidFill>
                  <a:schemeClr val="tx1"/>
                </a:solidFill>
                <a:latin typeface="Nadeem" pitchFamily="2" charset="-78"/>
                <a:cs typeface="Nadeem" pitchFamily="2" charset="-78"/>
              </a:rPr>
              <a:t>LSTM selected due to its ability to model:</a:t>
            </a:r>
          </a:p>
          <a:p>
            <a:pPr lvl="1">
              <a:buFontTx/>
              <a:buChar char="-"/>
            </a:pPr>
            <a:r>
              <a:rPr lang="en-US" sz="1400" dirty="0">
                <a:latin typeface="Nadeem" pitchFamily="2" charset="-78"/>
                <a:cs typeface="Nadeem" pitchFamily="2" charset="-78"/>
              </a:rPr>
              <a:t>temporal dependencies </a:t>
            </a:r>
          </a:p>
          <a:p>
            <a:pPr lvl="1">
              <a:buFontTx/>
              <a:buChar char="-"/>
            </a:pPr>
            <a:r>
              <a:rPr lang="en-US" sz="1400" dirty="0">
                <a:latin typeface="Nadeem" pitchFamily="2" charset="-78"/>
                <a:cs typeface="Nadeem" pitchFamily="2" charset="-78"/>
              </a:rPr>
              <a:t>nonlinear environmental dynamics</a:t>
            </a:r>
          </a:p>
          <a:p>
            <a:pPr>
              <a:buFont typeface="Arial" panose="020B0604020202020204" pitchFamily="34" charset="0"/>
              <a:buChar char="•"/>
            </a:pPr>
            <a:endParaRPr lang="en-US" sz="1400" b="0" dirty="0">
              <a:solidFill>
                <a:schemeClr val="tx1"/>
              </a:solidFill>
              <a:latin typeface="Nadeem" pitchFamily="2" charset="-78"/>
              <a:cs typeface="Nadeem" pitchFamily="2" charset="-78"/>
            </a:endParaRP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7</a:t>
            </a:fld>
            <a:endParaRPr lang="fr-FR" altLang="en-US"/>
          </a:p>
        </p:txBody>
      </p:sp>
      <p:graphicFrame>
        <p:nvGraphicFramePr>
          <p:cNvPr id="9" name="Diagram 8">
            <a:extLst>
              <a:ext uri="{FF2B5EF4-FFF2-40B4-BE49-F238E27FC236}">
                <a16:creationId xmlns:a16="http://schemas.microsoft.com/office/drawing/2014/main" id="{43EF56A5-F6BA-070F-D2CB-5D7693D8F142}"/>
              </a:ext>
            </a:extLst>
          </p:cNvPr>
          <p:cNvGraphicFramePr/>
          <p:nvPr>
            <p:extLst>
              <p:ext uri="{D42A27DB-BD31-4B8C-83A1-F6EECF244321}">
                <p14:modId xmlns:p14="http://schemas.microsoft.com/office/powerpoint/2010/main" val="186632036"/>
              </p:ext>
            </p:extLst>
          </p:nvPr>
        </p:nvGraphicFramePr>
        <p:xfrm>
          <a:off x="713575" y="1270390"/>
          <a:ext cx="7944330" cy="115721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1" name="Date Placeholder 3">
            <a:extLst>
              <a:ext uri="{FF2B5EF4-FFF2-40B4-BE49-F238E27FC236}">
                <a16:creationId xmlns:a16="http://schemas.microsoft.com/office/drawing/2014/main" id="{D898520C-2913-272B-9FD7-7DD9B612FD81}"/>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DFFDC9F0-DE64-0074-95B1-019BF9FE04D6}"/>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3" name="Picture 4" descr="Problem Solution Icon Vector Art, Icons, and Graphics for Free Download">
            <a:extLst>
              <a:ext uri="{FF2B5EF4-FFF2-40B4-BE49-F238E27FC236}">
                <a16:creationId xmlns:a16="http://schemas.microsoft.com/office/drawing/2014/main" id="{FA49B5E0-3883-F51F-D59E-92D3FCD8F6FC}"/>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51169" t="27517" r="38067" b="20840"/>
          <a:stretch/>
        </p:blipFill>
        <p:spPr bwMode="auto">
          <a:xfrm>
            <a:off x="486095" y="522751"/>
            <a:ext cx="915067" cy="1012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5475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Diagram 14">
            <a:extLst>
              <a:ext uri="{FF2B5EF4-FFF2-40B4-BE49-F238E27FC236}">
                <a16:creationId xmlns:a16="http://schemas.microsoft.com/office/drawing/2014/main" id="{04B4CADF-81E9-951C-6B04-2317AD39927A}"/>
              </a:ext>
            </a:extLst>
          </p:cNvPr>
          <p:cNvGraphicFramePr/>
          <p:nvPr>
            <p:extLst>
              <p:ext uri="{D42A27DB-BD31-4B8C-83A1-F6EECF244321}">
                <p14:modId xmlns:p14="http://schemas.microsoft.com/office/powerpoint/2010/main" val="2675345817"/>
              </p:ext>
            </p:extLst>
          </p:nvPr>
        </p:nvGraphicFramePr>
        <p:xfrm>
          <a:off x="-343265" y="1396146"/>
          <a:ext cx="9345751" cy="48195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itle 1">
            <a:extLst>
              <a:ext uri="{FF2B5EF4-FFF2-40B4-BE49-F238E27FC236}">
                <a16:creationId xmlns:a16="http://schemas.microsoft.com/office/drawing/2014/main" id="{5E02837B-AEC6-D93E-1704-468AF7D82E71}"/>
              </a:ext>
            </a:extLst>
          </p:cNvPr>
          <p:cNvSpPr txBox="1">
            <a:spLocks/>
          </p:cNvSpPr>
          <p:nvPr/>
        </p:nvSpPr>
        <p:spPr>
          <a:xfrm>
            <a:off x="331651" y="457812"/>
            <a:ext cx="8229599" cy="747713"/>
          </a:xfrm>
          <a:prstGeom prst="rect">
            <a:avLst/>
          </a:prstGeom>
        </p:spPr>
        <p:txBody>
          <a:bodyPr vert="horz"/>
          <a:lstStyle>
            <a:lvl1pPr algn="r" defTabSz="457200" rtl="0" eaLnBrk="0" fontAlgn="base" hangingPunct="0">
              <a:spcBef>
                <a:spcPct val="0"/>
              </a:spcBef>
              <a:spcAft>
                <a:spcPct val="0"/>
              </a:spcAft>
              <a:buClr>
                <a:srgbClr val="17375E"/>
              </a:buClr>
              <a:buFont typeface="Wingdings" charset="2"/>
              <a:defRPr lang="fr-FR" sz="3200" b="1" i="0" kern="1200" dirty="0">
                <a:solidFill>
                  <a:schemeClr val="tx1"/>
                </a:solidFill>
                <a:latin typeface="Arial" charset="0"/>
                <a:ea typeface="Arial" charset="0"/>
                <a:cs typeface="Arial" charset="0"/>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a:lstStyle>
          <a:p>
            <a:pPr algn="l"/>
            <a:r>
              <a:rPr lang="en-US" dirty="0">
                <a:solidFill>
                  <a:srgbClr val="0A1C72"/>
                </a:solidFill>
                <a:latin typeface="Nadeem" pitchFamily="2" charset="-78"/>
                <a:cs typeface="Nadeem" pitchFamily="2" charset="-78"/>
              </a:rPr>
              <a:t>Solution Design </a:t>
            </a:r>
            <a:br>
              <a:rPr lang="en-US" dirty="0">
                <a:solidFill>
                  <a:srgbClr val="0A1C72"/>
                </a:solidFill>
                <a:latin typeface="Nadeem" pitchFamily="2" charset="-78"/>
                <a:cs typeface="Nadeem" pitchFamily="2" charset="-78"/>
              </a:rPr>
            </a:br>
            <a:r>
              <a:rPr lang="en-US" sz="2000" dirty="0">
                <a:solidFill>
                  <a:srgbClr val="0A1C72"/>
                </a:solidFill>
                <a:latin typeface="Nadeem" pitchFamily="2" charset="-78"/>
                <a:cs typeface="Nadeem" pitchFamily="2" charset="-78"/>
              </a:rPr>
              <a:t>Conceptual Model of </a:t>
            </a:r>
            <a:r>
              <a:rPr lang="en-US" sz="2000" dirty="0" err="1">
                <a:solidFill>
                  <a:srgbClr val="0A1C72"/>
                </a:solidFill>
                <a:latin typeface="Nadeem" pitchFamily="2" charset="-78"/>
                <a:cs typeface="Nadeem" pitchFamily="2" charset="-78"/>
              </a:rPr>
              <a:t>SnowFLOWS</a:t>
            </a:r>
            <a:r>
              <a:rPr lang="en-US" sz="2000" dirty="0">
                <a:solidFill>
                  <a:srgbClr val="0A1C72"/>
                </a:solidFill>
                <a:latin typeface="Nadeem" pitchFamily="2" charset="-78"/>
                <a:cs typeface="Nadeem" pitchFamily="2" charset="-78"/>
              </a:rPr>
              <a:t> System</a:t>
            </a:r>
            <a:endParaRPr lang="en-US" dirty="0">
              <a:solidFill>
                <a:srgbClr val="0A1C72"/>
              </a:solidFill>
              <a:latin typeface="Nadeem" pitchFamily="2" charset="-78"/>
              <a:cs typeface="Nadeem" pitchFamily="2" charset="-78"/>
            </a:endParaRPr>
          </a:p>
        </p:txBody>
      </p:sp>
      <p:sp>
        <p:nvSpPr>
          <p:cNvPr id="12" name="Date Placeholder 3">
            <a:extLst>
              <a:ext uri="{FF2B5EF4-FFF2-40B4-BE49-F238E27FC236}">
                <a16:creationId xmlns:a16="http://schemas.microsoft.com/office/drawing/2014/main" id="{1B7C7F0C-A34E-7520-A95C-E9F7F55A1A49}"/>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13" name="Footer Placeholder 4">
            <a:extLst>
              <a:ext uri="{FF2B5EF4-FFF2-40B4-BE49-F238E27FC236}">
                <a16:creationId xmlns:a16="http://schemas.microsoft.com/office/drawing/2014/main" id="{BB5CEA28-66D1-5D5C-2B71-32AA03DE8183}"/>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6" name="TextBox 15">
            <a:extLst>
              <a:ext uri="{FF2B5EF4-FFF2-40B4-BE49-F238E27FC236}">
                <a16:creationId xmlns:a16="http://schemas.microsoft.com/office/drawing/2014/main" id="{5E41A04B-9993-B97B-366C-ABF7DD6703C3}"/>
              </a:ext>
            </a:extLst>
          </p:cNvPr>
          <p:cNvSpPr txBox="1"/>
          <p:nvPr/>
        </p:nvSpPr>
        <p:spPr>
          <a:xfrm>
            <a:off x="2013857" y="1563511"/>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Sentinel-2/ MODIS</a:t>
            </a:r>
          </a:p>
        </p:txBody>
      </p:sp>
      <p:sp>
        <p:nvSpPr>
          <p:cNvPr id="17" name="TextBox 16">
            <a:extLst>
              <a:ext uri="{FF2B5EF4-FFF2-40B4-BE49-F238E27FC236}">
                <a16:creationId xmlns:a16="http://schemas.microsoft.com/office/drawing/2014/main" id="{8B1CB6B3-3057-7630-6E87-AC3C86BCDB14}"/>
              </a:ext>
            </a:extLst>
          </p:cNvPr>
          <p:cNvSpPr txBox="1"/>
          <p:nvPr/>
        </p:nvSpPr>
        <p:spPr>
          <a:xfrm>
            <a:off x="2974338" y="2139870"/>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Alignment</a:t>
            </a:r>
          </a:p>
        </p:txBody>
      </p:sp>
      <p:sp>
        <p:nvSpPr>
          <p:cNvPr id="18" name="TextBox 17">
            <a:extLst>
              <a:ext uri="{FF2B5EF4-FFF2-40B4-BE49-F238E27FC236}">
                <a16:creationId xmlns:a16="http://schemas.microsoft.com/office/drawing/2014/main" id="{0ABD8454-3830-998E-CEF2-2244E969DDB7}"/>
              </a:ext>
            </a:extLst>
          </p:cNvPr>
          <p:cNvSpPr txBox="1"/>
          <p:nvPr/>
        </p:nvSpPr>
        <p:spPr>
          <a:xfrm>
            <a:off x="3659651" y="2677034"/>
            <a:ext cx="4540615" cy="523220"/>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Snow lag features/ Snow ratio/ Seasonal encoding/ Altitude features</a:t>
            </a:r>
          </a:p>
        </p:txBody>
      </p:sp>
      <p:sp>
        <p:nvSpPr>
          <p:cNvPr id="19" name="TextBox 18">
            <a:extLst>
              <a:ext uri="{FF2B5EF4-FFF2-40B4-BE49-F238E27FC236}">
                <a16:creationId xmlns:a16="http://schemas.microsoft.com/office/drawing/2014/main" id="{537B4731-F7EC-CDE3-3AE4-5F90D525ED3B}"/>
              </a:ext>
            </a:extLst>
          </p:cNvPr>
          <p:cNvSpPr txBox="1"/>
          <p:nvPr/>
        </p:nvSpPr>
        <p:spPr>
          <a:xfrm>
            <a:off x="4650888" y="3351251"/>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Z-score</a:t>
            </a:r>
          </a:p>
        </p:txBody>
      </p:sp>
      <p:sp>
        <p:nvSpPr>
          <p:cNvPr id="20" name="TextBox 19">
            <a:extLst>
              <a:ext uri="{FF2B5EF4-FFF2-40B4-BE49-F238E27FC236}">
                <a16:creationId xmlns:a16="http://schemas.microsoft.com/office/drawing/2014/main" id="{5708C285-8483-44C6-24A7-72BB55C0A4E2}"/>
              </a:ext>
            </a:extLst>
          </p:cNvPr>
          <p:cNvSpPr txBox="1"/>
          <p:nvPr/>
        </p:nvSpPr>
        <p:spPr>
          <a:xfrm>
            <a:off x="5820954" y="3970669"/>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1-12 weeks</a:t>
            </a:r>
          </a:p>
        </p:txBody>
      </p:sp>
      <p:sp>
        <p:nvSpPr>
          <p:cNvPr id="21" name="TextBox 20">
            <a:extLst>
              <a:ext uri="{FF2B5EF4-FFF2-40B4-BE49-F238E27FC236}">
                <a16:creationId xmlns:a16="http://schemas.microsoft.com/office/drawing/2014/main" id="{8AF756FE-6F80-9BA6-569A-3D4B5E1D72E4}"/>
              </a:ext>
            </a:extLst>
          </p:cNvPr>
          <p:cNvSpPr txBox="1"/>
          <p:nvPr/>
        </p:nvSpPr>
        <p:spPr>
          <a:xfrm>
            <a:off x="6444343" y="6233552"/>
            <a:ext cx="2558143" cy="307777"/>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MAE/ RMSE + Visualization</a:t>
            </a:r>
          </a:p>
        </p:txBody>
      </p:sp>
      <p:sp>
        <p:nvSpPr>
          <p:cNvPr id="14" name="Slide Number Placeholder 5">
            <a:extLst>
              <a:ext uri="{FF2B5EF4-FFF2-40B4-BE49-F238E27FC236}">
                <a16:creationId xmlns:a16="http://schemas.microsoft.com/office/drawing/2014/main" id="{BAB91674-3FF2-5437-A0CE-8D89D39BA43B}"/>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8</a:t>
            </a:fld>
            <a:endParaRPr lang="fr-FR" altLang="en-US" sz="1000" dirty="0">
              <a:solidFill>
                <a:schemeClr val="bg1"/>
              </a:solidFill>
              <a:latin typeface="+mn-lt"/>
            </a:endParaRPr>
          </a:p>
        </p:txBody>
      </p:sp>
    </p:spTree>
    <p:extLst>
      <p:ext uri="{BB962C8B-B14F-4D97-AF65-F5344CB8AC3E}">
        <p14:creationId xmlns:p14="http://schemas.microsoft.com/office/powerpoint/2010/main" val="1744375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996" y="526863"/>
            <a:ext cx="8229599" cy="747713"/>
          </a:xfrm>
        </p:spPr>
        <p:txBody>
          <a:bodyPr/>
          <a:lstStyle/>
          <a:p>
            <a:r>
              <a:rPr lang="en-US" sz="2800" dirty="0">
                <a:solidFill>
                  <a:srgbClr val="0A1C72"/>
                </a:solidFill>
                <a:latin typeface="Nadeem" pitchFamily="2" charset="-78"/>
                <a:cs typeface="Nadeem" pitchFamily="2" charset="-78"/>
              </a:rPr>
              <a:t>Project Management</a:t>
            </a:r>
          </a:p>
        </p:txBody>
      </p:sp>
      <p:sp>
        <p:nvSpPr>
          <p:cNvPr id="3" name="Content Placeholder 2"/>
          <p:cNvSpPr>
            <a:spLocks noGrp="1"/>
          </p:cNvSpPr>
          <p:nvPr>
            <p:ph idx="1"/>
          </p:nvPr>
        </p:nvSpPr>
        <p:spPr>
          <a:xfrm>
            <a:off x="538265" y="1132395"/>
            <a:ext cx="8229600" cy="4767626"/>
          </a:xfrm>
        </p:spPr>
        <p:txBody>
          <a:bodyPr/>
          <a:lstStyle/>
          <a:p>
            <a:pPr>
              <a:buFont typeface="Arial" panose="020B0604020202020204" pitchFamily="34" charset="0"/>
              <a:buChar char="•"/>
            </a:pPr>
            <a:r>
              <a:rPr lang="en-US" sz="1400" b="0" dirty="0">
                <a:solidFill>
                  <a:schemeClr val="tx1"/>
                </a:solidFill>
                <a:latin typeface="Nadeem" pitchFamily="2" charset="-78"/>
                <a:cs typeface="Nadeem" pitchFamily="2" charset="-78"/>
              </a:rPr>
              <a:t>We have 9 main phases:</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9</a:t>
            </a:fld>
            <a:endParaRPr lang="fr-FR" altLang="en-US"/>
          </a:p>
        </p:txBody>
      </p:sp>
      <p:pic>
        <p:nvPicPr>
          <p:cNvPr id="10" name="Picture 9" descr="A screenshot of a spreadsheet&#10;&#10;Description automatically generated">
            <a:extLst>
              <a:ext uri="{FF2B5EF4-FFF2-40B4-BE49-F238E27FC236}">
                <a16:creationId xmlns:a16="http://schemas.microsoft.com/office/drawing/2014/main" id="{96B42F41-BB4D-73A4-D468-34414A5ED45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9019" y="1435248"/>
            <a:ext cx="8685962" cy="2046512"/>
          </a:xfrm>
          <a:prstGeom prst="rect">
            <a:avLst/>
          </a:prstGeom>
        </p:spPr>
      </p:pic>
      <p:sp>
        <p:nvSpPr>
          <p:cNvPr id="11" name="Date Placeholder 3">
            <a:extLst>
              <a:ext uri="{FF2B5EF4-FFF2-40B4-BE49-F238E27FC236}">
                <a16:creationId xmlns:a16="http://schemas.microsoft.com/office/drawing/2014/main" id="{80338860-AD4A-5DAB-C83A-A5AE412C02E0}"/>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D936F947-455E-70F6-315D-BC4FBCCEA84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3" name="TextBox 12">
            <a:extLst>
              <a:ext uri="{FF2B5EF4-FFF2-40B4-BE49-F238E27FC236}">
                <a16:creationId xmlns:a16="http://schemas.microsoft.com/office/drawing/2014/main" id="{82C774E2-C453-5628-4AD2-53B4C743AD8D}"/>
              </a:ext>
            </a:extLst>
          </p:cNvPr>
          <p:cNvSpPr txBox="1"/>
          <p:nvPr/>
        </p:nvSpPr>
        <p:spPr>
          <a:xfrm>
            <a:off x="229019" y="3767627"/>
            <a:ext cx="3966846" cy="2246769"/>
          </a:xfrm>
          <a:prstGeom prst="rect">
            <a:avLst/>
          </a:prstGeom>
          <a:noFill/>
        </p:spPr>
        <p:txBody>
          <a:bodyPr wrap="square">
            <a:spAutoFit/>
          </a:bodyPr>
          <a:lstStyle/>
          <a:p>
            <a:r>
              <a:rPr lang="en-US" sz="1400" b="1" dirty="0">
                <a:solidFill>
                  <a:schemeClr val="tx1"/>
                </a:solidFill>
                <a:latin typeface="Nadeem" pitchFamily="2" charset="-78"/>
                <a:cs typeface="Nadeem" pitchFamily="2" charset="-78"/>
              </a:rPr>
              <a:t>Iterative Workflow</a:t>
            </a:r>
          </a:p>
          <a:p>
            <a:endParaRPr lang="en-US" sz="1400" b="1" dirty="0">
              <a:solidFill>
                <a:schemeClr val="tx1"/>
              </a:solidFill>
              <a:latin typeface="Nadeem" pitchFamily="2" charset="-78"/>
              <a:cs typeface="Nadeem" pitchFamily="2" charset="-78"/>
            </a:endParaRPr>
          </a:p>
          <a:p>
            <a:pPr marL="285750" indent="-285750">
              <a:buFont typeface="Arial" panose="020B0604020202020204" pitchFamily="34" charset="0"/>
              <a:buChar char="•"/>
            </a:pPr>
            <a:r>
              <a:rPr lang="en-US" sz="1400" dirty="0">
                <a:latin typeface="Nadeem" pitchFamily="2" charset="-78"/>
                <a:cs typeface="Nadeem" pitchFamily="2" charset="-78"/>
              </a:rPr>
              <a:t>Continuous refinement of: </a:t>
            </a:r>
          </a:p>
          <a:p>
            <a:pPr marL="742950" lvl="1" indent="-285750">
              <a:buFont typeface="Arial" panose="020B0604020202020204" pitchFamily="34" charset="0"/>
              <a:buChar char="•"/>
            </a:pPr>
            <a:r>
              <a:rPr lang="en-US" sz="1400" dirty="0">
                <a:latin typeface="Nadeem" pitchFamily="2" charset="-78"/>
                <a:cs typeface="Nadeem" pitchFamily="2" charset="-78"/>
              </a:rPr>
              <a:t>dataset structure </a:t>
            </a:r>
          </a:p>
          <a:p>
            <a:pPr marL="742950" lvl="1" indent="-285750">
              <a:buFont typeface="Arial" panose="020B0604020202020204" pitchFamily="34" charset="0"/>
              <a:buChar char="•"/>
            </a:pPr>
            <a:r>
              <a:rPr lang="en-US" sz="1400" dirty="0">
                <a:latin typeface="Nadeem" pitchFamily="2" charset="-78"/>
                <a:cs typeface="Nadeem" pitchFamily="2" charset="-78"/>
              </a:rPr>
              <a:t>sequence length </a:t>
            </a:r>
          </a:p>
          <a:p>
            <a:pPr marL="742950" lvl="1" indent="-285750">
              <a:buFont typeface="Arial" panose="020B0604020202020204" pitchFamily="34" charset="0"/>
              <a:buChar char="•"/>
            </a:pPr>
            <a:r>
              <a:rPr lang="en-US" sz="1400" dirty="0">
                <a:latin typeface="Nadeem" pitchFamily="2" charset="-78"/>
                <a:cs typeface="Nadeem" pitchFamily="2" charset="-78"/>
              </a:rPr>
              <a:t>model architecture </a:t>
            </a:r>
          </a:p>
          <a:p>
            <a:pPr marL="285750" indent="-285750">
              <a:buFont typeface="Arial" panose="020B0604020202020204" pitchFamily="34" charset="0"/>
              <a:buChar char="•"/>
            </a:pPr>
            <a:r>
              <a:rPr lang="en-US" sz="1400" dirty="0">
                <a:latin typeface="Nadeem" pitchFamily="2" charset="-78"/>
                <a:cs typeface="Nadeem" pitchFamily="2" charset="-78"/>
              </a:rPr>
              <a:t>Multiple experiments run per configuration </a:t>
            </a:r>
          </a:p>
          <a:p>
            <a:pPr marL="285750" indent="-285750">
              <a:buFont typeface="Arial" panose="020B0604020202020204" pitchFamily="34" charset="0"/>
              <a:buChar char="•"/>
            </a:pPr>
            <a:r>
              <a:rPr lang="en-US" sz="1400" dirty="0">
                <a:latin typeface="Nadeem" pitchFamily="2" charset="-78"/>
                <a:cs typeface="Nadeem" pitchFamily="2" charset="-78"/>
              </a:rPr>
              <a:t>Decisions based on averaged results (MAE/RMSE) </a:t>
            </a:r>
          </a:p>
          <a:p>
            <a:endParaRPr lang="en-US" sz="1400" dirty="0">
              <a:latin typeface="Nadeem" pitchFamily="2" charset="-78"/>
              <a:cs typeface="Nadeem" pitchFamily="2" charset="-78"/>
            </a:endParaRPr>
          </a:p>
        </p:txBody>
      </p:sp>
      <p:sp>
        <p:nvSpPr>
          <p:cNvPr id="15" name="TextBox 14">
            <a:extLst>
              <a:ext uri="{FF2B5EF4-FFF2-40B4-BE49-F238E27FC236}">
                <a16:creationId xmlns:a16="http://schemas.microsoft.com/office/drawing/2014/main" id="{20A2FCFD-5B5A-E014-0866-54D546E21315}"/>
              </a:ext>
            </a:extLst>
          </p:cNvPr>
          <p:cNvSpPr txBox="1"/>
          <p:nvPr/>
        </p:nvSpPr>
        <p:spPr>
          <a:xfrm>
            <a:off x="4505111" y="3710511"/>
            <a:ext cx="4572000" cy="2246769"/>
          </a:xfrm>
          <a:prstGeom prst="rect">
            <a:avLst/>
          </a:prstGeom>
          <a:noFill/>
        </p:spPr>
        <p:txBody>
          <a:bodyPr wrap="square">
            <a:spAutoFit/>
          </a:bodyPr>
          <a:lstStyle/>
          <a:p>
            <a:r>
              <a:rPr lang="en-US" sz="1400" b="1" dirty="0">
                <a:latin typeface="Nadeem" pitchFamily="2" charset="-78"/>
                <a:cs typeface="Nadeem" pitchFamily="2" charset="-78"/>
              </a:rPr>
              <a:t>Conflict Management</a:t>
            </a:r>
          </a:p>
          <a:p>
            <a:endParaRPr lang="en-US" sz="1400" b="1" dirty="0">
              <a:latin typeface="Nadeem" pitchFamily="2" charset="-78"/>
              <a:cs typeface="Nadeem" pitchFamily="2" charset="-78"/>
            </a:endParaRPr>
          </a:p>
          <a:p>
            <a:r>
              <a:rPr lang="en-US" sz="1400" dirty="0">
                <a:latin typeface="Nadeem" pitchFamily="2" charset="-78"/>
                <a:cs typeface="Nadeem" pitchFamily="2" charset="-78"/>
              </a:rPr>
              <a:t>Model instability across runs → solved using multiple executions + averaging </a:t>
            </a:r>
          </a:p>
          <a:p>
            <a:r>
              <a:rPr lang="en-US" sz="1400" dirty="0">
                <a:latin typeface="Nadeem" pitchFamily="2" charset="-78"/>
                <a:cs typeface="Nadeem" pitchFamily="2" charset="-78"/>
              </a:rPr>
              <a:t>Sequence length trade-off: </a:t>
            </a:r>
          </a:p>
          <a:p>
            <a:pPr marL="742950" lvl="1" indent="-285750">
              <a:buFont typeface="Arial" panose="020B0604020202020204" pitchFamily="34" charset="0"/>
              <a:buChar char="•"/>
            </a:pPr>
            <a:r>
              <a:rPr lang="en-US" sz="1400" dirty="0">
                <a:latin typeface="Nadeem" pitchFamily="2" charset="-78"/>
                <a:cs typeface="Nadeem" pitchFamily="2" charset="-78"/>
              </a:rPr>
              <a:t>6 weeks → best numerical results </a:t>
            </a:r>
          </a:p>
          <a:p>
            <a:pPr marL="742950" lvl="1" indent="-285750">
              <a:buFont typeface="Arial" panose="020B0604020202020204" pitchFamily="34" charset="0"/>
              <a:buChar char="•"/>
            </a:pPr>
            <a:r>
              <a:rPr lang="en-US" sz="1400" dirty="0">
                <a:latin typeface="Nadeem" pitchFamily="2" charset="-78"/>
                <a:cs typeface="Nadeem" pitchFamily="2" charset="-78"/>
              </a:rPr>
              <a:t>8 weeks → best visual realism</a:t>
            </a:r>
          </a:p>
          <a:p>
            <a:pPr lvl="1"/>
            <a:r>
              <a:rPr lang="en-US" sz="1400" dirty="0">
                <a:latin typeface="Nadeem" pitchFamily="2" charset="-78"/>
                <a:cs typeface="Nadeem" pitchFamily="2" charset="-78"/>
              </a:rPr>
              <a:t>→ both analyzed and justified </a:t>
            </a:r>
          </a:p>
          <a:p>
            <a:r>
              <a:rPr lang="en-US" sz="1400" dirty="0">
                <a:latin typeface="Nadeem" pitchFamily="2" charset="-78"/>
                <a:cs typeface="Nadeem" pitchFamily="2" charset="-78"/>
              </a:rPr>
              <a:t>Data alignment issues (Sentinel vs MODIS) → resolved via temporal synchronization</a:t>
            </a:r>
          </a:p>
        </p:txBody>
      </p:sp>
      <p:cxnSp>
        <p:nvCxnSpPr>
          <p:cNvPr id="17" name="Straight Connector 16">
            <a:extLst>
              <a:ext uri="{FF2B5EF4-FFF2-40B4-BE49-F238E27FC236}">
                <a16:creationId xmlns:a16="http://schemas.microsoft.com/office/drawing/2014/main" id="{DD8D528D-500F-DAAA-82B1-C5DDC15C606A}"/>
              </a:ext>
            </a:extLst>
          </p:cNvPr>
          <p:cNvCxnSpPr>
            <a:cxnSpLocks/>
          </p:cNvCxnSpPr>
          <p:nvPr/>
        </p:nvCxnSpPr>
        <p:spPr>
          <a:xfrm>
            <a:off x="4195865" y="3790630"/>
            <a:ext cx="0" cy="2061530"/>
          </a:xfrm>
          <a:prstGeom prst="line">
            <a:avLst/>
          </a:prstGeom>
        </p:spPr>
        <p:style>
          <a:lnRef idx="1">
            <a:schemeClr val="dk1"/>
          </a:lnRef>
          <a:fillRef idx="0">
            <a:schemeClr val="dk1"/>
          </a:fillRef>
          <a:effectRef idx="0">
            <a:schemeClr val="dk1"/>
          </a:effectRef>
          <a:fontRef idx="minor">
            <a:schemeClr val="tx1"/>
          </a:fontRef>
        </p:style>
      </p:cxnSp>
      <p:pic>
        <p:nvPicPr>
          <p:cNvPr id="9218" name="Picture 2" descr="icône de ligne de procédures sur blanc 2119367 Art vectoriel chez Vecteezy">
            <a:extLst>
              <a:ext uri="{FF2B5EF4-FFF2-40B4-BE49-F238E27FC236}">
                <a16:creationId xmlns:a16="http://schemas.microsoft.com/office/drawing/2014/main" id="{D015FC5E-2935-0F75-93A9-CA5B7544DA4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4309" t="20928" r="24309" b="17886"/>
          <a:stretch/>
        </p:blipFill>
        <p:spPr bwMode="auto">
          <a:xfrm>
            <a:off x="390294" y="435342"/>
            <a:ext cx="548202" cy="652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142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0A1C72"/>
                </a:solidFill>
                <a:latin typeface="Nadeem" pitchFamily="2" charset="-78"/>
                <a:cs typeface="Nadeem" pitchFamily="2" charset="-78"/>
              </a:rPr>
              <a:t>Solution Implementation</a:t>
            </a:r>
            <a:br>
              <a:rPr lang="en-US" dirty="0">
                <a:solidFill>
                  <a:srgbClr val="0A1C72"/>
                </a:solidFill>
                <a:latin typeface="Nadeem" pitchFamily="2" charset="-78"/>
                <a:cs typeface="Nadeem" pitchFamily="2" charset="-78"/>
              </a:rPr>
            </a:br>
            <a:r>
              <a:rPr lang="en-US" sz="2000" dirty="0">
                <a:solidFill>
                  <a:srgbClr val="0A1C72"/>
                </a:solidFill>
                <a:latin typeface="Nadeem" pitchFamily="2" charset="-78"/>
                <a:cs typeface="Nadeem" pitchFamily="2" charset="-78"/>
              </a:rPr>
              <a:t>Study Area &amp; Data Sources</a:t>
            </a:r>
            <a:endParaRPr lang="en-US" dirty="0">
              <a:solidFill>
                <a:srgbClr val="0A1C72"/>
              </a:solidFill>
              <a:latin typeface="Nadeem" pitchFamily="2" charset="-78"/>
              <a:cs typeface="Nadeem" pitchFamily="2" charset="-78"/>
            </a:endParaRPr>
          </a:p>
        </p:txBody>
      </p:sp>
      <p:sp>
        <p:nvSpPr>
          <p:cNvPr id="3" name="Content Placeholder 2"/>
          <p:cNvSpPr>
            <a:spLocks noGrp="1"/>
          </p:cNvSpPr>
          <p:nvPr>
            <p:ph idx="1"/>
          </p:nvPr>
        </p:nvSpPr>
        <p:spPr>
          <a:xfrm>
            <a:off x="457200" y="1310629"/>
            <a:ext cx="4888942" cy="4767626"/>
          </a:xfrm>
        </p:spPr>
        <p:txBody>
          <a:bodyPr/>
          <a:lstStyle/>
          <a:p>
            <a:pPr marL="0" indent="0">
              <a:buNone/>
            </a:pPr>
            <a:r>
              <a:rPr lang="en-US" sz="1500" dirty="0">
                <a:solidFill>
                  <a:schemeClr val="tx1"/>
                </a:solidFill>
                <a:latin typeface="Nadeem" pitchFamily="2" charset="-78"/>
                <a:cs typeface="Nadeem" pitchFamily="2" charset="-78"/>
              </a:rPr>
              <a:t>Study area: </a:t>
            </a:r>
            <a:r>
              <a:rPr lang="en-US" sz="1500" b="0" dirty="0">
                <a:solidFill>
                  <a:schemeClr val="tx1"/>
                </a:solidFill>
                <a:latin typeface="Nadeem" pitchFamily="2" charset="-78"/>
                <a:cs typeface="Nadeem" pitchFamily="2" charset="-78"/>
              </a:rPr>
              <a:t>Lebanon (FAO/GAUL boundaries) </a:t>
            </a:r>
          </a:p>
          <a:p>
            <a:pPr marL="0" indent="0">
              <a:buNone/>
            </a:pPr>
            <a:r>
              <a:rPr lang="en-US" sz="1500" dirty="0">
                <a:solidFill>
                  <a:schemeClr val="tx1"/>
                </a:solidFill>
                <a:latin typeface="Nadeem" pitchFamily="2" charset="-78"/>
                <a:cs typeface="Nadeem" pitchFamily="2" charset="-78"/>
              </a:rPr>
              <a:t>Satellite data:</a:t>
            </a:r>
          </a:p>
          <a:p>
            <a:pPr>
              <a:buFont typeface="Arial" panose="020B0604020202020204" pitchFamily="34" charset="0"/>
              <a:buChar char="•"/>
            </a:pPr>
            <a:r>
              <a:rPr lang="en-US" sz="1500" b="0" dirty="0">
                <a:solidFill>
                  <a:schemeClr val="tx1"/>
                </a:solidFill>
                <a:latin typeface="Nadeem" pitchFamily="2" charset="-78"/>
                <a:cs typeface="Nadeem" pitchFamily="2" charset="-78"/>
              </a:rPr>
              <a:t>Sentinel-2 (10m, high spatial resolution) </a:t>
            </a:r>
          </a:p>
          <a:p>
            <a:pPr>
              <a:buFont typeface="Arial" panose="020B0604020202020204" pitchFamily="34" charset="0"/>
              <a:buChar char="•"/>
            </a:pPr>
            <a:r>
              <a:rPr lang="en-US" sz="1500" b="0" dirty="0">
                <a:solidFill>
                  <a:schemeClr val="tx1"/>
                </a:solidFill>
                <a:latin typeface="Nadeem" pitchFamily="2" charset="-78"/>
                <a:cs typeface="Nadeem" pitchFamily="2" charset="-78"/>
              </a:rPr>
              <a:t>MODIS (500m, high temporal frequency) </a:t>
            </a:r>
          </a:p>
          <a:p>
            <a:pPr marL="0" indent="0">
              <a:buNone/>
            </a:pPr>
            <a:r>
              <a:rPr lang="en-US" sz="1500" dirty="0">
                <a:solidFill>
                  <a:schemeClr val="tx1"/>
                </a:solidFill>
                <a:latin typeface="Nadeem" pitchFamily="2" charset="-78"/>
                <a:cs typeface="Nadeem" pitchFamily="2" charset="-78"/>
              </a:rPr>
              <a:t>Meteorological data: </a:t>
            </a:r>
            <a:r>
              <a:rPr lang="en-US" sz="1500" b="0" dirty="0">
                <a:solidFill>
                  <a:schemeClr val="tx1"/>
                </a:solidFill>
                <a:latin typeface="Nadeem" pitchFamily="2" charset="-78"/>
                <a:cs typeface="Nadeem" pitchFamily="2" charset="-78"/>
              </a:rPr>
              <a:t>ERA5 (temperature, precipitation) </a:t>
            </a:r>
          </a:p>
          <a:p>
            <a:pPr marL="0" indent="0">
              <a:buNone/>
            </a:pPr>
            <a:r>
              <a:rPr lang="en-US" sz="1500" dirty="0">
                <a:solidFill>
                  <a:schemeClr val="tx1"/>
                </a:solidFill>
                <a:latin typeface="Nadeem" pitchFamily="2" charset="-78"/>
                <a:cs typeface="Nadeem" pitchFamily="2" charset="-78"/>
              </a:rPr>
              <a:t>Time span: </a:t>
            </a:r>
            <a:r>
              <a:rPr lang="en-US" sz="1500" b="0" dirty="0">
                <a:solidFill>
                  <a:schemeClr val="tx1"/>
                </a:solidFill>
                <a:latin typeface="Nadeem" pitchFamily="2" charset="-78"/>
                <a:cs typeface="Nadeem" pitchFamily="2" charset="-78"/>
              </a:rPr>
              <a:t>2016–2025</a:t>
            </a:r>
          </a:p>
          <a:p>
            <a:pPr>
              <a:buFontTx/>
              <a:buChar char="-"/>
            </a:pPr>
            <a:r>
              <a:rPr lang="en-US" sz="1500" b="0" dirty="0">
                <a:solidFill>
                  <a:schemeClr val="tx1"/>
                </a:solidFill>
                <a:latin typeface="Nadeem" pitchFamily="2" charset="-78"/>
                <a:cs typeface="Nadeem" pitchFamily="2" charset="-78"/>
              </a:rPr>
              <a:t>Cloud Masking</a:t>
            </a:r>
          </a:p>
          <a:p>
            <a:pPr>
              <a:buFontTx/>
              <a:buChar char="-"/>
            </a:pPr>
            <a:r>
              <a:rPr lang="en-US" sz="1500" b="0" dirty="0">
                <a:solidFill>
                  <a:schemeClr val="tx1"/>
                </a:solidFill>
                <a:latin typeface="Nadeem" pitchFamily="2" charset="-78"/>
                <a:cs typeface="Nadeem" pitchFamily="2" charset="-78"/>
              </a:rPr>
              <a:t>NDSI Threshold = 0.4</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10</a:t>
            </a:fld>
            <a:endParaRPr lang="fr-FR" altLang="en-US"/>
          </a:p>
        </p:txBody>
      </p:sp>
      <p:pic>
        <p:nvPicPr>
          <p:cNvPr id="8" name="Picture 7" descr="A screenshot of a computer&#10;&#10;Description automatically generated">
            <a:extLst>
              <a:ext uri="{FF2B5EF4-FFF2-40B4-BE49-F238E27FC236}">
                <a16:creationId xmlns:a16="http://schemas.microsoft.com/office/drawing/2014/main" id="{F489E12F-CF97-2C28-090B-5768E25C150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6457" t="49512" r="25578"/>
          <a:stretch/>
        </p:blipFill>
        <p:spPr bwMode="auto">
          <a:xfrm>
            <a:off x="5570236" y="1834928"/>
            <a:ext cx="3277590" cy="2060575"/>
          </a:xfrm>
          <a:prstGeom prst="rect">
            <a:avLst/>
          </a:prstGeom>
          <a:ln>
            <a:noFill/>
          </a:ln>
          <a:extLst>
            <a:ext uri="{53640926-AAD7-44D8-BBD7-CCE9431645EC}">
              <a14:shadowObscured xmlns:a14="http://schemas.microsoft.com/office/drawing/2010/main"/>
            </a:ext>
          </a:extLst>
        </p:spPr>
      </p:pic>
      <p:pic>
        <p:nvPicPr>
          <p:cNvPr id="10" name="Picture 9" descr="A screenshot of a computer&#10;&#10;Description automatically generated">
            <a:extLst>
              <a:ext uri="{FF2B5EF4-FFF2-40B4-BE49-F238E27FC236}">
                <a16:creationId xmlns:a16="http://schemas.microsoft.com/office/drawing/2014/main" id="{789BB2F1-2F95-AAE6-9115-C6957561CB2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0164" r="5511"/>
          <a:stretch/>
        </p:blipFill>
        <p:spPr>
          <a:xfrm>
            <a:off x="286013" y="3566546"/>
            <a:ext cx="5184017" cy="2933287"/>
          </a:xfrm>
          <a:prstGeom prst="rect">
            <a:avLst/>
          </a:prstGeom>
        </p:spPr>
      </p:pic>
      <p:sp>
        <p:nvSpPr>
          <p:cNvPr id="11" name="Date Placeholder 3">
            <a:extLst>
              <a:ext uri="{FF2B5EF4-FFF2-40B4-BE49-F238E27FC236}">
                <a16:creationId xmlns:a16="http://schemas.microsoft.com/office/drawing/2014/main" id="{3CC00E22-DE25-C8D0-97EF-A138D2FDF891}"/>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F773560E-CF16-7224-4E11-148A2FA81AB2}"/>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3" name="Picture 12" descr="A screenshot of a computer&#10;&#10;Description automatically generated">
            <a:extLst>
              <a:ext uri="{FF2B5EF4-FFF2-40B4-BE49-F238E27FC236}">
                <a16:creationId xmlns:a16="http://schemas.microsoft.com/office/drawing/2014/main" id="{720676A0-4E9B-07FD-AA58-2316A6EBFBE4}"/>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29025" t="45924" r="30857"/>
          <a:stretch/>
        </p:blipFill>
        <p:spPr>
          <a:xfrm>
            <a:off x="5563449" y="3992784"/>
            <a:ext cx="3338528" cy="2507049"/>
          </a:xfrm>
          <a:prstGeom prst="rect">
            <a:avLst/>
          </a:prstGeom>
        </p:spPr>
      </p:pic>
    </p:spTree>
    <p:extLst>
      <p:ext uri="{BB962C8B-B14F-4D97-AF65-F5344CB8AC3E}">
        <p14:creationId xmlns:p14="http://schemas.microsoft.com/office/powerpoint/2010/main" val="1621553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9525-AAA2-4712-73BE-85DB0C84DBA0}"/>
              </a:ext>
            </a:extLst>
          </p:cNvPr>
          <p:cNvSpPr>
            <a:spLocks noGrp="1"/>
          </p:cNvSpPr>
          <p:nvPr>
            <p:ph type="title"/>
          </p:nvPr>
        </p:nvSpPr>
        <p:spPr>
          <a:xfrm>
            <a:off x="345406" y="516972"/>
            <a:ext cx="6254205" cy="1833154"/>
          </a:xfrm>
        </p:spPr>
        <p:txBody>
          <a:bodyPr/>
          <a:lstStyle/>
          <a:p>
            <a:pPr algn="l"/>
            <a:r>
              <a:rPr lang="en-LB" sz="2800" dirty="0">
                <a:solidFill>
                  <a:srgbClr val="0A1C72"/>
                </a:solidFill>
                <a:latin typeface="Nadeem" pitchFamily="2" charset="-78"/>
                <a:cs typeface="Nadeem" pitchFamily="2" charset="-78"/>
              </a:rPr>
              <a:t>Time Series (MODIS/Senti-2)</a:t>
            </a:r>
          </a:p>
        </p:txBody>
      </p:sp>
      <p:sp>
        <p:nvSpPr>
          <p:cNvPr id="7" name="Date Placeholder 3">
            <a:extLst>
              <a:ext uri="{FF2B5EF4-FFF2-40B4-BE49-F238E27FC236}">
                <a16:creationId xmlns:a16="http://schemas.microsoft.com/office/drawing/2014/main" id="{91C7D695-859F-D5A3-3E6F-C8228672318F}"/>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8" name="Footer Placeholder 4">
            <a:extLst>
              <a:ext uri="{FF2B5EF4-FFF2-40B4-BE49-F238E27FC236}">
                <a16:creationId xmlns:a16="http://schemas.microsoft.com/office/drawing/2014/main" id="{9A0C1927-83D2-9A6C-8554-2D34447D340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0" name="Picture 9" descr="A graph showing a graph&#10;&#10;Description automatically generated">
            <a:extLst>
              <a:ext uri="{FF2B5EF4-FFF2-40B4-BE49-F238E27FC236}">
                <a16:creationId xmlns:a16="http://schemas.microsoft.com/office/drawing/2014/main" id="{30BB0C6F-F659-4500-E18E-6826A66238F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5202" r="5033"/>
          <a:stretch/>
        </p:blipFill>
        <p:spPr>
          <a:xfrm>
            <a:off x="164125" y="1957389"/>
            <a:ext cx="8634469" cy="4560938"/>
          </a:xfrm>
          <a:prstGeom prst="rect">
            <a:avLst/>
          </a:prstGeom>
        </p:spPr>
      </p:pic>
      <p:pic>
        <p:nvPicPr>
          <p:cNvPr id="11" name="Picture 10" descr="A graph showing a graph&#10;&#10;Description automatically generated with medium confidence">
            <a:extLst>
              <a:ext uri="{FF2B5EF4-FFF2-40B4-BE49-F238E27FC236}">
                <a16:creationId xmlns:a16="http://schemas.microsoft.com/office/drawing/2014/main" id="{F4FE81E3-ACE9-29A2-72DA-16E95DC12A9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379"/>
          <a:stretch/>
        </p:blipFill>
        <p:spPr>
          <a:xfrm>
            <a:off x="5646417" y="617458"/>
            <a:ext cx="3497583" cy="1972192"/>
          </a:xfrm>
          <a:prstGeom prst="rect">
            <a:avLst/>
          </a:prstGeom>
        </p:spPr>
      </p:pic>
      <p:sp>
        <p:nvSpPr>
          <p:cNvPr id="13" name="TextBox 12">
            <a:extLst>
              <a:ext uri="{FF2B5EF4-FFF2-40B4-BE49-F238E27FC236}">
                <a16:creationId xmlns:a16="http://schemas.microsoft.com/office/drawing/2014/main" id="{7DDEA633-F3F0-DA1E-E3CC-5826EE4F570A}"/>
              </a:ext>
            </a:extLst>
          </p:cNvPr>
          <p:cNvSpPr txBox="1"/>
          <p:nvPr/>
        </p:nvSpPr>
        <p:spPr>
          <a:xfrm>
            <a:off x="605845" y="1165451"/>
            <a:ext cx="4572000" cy="923330"/>
          </a:xfrm>
          <a:prstGeom prst="rect">
            <a:avLst/>
          </a:prstGeom>
          <a:noFill/>
        </p:spPr>
        <p:txBody>
          <a:bodyPr wrap="square">
            <a:spAutoFit/>
          </a:bodyPr>
          <a:lstStyle/>
          <a:p>
            <a:pPr marL="342900" indent="-342900">
              <a:buFont typeface="Arial" panose="020B0604020202020204" pitchFamily="34" charset="0"/>
              <a:buChar char="•"/>
            </a:pPr>
            <a:r>
              <a:rPr lang="en-US" sz="1800" dirty="0">
                <a:latin typeface="Nadeem" pitchFamily="2" charset="-78"/>
                <a:cs typeface="Nadeem" pitchFamily="2" charset="-78"/>
              </a:rPr>
              <a:t>Weekly aggregation </a:t>
            </a:r>
          </a:p>
          <a:p>
            <a:pPr marL="342900" indent="-342900">
              <a:buFont typeface="Arial" panose="020B0604020202020204" pitchFamily="34" charset="0"/>
              <a:buChar char="•"/>
            </a:pPr>
            <a:r>
              <a:rPr lang="en-US" sz="1800" dirty="0">
                <a:latin typeface="Nadeem" pitchFamily="2" charset="-78"/>
                <a:cs typeface="Nadeem" pitchFamily="2" charset="-78"/>
              </a:rPr>
              <a:t>2016–2025 </a:t>
            </a:r>
          </a:p>
          <a:p>
            <a:pPr marL="342900" indent="-342900">
              <a:buFont typeface="Arial" panose="020B0604020202020204" pitchFamily="34" charset="0"/>
              <a:buChar char="•"/>
            </a:pPr>
            <a:r>
              <a:rPr lang="en-US" sz="1800" dirty="0">
                <a:latin typeface="Nadeem" pitchFamily="2" charset="-78"/>
                <a:cs typeface="Nadeem" pitchFamily="2" charset="-78"/>
              </a:rPr>
              <a:t>Strong seasonal pattern</a:t>
            </a:r>
            <a:endParaRPr lang="en-LB" sz="1800" dirty="0">
              <a:latin typeface="Nadeem" pitchFamily="2" charset="-78"/>
              <a:cs typeface="Nadeem" pitchFamily="2" charset="-78"/>
            </a:endParaRPr>
          </a:p>
        </p:txBody>
      </p:sp>
      <p:sp>
        <p:nvSpPr>
          <p:cNvPr id="9" name="Slide Number Placeholder 5">
            <a:extLst>
              <a:ext uri="{FF2B5EF4-FFF2-40B4-BE49-F238E27FC236}">
                <a16:creationId xmlns:a16="http://schemas.microsoft.com/office/drawing/2014/main" id="{DB4BA679-A732-16B7-9E98-86218AADB730}"/>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11</a:t>
            </a:fld>
            <a:endParaRPr lang="fr-FR" altLang="en-US" sz="1000" dirty="0">
              <a:solidFill>
                <a:schemeClr val="bg1"/>
              </a:solidFill>
              <a:latin typeface="+mn-lt"/>
            </a:endParaRPr>
          </a:p>
        </p:txBody>
      </p:sp>
    </p:spTree>
    <p:extLst>
      <p:ext uri="{BB962C8B-B14F-4D97-AF65-F5344CB8AC3E}">
        <p14:creationId xmlns:p14="http://schemas.microsoft.com/office/powerpoint/2010/main" val="170421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1C7D695-859F-D5A3-3E6F-C8228672318F}"/>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8" name="Footer Placeholder 4">
            <a:extLst>
              <a:ext uri="{FF2B5EF4-FFF2-40B4-BE49-F238E27FC236}">
                <a16:creationId xmlns:a16="http://schemas.microsoft.com/office/drawing/2014/main" id="{9A0C1927-83D2-9A6C-8554-2D34447D340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9" name="Picture 8" descr="A graph of a graph&#10;&#10;Description automatically generated">
            <a:extLst>
              <a:ext uri="{FF2B5EF4-FFF2-40B4-BE49-F238E27FC236}">
                <a16:creationId xmlns:a16="http://schemas.microsoft.com/office/drawing/2014/main" id="{7D769365-B99A-8C84-D02E-BA9228C58F74}"/>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1527"/>
          <a:stretch/>
        </p:blipFill>
        <p:spPr>
          <a:xfrm>
            <a:off x="-1" y="400329"/>
            <a:ext cx="6155473" cy="2862636"/>
          </a:xfrm>
          <a:prstGeom prst="rect">
            <a:avLst/>
          </a:prstGeom>
        </p:spPr>
      </p:pic>
      <p:pic>
        <p:nvPicPr>
          <p:cNvPr id="11" name="Picture 10" descr="A graph of a graph&#10;&#10;Description automatically generated">
            <a:extLst>
              <a:ext uri="{FF2B5EF4-FFF2-40B4-BE49-F238E27FC236}">
                <a16:creationId xmlns:a16="http://schemas.microsoft.com/office/drawing/2014/main" id="{32CF58EC-5B30-A078-AAAF-73776C639CC1}"/>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2338" r="11054"/>
          <a:stretch/>
        </p:blipFill>
        <p:spPr>
          <a:xfrm>
            <a:off x="-60285" y="3391257"/>
            <a:ext cx="6032112" cy="3199553"/>
          </a:xfrm>
          <a:prstGeom prst="rect">
            <a:avLst/>
          </a:prstGeom>
        </p:spPr>
      </p:pic>
      <p:pic>
        <p:nvPicPr>
          <p:cNvPr id="12" name="Picture 11" descr="A graph of a graph&#10;&#10;Description automatically generated">
            <a:extLst>
              <a:ext uri="{FF2B5EF4-FFF2-40B4-BE49-F238E27FC236}">
                <a16:creationId xmlns:a16="http://schemas.microsoft.com/office/drawing/2014/main" id="{ECCE4F0F-26D2-33BA-044C-26ED23A525A3}"/>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88432" t="12350" b="74487"/>
          <a:stretch/>
        </p:blipFill>
        <p:spPr>
          <a:xfrm>
            <a:off x="4696305" y="3443075"/>
            <a:ext cx="1056095" cy="646771"/>
          </a:xfrm>
          <a:prstGeom prst="rect">
            <a:avLst/>
          </a:prstGeom>
        </p:spPr>
      </p:pic>
      <p:pic>
        <p:nvPicPr>
          <p:cNvPr id="13" name="Picture 12" descr="A graph of a graph&#10;&#10;Description automatically generated">
            <a:extLst>
              <a:ext uri="{FF2B5EF4-FFF2-40B4-BE49-F238E27FC236}">
                <a16:creationId xmlns:a16="http://schemas.microsoft.com/office/drawing/2014/main" id="{891D33D1-81A7-F83B-B248-65DA3C219DC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804" r="50017" b="89152"/>
          <a:stretch/>
        </p:blipFill>
        <p:spPr>
          <a:xfrm>
            <a:off x="362066" y="3262965"/>
            <a:ext cx="2888166" cy="365125"/>
          </a:xfrm>
          <a:prstGeom prst="rect">
            <a:avLst/>
          </a:prstGeom>
        </p:spPr>
      </p:pic>
      <p:pic>
        <p:nvPicPr>
          <p:cNvPr id="14" name="Picture 13" descr="A graph of a graph&#10;&#10;Description automatically generated">
            <a:extLst>
              <a:ext uri="{FF2B5EF4-FFF2-40B4-BE49-F238E27FC236}">
                <a16:creationId xmlns:a16="http://schemas.microsoft.com/office/drawing/2014/main" id="{A334A83A-9222-9592-B67B-DE2155BA538C}"/>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510" r="70533" b="93279"/>
          <a:stretch/>
        </p:blipFill>
        <p:spPr>
          <a:xfrm>
            <a:off x="613317" y="400329"/>
            <a:ext cx="1505416" cy="213092"/>
          </a:xfrm>
          <a:prstGeom prst="rect">
            <a:avLst/>
          </a:prstGeom>
        </p:spPr>
      </p:pic>
      <p:sp>
        <p:nvSpPr>
          <p:cNvPr id="2" name="Title 1">
            <a:extLst>
              <a:ext uri="{FF2B5EF4-FFF2-40B4-BE49-F238E27FC236}">
                <a16:creationId xmlns:a16="http://schemas.microsoft.com/office/drawing/2014/main" id="{C0FA9525-AAA2-4712-73BE-85DB0C84DBA0}"/>
              </a:ext>
            </a:extLst>
          </p:cNvPr>
          <p:cNvSpPr>
            <a:spLocks noGrp="1"/>
          </p:cNvSpPr>
          <p:nvPr>
            <p:ph type="title"/>
          </p:nvPr>
        </p:nvSpPr>
        <p:spPr>
          <a:xfrm>
            <a:off x="6160815" y="695797"/>
            <a:ext cx="6254205" cy="1833154"/>
          </a:xfrm>
        </p:spPr>
        <p:txBody>
          <a:bodyPr/>
          <a:lstStyle/>
          <a:p>
            <a:pPr algn="l"/>
            <a:r>
              <a:rPr lang="en-LB" sz="2800" dirty="0">
                <a:solidFill>
                  <a:srgbClr val="0A1C72"/>
                </a:solidFill>
                <a:latin typeface="Nadeem" pitchFamily="2" charset="-78"/>
                <a:cs typeface="Nadeem" pitchFamily="2" charset="-78"/>
              </a:rPr>
              <a:t>Data </a:t>
            </a:r>
            <a:br>
              <a:rPr lang="en-LB" sz="2800" dirty="0">
                <a:solidFill>
                  <a:srgbClr val="0A1C72"/>
                </a:solidFill>
                <a:latin typeface="Nadeem" pitchFamily="2" charset="-78"/>
                <a:cs typeface="Nadeem" pitchFamily="2" charset="-78"/>
              </a:rPr>
            </a:br>
            <a:r>
              <a:rPr lang="en-LB" sz="2800" dirty="0">
                <a:solidFill>
                  <a:srgbClr val="0A1C72"/>
                </a:solidFill>
                <a:latin typeface="Nadeem" pitchFamily="2" charset="-78"/>
                <a:cs typeface="Nadeem" pitchFamily="2" charset="-78"/>
              </a:rPr>
              <a:t>Understanding</a:t>
            </a:r>
          </a:p>
        </p:txBody>
      </p:sp>
      <p:sp>
        <p:nvSpPr>
          <p:cNvPr id="15" name="TextBox 14">
            <a:extLst>
              <a:ext uri="{FF2B5EF4-FFF2-40B4-BE49-F238E27FC236}">
                <a16:creationId xmlns:a16="http://schemas.microsoft.com/office/drawing/2014/main" id="{3DCC3592-82CA-6C6D-4A17-AD58088263C9}"/>
              </a:ext>
            </a:extLst>
          </p:cNvPr>
          <p:cNvSpPr txBox="1"/>
          <p:nvPr/>
        </p:nvSpPr>
        <p:spPr>
          <a:xfrm>
            <a:off x="6032112" y="1646393"/>
            <a:ext cx="4080647" cy="1077218"/>
          </a:xfrm>
          <a:prstGeom prst="rect">
            <a:avLst/>
          </a:prstGeom>
          <a:noFill/>
        </p:spPr>
        <p:txBody>
          <a:bodyPr wrap="square">
            <a:spAutoFit/>
          </a:bodyPr>
          <a:lstStyle/>
          <a:p>
            <a:pPr marL="342900" indent="-342900">
              <a:buFont typeface="Arial" panose="020B0604020202020204" pitchFamily="34" charset="0"/>
              <a:buChar char="•"/>
            </a:pPr>
            <a:r>
              <a:rPr lang="en-US" sz="1600" dirty="0">
                <a:latin typeface="Nadeem" pitchFamily="2" charset="-78"/>
                <a:cs typeface="Nadeem" pitchFamily="2" charset="-78"/>
              </a:rPr>
              <a:t>MODIS = smoother (time) </a:t>
            </a:r>
          </a:p>
          <a:p>
            <a:pPr marL="342900" indent="-342900">
              <a:buFont typeface="Arial" panose="020B0604020202020204" pitchFamily="34" charset="0"/>
              <a:buChar char="•"/>
            </a:pPr>
            <a:r>
              <a:rPr lang="en-US" sz="1600" dirty="0">
                <a:latin typeface="Nadeem" pitchFamily="2" charset="-78"/>
                <a:cs typeface="Nadeem" pitchFamily="2" charset="-78"/>
              </a:rPr>
              <a:t>Sentinel = detailed (space) </a:t>
            </a:r>
          </a:p>
          <a:p>
            <a:pPr marL="342900" indent="-342900">
              <a:buFont typeface="Arial" panose="020B0604020202020204" pitchFamily="34" charset="0"/>
              <a:buChar char="•"/>
            </a:pPr>
            <a:r>
              <a:rPr lang="en-US" sz="1600" dirty="0">
                <a:latin typeface="Nadeem" pitchFamily="2" charset="-78"/>
                <a:cs typeface="Nadeem" pitchFamily="2" charset="-78"/>
              </a:rPr>
              <a:t>Higher altitude = longer snow persistence</a:t>
            </a:r>
            <a:endParaRPr lang="en-LB" sz="1600" dirty="0">
              <a:latin typeface="Nadeem" pitchFamily="2" charset="-78"/>
              <a:cs typeface="Nadeem" pitchFamily="2" charset="-78"/>
            </a:endParaRPr>
          </a:p>
        </p:txBody>
      </p:sp>
      <p:pic>
        <p:nvPicPr>
          <p:cNvPr id="16" name="Picture 15" descr="A graph of a graph&#10;&#10;Description automatically generated">
            <a:extLst>
              <a:ext uri="{FF2B5EF4-FFF2-40B4-BE49-F238E27FC236}">
                <a16:creationId xmlns:a16="http://schemas.microsoft.com/office/drawing/2014/main" id="{31CE16C8-FAEB-442F-6386-7351B72BD7F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517538" y="2843940"/>
            <a:ext cx="2220990" cy="1170119"/>
          </a:xfrm>
          <a:prstGeom prst="rect">
            <a:avLst/>
          </a:prstGeom>
        </p:spPr>
      </p:pic>
      <p:pic>
        <p:nvPicPr>
          <p:cNvPr id="17" name="Picture 16" descr="A graph of a graph&#10;&#10;Description automatically generated">
            <a:extLst>
              <a:ext uri="{FF2B5EF4-FFF2-40B4-BE49-F238E27FC236}">
                <a16:creationId xmlns:a16="http://schemas.microsoft.com/office/drawing/2014/main" id="{336EBBB2-CE94-3D78-E3E3-75DAEB9BFCF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76221" y="4060510"/>
            <a:ext cx="2326645" cy="1212424"/>
          </a:xfrm>
          <a:prstGeom prst="rect">
            <a:avLst/>
          </a:prstGeom>
        </p:spPr>
      </p:pic>
      <p:pic>
        <p:nvPicPr>
          <p:cNvPr id="18" name="Picture 17" descr="A graph of a graph&#10;&#10;Description automatically generated with medium confidence">
            <a:extLst>
              <a:ext uri="{FF2B5EF4-FFF2-40B4-BE49-F238E27FC236}">
                <a16:creationId xmlns:a16="http://schemas.microsoft.com/office/drawing/2014/main" id="{2CFA9709-4532-7F14-B256-1176D2903CC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476222" y="5318348"/>
            <a:ext cx="2326645" cy="1227048"/>
          </a:xfrm>
          <a:prstGeom prst="rect">
            <a:avLst/>
          </a:prstGeom>
        </p:spPr>
      </p:pic>
      <p:sp>
        <p:nvSpPr>
          <p:cNvPr id="19" name="Slide Number Placeholder 5">
            <a:extLst>
              <a:ext uri="{FF2B5EF4-FFF2-40B4-BE49-F238E27FC236}">
                <a16:creationId xmlns:a16="http://schemas.microsoft.com/office/drawing/2014/main" id="{0FF880FD-C0D8-7A6F-C176-D83CAD9FC03B}"/>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12</a:t>
            </a:fld>
            <a:endParaRPr lang="fr-FR" altLang="en-US" sz="1000" dirty="0">
              <a:solidFill>
                <a:schemeClr val="bg1"/>
              </a:solidFill>
              <a:latin typeface="+mn-lt"/>
            </a:endParaRPr>
          </a:p>
        </p:txBody>
      </p:sp>
    </p:spTree>
    <p:extLst>
      <p:ext uri="{BB962C8B-B14F-4D97-AF65-F5344CB8AC3E}">
        <p14:creationId xmlns:p14="http://schemas.microsoft.com/office/powerpoint/2010/main" val="1563693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91C7D695-859F-D5A3-3E6F-C8228672318F}"/>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8" name="Footer Placeholder 4">
            <a:extLst>
              <a:ext uri="{FF2B5EF4-FFF2-40B4-BE49-F238E27FC236}">
                <a16:creationId xmlns:a16="http://schemas.microsoft.com/office/drawing/2014/main" id="{9A0C1927-83D2-9A6C-8554-2D34447D340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0" name="Title 1">
            <a:extLst>
              <a:ext uri="{FF2B5EF4-FFF2-40B4-BE49-F238E27FC236}">
                <a16:creationId xmlns:a16="http://schemas.microsoft.com/office/drawing/2014/main" id="{691593A7-2566-16C6-9658-049C0C7A20BE}"/>
              </a:ext>
            </a:extLst>
          </p:cNvPr>
          <p:cNvSpPr txBox="1">
            <a:spLocks/>
          </p:cNvSpPr>
          <p:nvPr/>
        </p:nvSpPr>
        <p:spPr>
          <a:xfrm>
            <a:off x="511780" y="397157"/>
            <a:ext cx="6254205" cy="1833154"/>
          </a:xfrm>
          <a:prstGeom prst="rect">
            <a:avLst/>
          </a:prstGeom>
        </p:spPr>
        <p:txBody>
          <a:bodyPr vert="horz"/>
          <a:lstStyle>
            <a:lvl1pPr algn="r" defTabSz="457200" rtl="0" eaLnBrk="0" fontAlgn="base" hangingPunct="0">
              <a:spcBef>
                <a:spcPct val="0"/>
              </a:spcBef>
              <a:spcAft>
                <a:spcPct val="0"/>
              </a:spcAft>
              <a:buClr>
                <a:srgbClr val="17375E"/>
              </a:buClr>
              <a:buFont typeface="Wingdings" charset="2"/>
              <a:defRPr lang="fr-FR" sz="3200" b="1" i="0" kern="1200" dirty="0">
                <a:solidFill>
                  <a:schemeClr val="tx1"/>
                </a:solidFill>
                <a:latin typeface="Arial" charset="0"/>
                <a:ea typeface="Arial" charset="0"/>
                <a:cs typeface="Arial" charset="0"/>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a:lstStyle>
          <a:p>
            <a:pPr algn="l"/>
            <a:r>
              <a:rPr lang="en-LB" sz="2800" dirty="0">
                <a:solidFill>
                  <a:srgbClr val="0A1C72"/>
                </a:solidFill>
                <a:latin typeface="Nadeem" pitchFamily="2" charset="-78"/>
                <a:cs typeface="Nadeem" pitchFamily="2" charset="-78"/>
              </a:rPr>
              <a:t>Dataset + Features + Normalization</a:t>
            </a:r>
          </a:p>
        </p:txBody>
      </p:sp>
      <p:pic>
        <p:nvPicPr>
          <p:cNvPr id="11" name="Picture 10" descr="A table of numbers and letters&#10;&#10;Description automatically generated">
            <a:extLst>
              <a:ext uri="{FF2B5EF4-FFF2-40B4-BE49-F238E27FC236}">
                <a16:creationId xmlns:a16="http://schemas.microsoft.com/office/drawing/2014/main" id="{6FE76B69-E81A-8E65-CB28-3109CEA13D3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 b="59585"/>
          <a:stretch/>
        </p:blipFill>
        <p:spPr>
          <a:xfrm>
            <a:off x="3464" y="819280"/>
            <a:ext cx="9140536" cy="1712047"/>
          </a:xfrm>
          <a:prstGeom prst="rect">
            <a:avLst/>
          </a:prstGeom>
        </p:spPr>
      </p:pic>
      <p:graphicFrame>
        <p:nvGraphicFramePr>
          <p:cNvPr id="5" name="Table 4">
            <a:extLst>
              <a:ext uri="{FF2B5EF4-FFF2-40B4-BE49-F238E27FC236}">
                <a16:creationId xmlns:a16="http://schemas.microsoft.com/office/drawing/2014/main" id="{2472FD49-5190-F3F9-7E76-28E7930710B5}"/>
              </a:ext>
            </a:extLst>
          </p:cNvPr>
          <p:cNvGraphicFramePr>
            <a:graphicFrameLocks noGrp="1"/>
          </p:cNvGraphicFramePr>
          <p:nvPr>
            <p:extLst>
              <p:ext uri="{D42A27DB-BD31-4B8C-83A1-F6EECF244321}">
                <p14:modId xmlns:p14="http://schemas.microsoft.com/office/powerpoint/2010/main" val="3245565656"/>
              </p:ext>
            </p:extLst>
          </p:nvPr>
        </p:nvGraphicFramePr>
        <p:xfrm>
          <a:off x="710538" y="2756973"/>
          <a:ext cx="7410220" cy="2265500"/>
        </p:xfrm>
        <a:graphic>
          <a:graphicData uri="http://schemas.openxmlformats.org/drawingml/2006/table">
            <a:tbl>
              <a:tblPr firstRow="1" firstCol="1" bandRow="1">
                <a:tableStyleId>{5940675A-B579-460E-94D1-54222C63F5DA}</a:tableStyleId>
              </a:tblPr>
              <a:tblGrid>
                <a:gridCol w="3705110">
                  <a:extLst>
                    <a:ext uri="{9D8B030D-6E8A-4147-A177-3AD203B41FA5}">
                      <a16:colId xmlns:a16="http://schemas.microsoft.com/office/drawing/2014/main" val="4200696457"/>
                    </a:ext>
                  </a:extLst>
                </a:gridCol>
                <a:gridCol w="3705110">
                  <a:extLst>
                    <a:ext uri="{9D8B030D-6E8A-4147-A177-3AD203B41FA5}">
                      <a16:colId xmlns:a16="http://schemas.microsoft.com/office/drawing/2014/main" val="3276414941"/>
                    </a:ext>
                  </a:extLst>
                </a:gridCol>
              </a:tblGrid>
              <a:tr h="231055">
                <a:tc>
                  <a:txBody>
                    <a:bodyPr/>
                    <a:lstStyle/>
                    <a:p>
                      <a:pPr algn="ctr"/>
                      <a:r>
                        <a:rPr lang="en-LB" sz="1400" b="1" dirty="0">
                          <a:effectLst/>
                          <a:latin typeface="Nadeem" pitchFamily="2" charset="-78"/>
                          <a:cs typeface="Nadeem" pitchFamily="2" charset="-78"/>
                        </a:rPr>
                        <a:t>Feature Category</a:t>
                      </a:r>
                      <a:endParaRPr lang="en-LB" sz="16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Variables</a:t>
                      </a:r>
                      <a:endParaRPr lang="en-LB" sz="16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extLst>
                  <a:ext uri="{0D108BD9-81ED-4DB2-BD59-A6C34878D82A}">
                    <a16:rowId xmlns:a16="http://schemas.microsoft.com/office/drawing/2014/main" val="2951328171"/>
                  </a:ext>
                </a:extLst>
              </a:tr>
              <a:tr h="216908">
                <a:tc>
                  <a:txBody>
                    <a:bodyPr/>
                    <a:lstStyle/>
                    <a:p>
                      <a:r>
                        <a:rPr lang="en-LB" sz="1400">
                          <a:effectLst/>
                          <a:latin typeface="Nadeem" pitchFamily="2" charset="-78"/>
                          <a:cs typeface="Nadeem" pitchFamily="2" charset="-78"/>
                        </a:rPr>
                        <a:t>Seasonal encoding</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week_sin, week_cos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61114815"/>
                  </a:ext>
                </a:extLst>
              </a:tr>
              <a:tr h="242593">
                <a:tc>
                  <a:txBody>
                    <a:bodyPr/>
                    <a:lstStyle/>
                    <a:p>
                      <a:r>
                        <a:rPr lang="en-LB" sz="1400">
                          <a:effectLst/>
                          <a:latin typeface="Nadeem" pitchFamily="2" charset="-78"/>
                          <a:cs typeface="Nadeem" pitchFamily="2" charset="-78"/>
                        </a:rPr>
                        <a:t>Persistence</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snow_last_week, snow_last_2weeks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259480077"/>
                  </a:ext>
                </a:extLst>
              </a:tr>
              <a:tr h="231055">
                <a:tc>
                  <a:txBody>
                    <a:bodyPr/>
                    <a:lstStyle/>
                    <a:p>
                      <a:r>
                        <a:rPr lang="en-LB" sz="1400">
                          <a:effectLst/>
                          <a:latin typeface="Nadeem" pitchFamily="2" charset="-78"/>
                          <a:cs typeface="Nadeem" pitchFamily="2" charset="-78"/>
                        </a:rPr>
                        <a:t>Change dynamics</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snow_change_ratio</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108439553"/>
                  </a:ext>
                </a:extLst>
              </a:tr>
              <a:tr h="216908">
                <a:tc>
                  <a:txBody>
                    <a:bodyPr/>
                    <a:lstStyle/>
                    <a:p>
                      <a:r>
                        <a:rPr lang="en-LB" sz="1400">
                          <a:effectLst/>
                          <a:latin typeface="Nadeem" pitchFamily="2" charset="-78"/>
                          <a:cs typeface="Nadeem" pitchFamily="2" charset="-78"/>
                        </a:rPr>
                        <a:t>Aggregated snow signal</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snow_mean</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941238160"/>
                  </a:ext>
                </a:extLst>
              </a:tr>
              <a:tr h="231055">
                <a:tc>
                  <a:txBody>
                    <a:bodyPr/>
                    <a:lstStyle/>
                    <a:p>
                      <a:r>
                        <a:rPr lang="en-LB" sz="1400">
                          <a:effectLst/>
                          <a:latin typeface="Nadeem" pitchFamily="2" charset="-78"/>
                          <a:cs typeface="Nadeem" pitchFamily="2" charset="-78"/>
                        </a:rPr>
                        <a:t>Temporal derivatives</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snow_gradient, snow_acceleration</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160683570"/>
                  </a:ext>
                </a:extLst>
              </a:tr>
              <a:tr h="231055">
                <a:tc>
                  <a:txBody>
                    <a:bodyPr/>
                    <a:lstStyle/>
                    <a:p>
                      <a:r>
                        <a:rPr lang="en-LB" sz="1400">
                          <a:effectLst/>
                          <a:latin typeface="Nadeem" pitchFamily="2" charset="-78"/>
                          <a:cs typeface="Nadeem" pitchFamily="2" charset="-78"/>
                        </a:rPr>
                        <a:t>Sentinel-2 snow coverage</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3 altitude bands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071965500"/>
                  </a:ext>
                </a:extLst>
              </a:tr>
              <a:tr h="216908">
                <a:tc>
                  <a:txBody>
                    <a:bodyPr/>
                    <a:lstStyle/>
                    <a:p>
                      <a:r>
                        <a:rPr lang="en-LB" sz="1400">
                          <a:effectLst/>
                          <a:latin typeface="Nadeem" pitchFamily="2" charset="-78"/>
                          <a:cs typeface="Nadeem" pitchFamily="2" charset="-78"/>
                        </a:rPr>
                        <a:t>MODIS snow coverage</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3 altitude bands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490270159"/>
                  </a:ext>
                </a:extLst>
              </a:tr>
              <a:tr h="231055">
                <a:tc>
                  <a:txBody>
                    <a:bodyPr/>
                    <a:lstStyle/>
                    <a:p>
                      <a:r>
                        <a:rPr lang="en-LB" sz="1400">
                          <a:effectLst/>
                          <a:latin typeface="Nadeem" pitchFamily="2" charset="-78"/>
                          <a:cs typeface="Nadeem" pitchFamily="2" charset="-78"/>
                        </a:rPr>
                        <a:t>Temperature</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3 altitude bands</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511746676"/>
                  </a:ext>
                </a:extLst>
              </a:tr>
              <a:tr h="216908">
                <a:tc>
                  <a:txBody>
                    <a:bodyPr/>
                    <a:lstStyle/>
                    <a:p>
                      <a:r>
                        <a:rPr lang="en-LB" sz="1400">
                          <a:effectLst/>
                          <a:latin typeface="Nadeem" pitchFamily="2" charset="-78"/>
                          <a:cs typeface="Nadeem" pitchFamily="2" charset="-78"/>
                        </a:rPr>
                        <a:t>Precipitation</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dirty="0">
                          <a:effectLst/>
                          <a:latin typeface="Nadeem" pitchFamily="2" charset="-78"/>
                          <a:cs typeface="Nadeem" pitchFamily="2" charset="-78"/>
                        </a:rPr>
                        <a:t>3 altitude bands</a:t>
                      </a:r>
                      <a:endParaRPr lang="en-LB" sz="1600" dirty="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628367410"/>
                  </a:ext>
                </a:extLst>
              </a:tr>
            </a:tbl>
          </a:graphicData>
        </a:graphic>
      </p:graphicFrame>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48BCDA30-B71D-0291-720C-6BF6AFEF7A1E}"/>
                  </a:ext>
                </a:extLst>
              </p:cNvPr>
              <p:cNvSpPr txBox="1"/>
              <p:nvPr/>
            </p:nvSpPr>
            <p:spPr>
              <a:xfrm>
                <a:off x="407019" y="5176629"/>
                <a:ext cx="8329961" cy="1260025"/>
              </a:xfrm>
              <a:prstGeom prst="rect">
                <a:avLst/>
              </a:prstGeom>
              <a:noFill/>
            </p:spPr>
            <p:txBody>
              <a:bodyPr wrap="square">
                <a:spAutoFit/>
              </a:bodyPr>
              <a:lstStyle/>
              <a:p>
                <a:r>
                  <a:rPr lang="en-LB" sz="1400" dirty="0">
                    <a:effectLst/>
                    <a:latin typeface="Nadeem" pitchFamily="2" charset="-78"/>
                    <a:ea typeface="Times New Roman" panose="02020603050405020304" pitchFamily="18" charset="0"/>
                    <a:cs typeface="Nadeem" pitchFamily="2" charset="-78"/>
                  </a:rPr>
                  <a:t>The transformation standardizes each feature according to:    </a:t>
                </a:r>
                <a14:m>
                  <m:oMath xmlns:m="http://schemas.openxmlformats.org/officeDocument/2006/math">
                    <m:r>
                      <a:rPr lang="en-LB" sz="1400" i="1">
                        <a:effectLst/>
                        <a:latin typeface="Cambria Math" panose="02040503050406030204" pitchFamily="18" charset="0"/>
                        <a:ea typeface="Times New Roman" panose="02020603050405020304" pitchFamily="18" charset="0"/>
                      </a:rPr>
                      <m:t>𝑍</m:t>
                    </m:r>
                    <m:r>
                      <a:rPr lang="en-LB" sz="1400" i="1">
                        <a:effectLst/>
                        <a:latin typeface="Cambria Math" panose="02040503050406030204" pitchFamily="18" charset="0"/>
                        <a:ea typeface="Times New Roman" panose="02020603050405020304" pitchFamily="18" charset="0"/>
                      </a:rPr>
                      <m:t>=</m:t>
                    </m:r>
                    <m:f>
                      <m:fPr>
                        <m:ctrlPr>
                          <a:rPr lang="en-LB" sz="1400" i="1">
                            <a:effectLst/>
                            <a:latin typeface="Cambria Math" panose="02040503050406030204" pitchFamily="18" charset="0"/>
                            <a:ea typeface="Times New Roman" panose="02020603050405020304" pitchFamily="18" charset="0"/>
                          </a:rPr>
                        </m:ctrlPr>
                      </m:fPr>
                      <m:num>
                        <m:r>
                          <a:rPr lang="en-LB" sz="1400" i="1">
                            <a:effectLst/>
                            <a:latin typeface="Cambria Math" panose="02040503050406030204" pitchFamily="18" charset="0"/>
                            <a:ea typeface="Times New Roman" panose="02020603050405020304" pitchFamily="18" charset="0"/>
                          </a:rPr>
                          <m:t>𝑋</m:t>
                        </m:r>
                        <m:r>
                          <a:rPr lang="en-LB" sz="1400" i="1">
                            <a:effectLst/>
                            <a:latin typeface="Cambria Math" panose="02040503050406030204" pitchFamily="18" charset="0"/>
                            <a:ea typeface="Times New Roman" panose="02020603050405020304" pitchFamily="18" charset="0"/>
                          </a:rPr>
                          <m:t>−</m:t>
                        </m:r>
                        <m:r>
                          <a:rPr lang="en-LB" sz="1400" i="1">
                            <a:effectLst/>
                            <a:latin typeface="Cambria Math" panose="02040503050406030204" pitchFamily="18" charset="0"/>
                            <a:ea typeface="Times New Roman" panose="02020603050405020304" pitchFamily="18" charset="0"/>
                          </a:rPr>
                          <m:t>𝜇</m:t>
                        </m:r>
                      </m:num>
                      <m:den>
                        <m:r>
                          <a:rPr lang="en-LB" sz="1400" i="1">
                            <a:effectLst/>
                            <a:latin typeface="Cambria Math" panose="02040503050406030204" pitchFamily="18" charset="0"/>
                            <a:ea typeface="Times New Roman" panose="02020603050405020304" pitchFamily="18" charset="0"/>
                          </a:rPr>
                          <m:t>𝜎</m:t>
                        </m:r>
                      </m:den>
                    </m:f>
                  </m:oMath>
                </a14:m>
                <a:endParaRPr lang="en-LB" sz="1400" dirty="0">
                  <a:effectLst/>
                  <a:latin typeface="Nadeem" pitchFamily="2" charset="-78"/>
                  <a:ea typeface="Times New Roman" panose="02020603050405020304" pitchFamily="18" charset="0"/>
                  <a:cs typeface="Nadeem" pitchFamily="2" charset="-78"/>
                </a:endParaRPr>
              </a:p>
              <a:p>
                <a:r>
                  <a:rPr lang="en-LB" sz="1400" dirty="0">
                    <a:effectLst/>
                    <a:latin typeface="Nadeem" pitchFamily="2" charset="-78"/>
                    <a:ea typeface="Times New Roman" panose="02020603050405020304" pitchFamily="18" charset="0"/>
                    <a:cs typeface="Nadeem" pitchFamily="2" charset="-78"/>
                  </a:rPr>
                  <a:t>where:</a:t>
                </a:r>
              </a:p>
              <a:p>
                <a:pPr marL="342900" lvl="0" indent="-342900">
                  <a:buSzPts val="1000"/>
                  <a:buFont typeface="Symbol" pitchFamily="2" charset="2"/>
                  <a:buChar char=""/>
                  <a:tabLst>
                    <a:tab pos="457200" algn="l"/>
                  </a:tabLst>
                </a:pPr>
                <a14:m>
                  <m:oMath xmlns:m="http://schemas.openxmlformats.org/officeDocument/2006/math">
                    <m:r>
                      <a:rPr lang="en-LB" sz="1400" i="1">
                        <a:effectLst/>
                        <a:latin typeface="Cambria Math" panose="02040503050406030204" pitchFamily="18" charset="0"/>
                        <a:ea typeface="Times New Roman" panose="02020603050405020304" pitchFamily="18" charset="0"/>
                      </a:rPr>
                      <m:t>𝑋</m:t>
                    </m:r>
                  </m:oMath>
                </a14:m>
                <a:r>
                  <a:rPr lang="en-LB" sz="1400" dirty="0">
                    <a:effectLst/>
                    <a:latin typeface="Nadeem" pitchFamily="2" charset="-78"/>
                    <a:ea typeface="Times New Roman" panose="02020603050405020304" pitchFamily="18" charset="0"/>
                    <a:cs typeface="Nadeem" pitchFamily="2" charset="-78"/>
                  </a:rPr>
                  <a:t> is the original feature value </a:t>
                </a:r>
              </a:p>
              <a:p>
                <a:pPr marL="342900" lvl="0" indent="-342900">
                  <a:buSzPts val="1000"/>
                  <a:buFont typeface="Symbol" pitchFamily="2" charset="2"/>
                  <a:buChar char=""/>
                  <a:tabLst>
                    <a:tab pos="457200" algn="l"/>
                  </a:tabLst>
                </a:pPr>
                <a14:m>
                  <m:oMath xmlns:m="http://schemas.openxmlformats.org/officeDocument/2006/math">
                    <m:r>
                      <a:rPr lang="en-LB" sz="1400" i="1">
                        <a:effectLst/>
                        <a:latin typeface="Cambria Math" panose="02040503050406030204" pitchFamily="18" charset="0"/>
                        <a:ea typeface="Times New Roman" panose="02020603050405020304" pitchFamily="18" charset="0"/>
                      </a:rPr>
                      <m:t>𝜇</m:t>
                    </m:r>
                  </m:oMath>
                </a14:m>
                <a:r>
                  <a:rPr lang="en-LB" sz="1400" dirty="0">
                    <a:effectLst/>
                    <a:latin typeface="Nadeem" pitchFamily="2" charset="-78"/>
                    <a:ea typeface="Times New Roman" panose="02020603050405020304" pitchFamily="18" charset="0"/>
                    <a:cs typeface="Nadeem" pitchFamily="2" charset="-78"/>
                  </a:rPr>
                  <a:t> is the feature mean </a:t>
                </a:r>
              </a:p>
              <a:p>
                <a:pPr marL="342900" lvl="0" indent="-342900">
                  <a:buSzPts val="1000"/>
                  <a:buFont typeface="Symbol" pitchFamily="2" charset="2"/>
                  <a:buChar char=""/>
                  <a:tabLst>
                    <a:tab pos="457200" algn="l"/>
                  </a:tabLst>
                </a:pPr>
                <a14:m>
                  <m:oMath xmlns:m="http://schemas.openxmlformats.org/officeDocument/2006/math">
                    <m:r>
                      <a:rPr lang="en-LB" sz="1400" i="1">
                        <a:effectLst/>
                        <a:latin typeface="Cambria Math" panose="02040503050406030204" pitchFamily="18" charset="0"/>
                        <a:ea typeface="Times New Roman" panose="02020603050405020304" pitchFamily="18" charset="0"/>
                      </a:rPr>
                      <m:t>𝜎</m:t>
                    </m:r>
                  </m:oMath>
                </a14:m>
                <a:r>
                  <a:rPr lang="en-LB" sz="1400" dirty="0">
                    <a:effectLst/>
                    <a:latin typeface="Nadeem" pitchFamily="2" charset="-78"/>
                    <a:ea typeface="Times New Roman" panose="02020603050405020304" pitchFamily="18" charset="0"/>
                    <a:cs typeface="Nadeem" pitchFamily="2" charset="-78"/>
                  </a:rPr>
                  <a:t> is the feature standard deviation </a:t>
                </a:r>
              </a:p>
            </p:txBody>
          </p:sp>
        </mc:Choice>
        <mc:Fallback xmlns="">
          <p:sp>
            <p:nvSpPr>
              <p:cNvPr id="13" name="TextBox 12">
                <a:extLst>
                  <a:ext uri="{FF2B5EF4-FFF2-40B4-BE49-F238E27FC236}">
                    <a16:creationId xmlns:a16="http://schemas.microsoft.com/office/drawing/2014/main" id="{48BCDA30-B71D-0291-720C-6BF6AFEF7A1E}"/>
                  </a:ext>
                </a:extLst>
              </p:cNvPr>
              <p:cNvSpPr txBox="1">
                <a:spLocks noRot="1" noChangeAspect="1" noMove="1" noResize="1" noEditPoints="1" noAdjustHandles="1" noChangeArrowheads="1" noChangeShapeType="1" noTextEdit="1"/>
              </p:cNvSpPr>
              <p:nvPr/>
            </p:nvSpPr>
            <p:spPr>
              <a:xfrm>
                <a:off x="407019" y="5176629"/>
                <a:ext cx="8329961" cy="1260025"/>
              </a:xfrm>
              <a:prstGeom prst="rect">
                <a:avLst/>
              </a:prstGeom>
              <a:blipFill>
                <a:blip r:embed="rId4"/>
                <a:stretch>
                  <a:fillRect l="-305" b="-2000"/>
                </a:stretch>
              </a:blipFill>
            </p:spPr>
            <p:txBody>
              <a:bodyPr/>
              <a:lstStyle/>
              <a:p>
                <a:r>
                  <a:rPr lang="en-LB">
                    <a:noFill/>
                  </a:rPr>
                  <a:t> </a:t>
                </a:r>
              </a:p>
            </p:txBody>
          </p:sp>
        </mc:Fallback>
      </mc:AlternateContent>
      <p:sp>
        <p:nvSpPr>
          <p:cNvPr id="9" name="Slide Number Placeholder 5">
            <a:extLst>
              <a:ext uri="{FF2B5EF4-FFF2-40B4-BE49-F238E27FC236}">
                <a16:creationId xmlns:a16="http://schemas.microsoft.com/office/drawing/2014/main" id="{DE6308FA-CBD4-BB4F-EF87-5317C2CA5AAA}"/>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13</a:t>
            </a:fld>
            <a:endParaRPr lang="fr-FR" altLang="en-US" sz="1000" dirty="0">
              <a:solidFill>
                <a:schemeClr val="bg1"/>
              </a:solidFill>
              <a:latin typeface="+mn-lt"/>
            </a:endParaRPr>
          </a:p>
        </p:txBody>
      </p:sp>
    </p:spTree>
    <p:extLst>
      <p:ext uri="{BB962C8B-B14F-4D97-AF65-F5344CB8AC3E}">
        <p14:creationId xmlns:p14="http://schemas.microsoft.com/office/powerpoint/2010/main" val="15377553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DC71FCB1-1C16-F1F9-58EE-447D9662B0FC}"/>
              </a:ext>
            </a:extLst>
          </p:cNvPr>
          <p:cNvGraphicFramePr/>
          <p:nvPr>
            <p:extLst>
              <p:ext uri="{D42A27DB-BD31-4B8C-83A1-F6EECF244321}">
                <p14:modId xmlns:p14="http://schemas.microsoft.com/office/powerpoint/2010/main" val="2160507308"/>
              </p:ext>
            </p:extLst>
          </p:nvPr>
        </p:nvGraphicFramePr>
        <p:xfrm>
          <a:off x="241568" y="1192899"/>
          <a:ext cx="4584469" cy="3210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FD6C24D-5803-5A5A-756F-9F2B00DBA53A}"/>
                  </a:ext>
                </a:extLst>
              </p:cNvPr>
              <p:cNvSpPr txBox="1"/>
              <p:nvPr/>
            </p:nvSpPr>
            <p:spPr>
              <a:xfrm>
                <a:off x="272970" y="1590508"/>
                <a:ext cx="6254205" cy="738664"/>
              </a:xfrm>
              <a:prstGeom prst="rect">
                <a:avLst/>
              </a:prstGeom>
              <a:noFill/>
            </p:spPr>
            <p:txBody>
              <a:bodyPr wrap="square">
                <a:spAutoFit/>
              </a:bodyPr>
              <a:lstStyle/>
              <a:p>
                <a:r>
                  <a:rPr lang="en-LB" sz="1400" dirty="0">
                    <a:effectLst/>
                    <a:latin typeface="Nadeem" pitchFamily="2" charset="-78"/>
                    <a:ea typeface="Times New Roman" panose="02020603050405020304" pitchFamily="18" charset="0"/>
                    <a:cs typeface="Nadeem" pitchFamily="2" charset="-78"/>
                  </a:rPr>
                  <a:t>Mathematically:   </a:t>
                </a:r>
              </a:p>
              <a:p>
                <a:pPr/>
                <a14:m>
                  <m:oMathPara xmlns:m="http://schemas.openxmlformats.org/officeDocument/2006/math">
                    <m:oMathParaPr>
                      <m:jc m:val="left"/>
                    </m:oMathParaPr>
                    <m:oMath xmlns:m="http://schemas.openxmlformats.org/officeDocument/2006/math">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𝑋</m:t>
                          </m:r>
                        </m:e>
                        <m:sub>
                          <m:r>
                            <a:rPr lang="en-LB" sz="1400" i="1">
                              <a:effectLst/>
                              <a:latin typeface="Cambria Math" panose="02040503050406030204" pitchFamily="18" charset="0"/>
                              <a:ea typeface="Times New Roman" panose="02020603050405020304" pitchFamily="18" charset="0"/>
                            </a:rPr>
                            <m:t>𝑡</m:t>
                          </m:r>
                        </m:sub>
                      </m:sSub>
                      <m:r>
                        <a:rPr lang="en-LB" sz="1400" i="1">
                          <a:effectLst/>
                          <a:latin typeface="Cambria Math" panose="02040503050406030204" pitchFamily="18" charset="0"/>
                          <a:ea typeface="Times New Roman" panose="02020603050405020304" pitchFamily="18" charset="0"/>
                        </a:rPr>
                        <m:t>=</m:t>
                      </m:r>
                      <m:d>
                        <m:dPr>
                          <m:begChr m:val="["/>
                          <m:endChr m:val="]"/>
                          <m:ctrlPr>
                            <a:rPr lang="en-LB" sz="1400" i="1">
                              <a:effectLst/>
                              <a:latin typeface="Cambria Math" panose="02040503050406030204" pitchFamily="18" charset="0"/>
                              <a:ea typeface="Times New Roman" panose="02020603050405020304" pitchFamily="18" charset="0"/>
                            </a:rPr>
                          </m:ctrlPr>
                        </m:dPr>
                        <m:e>
                          <m:r>
                            <a:rPr lang="en-LB" sz="1400" i="1">
                              <a:effectLst/>
                              <a:latin typeface="Cambria Math" panose="02040503050406030204" pitchFamily="18" charset="0"/>
                              <a:ea typeface="Times New Roman" panose="02020603050405020304" pitchFamily="18" charset="0"/>
                            </a:rPr>
                            <m:t> </m:t>
                          </m:r>
                          <m:r>
                            <a:rPr lang="en-LB" sz="1400" i="1">
                              <a:effectLst/>
                              <a:latin typeface="Cambria Math" panose="02040503050406030204" pitchFamily="18" charset="0"/>
                              <a:ea typeface="Times New Roman" panose="02020603050405020304" pitchFamily="18" charset="0"/>
                            </a:rPr>
                            <m:t>𝑤𝑒𝑒</m:t>
                          </m:r>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𝑘</m:t>
                              </m:r>
                            </m:e>
                            <m:sub>
                              <m:r>
                                <a:rPr lang="en-LB" sz="1400" i="1">
                                  <a:effectLst/>
                                  <a:latin typeface="Cambria Math" panose="02040503050406030204" pitchFamily="18" charset="0"/>
                                  <a:ea typeface="Times New Roman" panose="02020603050405020304" pitchFamily="18" charset="0"/>
                                </a:rPr>
                                <m:t>𝑡</m:t>
                              </m:r>
                              <m:r>
                                <a:rPr lang="en-LB" sz="1400" i="1">
                                  <a:effectLst/>
                                  <a:latin typeface="Cambria Math" panose="02040503050406030204" pitchFamily="18" charset="0"/>
                                  <a:ea typeface="Times New Roman" panose="02020603050405020304" pitchFamily="18" charset="0"/>
                                </a:rPr>
                                <m:t>−7</m:t>
                              </m:r>
                            </m:sub>
                          </m:sSub>
                          <m:r>
                            <a:rPr lang="en-LB" sz="1400" i="1">
                              <a:effectLst/>
                              <a:latin typeface="Cambria Math" panose="02040503050406030204" pitchFamily="18" charset="0"/>
                              <a:ea typeface="Times New Roman" panose="02020603050405020304" pitchFamily="18" charset="0"/>
                            </a:rPr>
                            <m:t>, …, </m:t>
                          </m:r>
                          <m:r>
                            <a:rPr lang="en-LB" sz="1400" i="1">
                              <a:effectLst/>
                              <a:latin typeface="Cambria Math" panose="02040503050406030204" pitchFamily="18" charset="0"/>
                              <a:ea typeface="Times New Roman" panose="02020603050405020304" pitchFamily="18" charset="0"/>
                            </a:rPr>
                            <m:t>𝑤𝑒𝑒</m:t>
                          </m:r>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𝑘</m:t>
                              </m:r>
                            </m:e>
                            <m:sub>
                              <m:r>
                                <a:rPr lang="en-LB" sz="1400" i="1">
                                  <a:effectLst/>
                                  <a:latin typeface="Cambria Math" panose="02040503050406030204" pitchFamily="18" charset="0"/>
                                  <a:ea typeface="Times New Roman" panose="02020603050405020304" pitchFamily="18" charset="0"/>
                                </a:rPr>
                                <m:t>𝑡</m:t>
                              </m:r>
                            </m:sub>
                          </m:sSub>
                          <m:r>
                            <a:rPr lang="en-LB" sz="1400" i="1">
                              <a:effectLst/>
                              <a:latin typeface="Cambria Math" panose="02040503050406030204" pitchFamily="18" charset="0"/>
                              <a:ea typeface="Times New Roman" panose="02020603050405020304" pitchFamily="18" charset="0"/>
                            </a:rPr>
                            <m:t> </m:t>
                          </m:r>
                        </m:e>
                      </m:d>
                      <m:r>
                        <a:rPr lang="en-US" sz="1400" b="0" i="1" smtClean="0">
                          <a:effectLst/>
                          <a:latin typeface="Cambria Math" panose="02040503050406030204" pitchFamily="18" charset="0"/>
                          <a:ea typeface="Times New Roman" panose="02020603050405020304" pitchFamily="18" charset="0"/>
                        </a:rPr>
                        <m:t> </m:t>
                      </m:r>
                    </m:oMath>
                  </m:oMathPara>
                </a14:m>
                <a:endParaRPr lang="en-US" sz="1400" b="0" i="1" dirty="0">
                  <a:effectLst/>
                  <a:latin typeface="Cambria Math" panose="02040503050406030204" pitchFamily="18" charset="0"/>
                  <a:ea typeface="Times New Roman" panose="02020603050405020304" pitchFamily="18" charset="0"/>
                </a:endParaRPr>
              </a:p>
              <a:p>
                <a:pPr/>
                <a14:m>
                  <m:oMathPara xmlns:m="http://schemas.openxmlformats.org/officeDocument/2006/math">
                    <m:oMathParaPr>
                      <m:jc m:val="left"/>
                    </m:oMathParaPr>
                    <m:oMath xmlns:m="http://schemas.openxmlformats.org/officeDocument/2006/math">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𝑦</m:t>
                          </m:r>
                        </m:e>
                        <m:sub>
                          <m:r>
                            <a:rPr lang="en-LB" sz="1400" i="1">
                              <a:effectLst/>
                              <a:latin typeface="Cambria Math" panose="02040503050406030204" pitchFamily="18" charset="0"/>
                              <a:ea typeface="Times New Roman" panose="02020603050405020304" pitchFamily="18" charset="0"/>
                            </a:rPr>
                            <m:t>𝑡</m:t>
                          </m:r>
                        </m:sub>
                      </m:sSub>
                      <m:r>
                        <a:rPr lang="en-LB" sz="1400" i="1">
                          <a:effectLst/>
                          <a:latin typeface="Cambria Math" panose="02040503050406030204" pitchFamily="18" charset="0"/>
                          <a:ea typeface="Times New Roman" panose="02020603050405020304" pitchFamily="18" charset="0"/>
                        </a:rPr>
                        <m:t>=</m:t>
                      </m:r>
                      <m:r>
                        <a:rPr lang="en-LB" sz="1400" i="1">
                          <a:effectLst/>
                          <a:latin typeface="Cambria Math" panose="02040503050406030204" pitchFamily="18" charset="0"/>
                          <a:ea typeface="Times New Roman" panose="02020603050405020304" pitchFamily="18" charset="0"/>
                        </a:rPr>
                        <m:t>𝑠𝑛𝑜</m:t>
                      </m:r>
                      <m:sSub>
                        <m:sSubPr>
                          <m:ctrlPr>
                            <a:rPr lang="en-LB" sz="1400" i="1">
                              <a:effectLst/>
                              <a:latin typeface="Cambria Math" panose="02040503050406030204" pitchFamily="18" charset="0"/>
                              <a:ea typeface="Times New Roman" panose="02020603050405020304" pitchFamily="18" charset="0"/>
                            </a:rPr>
                          </m:ctrlPr>
                        </m:sSubPr>
                        <m:e>
                          <m:r>
                            <a:rPr lang="en-LB" sz="1400" i="1">
                              <a:effectLst/>
                              <a:latin typeface="Cambria Math" panose="02040503050406030204" pitchFamily="18" charset="0"/>
                              <a:ea typeface="Times New Roman" panose="02020603050405020304" pitchFamily="18" charset="0"/>
                            </a:rPr>
                            <m:t>𝑤</m:t>
                          </m:r>
                        </m:e>
                        <m:sub>
                          <m:r>
                            <a:rPr lang="en-LB" sz="1400" i="1">
                              <a:effectLst/>
                              <a:latin typeface="Cambria Math" panose="02040503050406030204" pitchFamily="18" charset="0"/>
                              <a:ea typeface="Times New Roman" panose="02020603050405020304" pitchFamily="18" charset="0"/>
                            </a:rPr>
                            <m:t>𝑡</m:t>
                          </m:r>
                          <m:r>
                            <a:rPr lang="en-LB" sz="1400" i="1">
                              <a:effectLst/>
                              <a:latin typeface="Cambria Math" panose="02040503050406030204" pitchFamily="18" charset="0"/>
                              <a:ea typeface="Times New Roman" panose="02020603050405020304" pitchFamily="18" charset="0"/>
                            </a:rPr>
                            <m:t>+1</m:t>
                          </m:r>
                        </m:sub>
                      </m:sSub>
                    </m:oMath>
                  </m:oMathPara>
                </a14:m>
                <a:endParaRPr lang="en-LB" sz="1400" dirty="0">
                  <a:effectLst/>
                  <a:latin typeface="Nadeem" pitchFamily="2" charset="-78"/>
                  <a:ea typeface="Times New Roman" panose="02020603050405020304" pitchFamily="18" charset="0"/>
                  <a:cs typeface="Nadeem" pitchFamily="2" charset="-78"/>
                </a:endParaRPr>
              </a:p>
            </p:txBody>
          </p:sp>
        </mc:Choice>
        <mc:Fallback xmlns="">
          <p:sp>
            <p:nvSpPr>
              <p:cNvPr id="5" name="TextBox 4">
                <a:extLst>
                  <a:ext uri="{FF2B5EF4-FFF2-40B4-BE49-F238E27FC236}">
                    <a16:creationId xmlns:a16="http://schemas.microsoft.com/office/drawing/2014/main" id="{AFD6C24D-5803-5A5A-756F-9F2B00DBA53A}"/>
                  </a:ext>
                </a:extLst>
              </p:cNvPr>
              <p:cNvSpPr txBox="1">
                <a:spLocks noRot="1" noChangeAspect="1" noMove="1" noResize="1" noEditPoints="1" noAdjustHandles="1" noChangeArrowheads="1" noChangeShapeType="1" noTextEdit="1"/>
              </p:cNvSpPr>
              <p:nvPr/>
            </p:nvSpPr>
            <p:spPr>
              <a:xfrm>
                <a:off x="272970" y="1590508"/>
                <a:ext cx="6254205" cy="738664"/>
              </a:xfrm>
              <a:prstGeom prst="rect">
                <a:avLst/>
              </a:prstGeom>
              <a:blipFill>
                <a:blip r:embed="rId8"/>
                <a:stretch>
                  <a:fillRect l="-202" t="-5085"/>
                </a:stretch>
              </a:blipFill>
            </p:spPr>
            <p:txBody>
              <a:bodyPr/>
              <a:lstStyle/>
              <a:p>
                <a:r>
                  <a:rPr lang="en-LB">
                    <a:noFill/>
                  </a:rPr>
                  <a:t> </a:t>
                </a:r>
              </a:p>
            </p:txBody>
          </p:sp>
        </mc:Fallback>
      </mc:AlternateContent>
      <p:sp>
        <p:nvSpPr>
          <p:cNvPr id="9" name="TextBox 8">
            <a:extLst>
              <a:ext uri="{FF2B5EF4-FFF2-40B4-BE49-F238E27FC236}">
                <a16:creationId xmlns:a16="http://schemas.microsoft.com/office/drawing/2014/main" id="{574ACEE8-D5D8-1AAB-21CF-FFF748FCE601}"/>
              </a:ext>
            </a:extLst>
          </p:cNvPr>
          <p:cNvSpPr txBox="1"/>
          <p:nvPr/>
        </p:nvSpPr>
        <p:spPr>
          <a:xfrm>
            <a:off x="277046" y="2448722"/>
            <a:ext cx="4513514" cy="1092607"/>
          </a:xfrm>
          <a:prstGeom prst="rect">
            <a:avLst/>
          </a:prstGeom>
          <a:noFill/>
        </p:spPr>
        <p:txBody>
          <a:bodyPr wrap="square">
            <a:spAutoFit/>
          </a:bodyPr>
          <a:lstStyle/>
          <a:p>
            <a:r>
              <a:rPr lang="en-US" sz="1400" dirty="0">
                <a:effectLst/>
                <a:latin typeface="Nadeem" pitchFamily="2" charset="-78"/>
                <a:ea typeface="Times New Roman" panose="02020603050405020304" pitchFamily="18" charset="0"/>
                <a:cs typeface="Nadeem" pitchFamily="2" charset="-78"/>
              </a:rPr>
              <a:t>The dataset was therefore reshaped into </a:t>
            </a:r>
            <a:r>
              <a:rPr lang="en-US" sz="1400" b="1" dirty="0">
                <a:effectLst/>
                <a:latin typeface="Nadeem" pitchFamily="2" charset="-78"/>
                <a:ea typeface="Times New Roman" panose="02020603050405020304" pitchFamily="18" charset="0"/>
                <a:cs typeface="Nadeem" pitchFamily="2" charset="-78"/>
              </a:rPr>
              <a:t>3D tensors</a:t>
            </a:r>
            <a:r>
              <a:rPr lang="en-US" sz="1400" dirty="0">
                <a:effectLst/>
                <a:latin typeface="Nadeem" pitchFamily="2" charset="-78"/>
                <a:ea typeface="Times New Roman" panose="02020603050405020304" pitchFamily="18" charset="0"/>
                <a:cs typeface="Nadeem" pitchFamily="2" charset="-78"/>
              </a:rPr>
              <a:t>:</a:t>
            </a:r>
          </a:p>
          <a:p>
            <a:endParaRPr lang="en-LB" sz="900" dirty="0">
              <a:effectLst/>
              <a:latin typeface="Nadeem" pitchFamily="2" charset="-78"/>
              <a:ea typeface="Times New Roman" panose="02020603050405020304" pitchFamily="18" charset="0"/>
              <a:cs typeface="Nadeem" pitchFamily="2" charset="-78"/>
            </a:endParaRPr>
          </a:p>
          <a:p>
            <a:pPr marL="342900" lvl="0" indent="-342900">
              <a:buSzPts val="1000"/>
              <a:buFont typeface="Symbol" pitchFamily="2" charset="2"/>
              <a:buChar char=""/>
              <a:tabLst>
                <a:tab pos="457200" algn="l"/>
              </a:tabLst>
            </a:pPr>
            <a:r>
              <a:rPr lang="en-LB" sz="1400" dirty="0">
                <a:effectLst/>
                <a:latin typeface="Nadeem" pitchFamily="2" charset="-78"/>
                <a:ea typeface="Times New Roman" panose="02020603050405020304" pitchFamily="18" charset="0"/>
                <a:cs typeface="Nadeem" pitchFamily="2" charset="-78"/>
              </a:rPr>
              <a:t>(samples, time steps, features) </a:t>
            </a:r>
          </a:p>
          <a:p>
            <a:pPr marL="342900" lvl="0" indent="-342900">
              <a:buSzPts val="1000"/>
              <a:buFont typeface="Symbol" pitchFamily="2" charset="2"/>
              <a:buChar char=""/>
              <a:tabLst>
                <a:tab pos="457200" algn="l"/>
              </a:tabLst>
            </a:pPr>
            <a:r>
              <a:rPr lang="en-LB" sz="1400" dirty="0">
                <a:latin typeface="Nadeem" pitchFamily="2" charset="-78"/>
                <a:ea typeface="Times New Roman" panose="02020603050405020304" pitchFamily="18" charset="0"/>
                <a:cs typeface="Nadeem" pitchFamily="2" charset="-78"/>
              </a:rPr>
              <a:t>Time Steps = 8 weeks</a:t>
            </a:r>
            <a:endParaRPr lang="en-LB" sz="1400" dirty="0">
              <a:effectLst/>
              <a:latin typeface="Nadeem" pitchFamily="2" charset="-78"/>
              <a:ea typeface="Times New Roman" panose="02020603050405020304" pitchFamily="18" charset="0"/>
              <a:cs typeface="Nadeem" pitchFamily="2" charset="-78"/>
            </a:endParaRPr>
          </a:p>
          <a:p>
            <a:pPr marL="342900" lvl="0" indent="-342900">
              <a:buSzPts val="1000"/>
              <a:buFont typeface="Symbol" pitchFamily="2" charset="2"/>
              <a:buChar char=""/>
              <a:tabLst>
                <a:tab pos="457200" algn="l"/>
              </a:tabLst>
            </a:pPr>
            <a:r>
              <a:rPr lang="en-LB" sz="1400" dirty="0">
                <a:effectLst/>
                <a:latin typeface="Nadeem" pitchFamily="2" charset="-78"/>
                <a:ea typeface="Times New Roman" panose="02020603050405020304" pitchFamily="18" charset="0"/>
                <a:cs typeface="Nadeem" pitchFamily="2" charset="-78"/>
              </a:rPr>
              <a:t>Features = 20</a:t>
            </a:r>
          </a:p>
        </p:txBody>
      </p:sp>
      <p:graphicFrame>
        <p:nvGraphicFramePr>
          <p:cNvPr id="10" name="Table 9">
            <a:extLst>
              <a:ext uri="{FF2B5EF4-FFF2-40B4-BE49-F238E27FC236}">
                <a16:creationId xmlns:a16="http://schemas.microsoft.com/office/drawing/2014/main" id="{2FC6C9DC-96D8-0460-E417-5204087E1BDB}"/>
              </a:ext>
            </a:extLst>
          </p:cNvPr>
          <p:cNvGraphicFramePr>
            <a:graphicFrameLocks noGrp="1"/>
          </p:cNvGraphicFramePr>
          <p:nvPr>
            <p:extLst>
              <p:ext uri="{D42A27DB-BD31-4B8C-83A1-F6EECF244321}">
                <p14:modId xmlns:p14="http://schemas.microsoft.com/office/powerpoint/2010/main" val="3714124794"/>
              </p:ext>
            </p:extLst>
          </p:nvPr>
        </p:nvGraphicFramePr>
        <p:xfrm>
          <a:off x="198976" y="3989160"/>
          <a:ext cx="4833146" cy="853440"/>
        </p:xfrm>
        <a:graphic>
          <a:graphicData uri="http://schemas.openxmlformats.org/drawingml/2006/table">
            <a:tbl>
              <a:tblPr firstRow="1" firstCol="1" bandRow="1">
                <a:tableStyleId>{5940675A-B579-460E-94D1-54222C63F5DA}</a:tableStyleId>
              </a:tblPr>
              <a:tblGrid>
                <a:gridCol w="2416573">
                  <a:extLst>
                    <a:ext uri="{9D8B030D-6E8A-4147-A177-3AD203B41FA5}">
                      <a16:colId xmlns:a16="http://schemas.microsoft.com/office/drawing/2014/main" val="2580414579"/>
                    </a:ext>
                  </a:extLst>
                </a:gridCol>
                <a:gridCol w="2416573">
                  <a:extLst>
                    <a:ext uri="{9D8B030D-6E8A-4147-A177-3AD203B41FA5}">
                      <a16:colId xmlns:a16="http://schemas.microsoft.com/office/drawing/2014/main" val="3237145478"/>
                    </a:ext>
                  </a:extLst>
                </a:gridCol>
              </a:tblGrid>
              <a:tr h="209235">
                <a:tc>
                  <a:txBody>
                    <a:bodyPr/>
                    <a:lstStyle/>
                    <a:p>
                      <a:pPr algn="ctr"/>
                      <a:r>
                        <a:rPr lang="en-LB" sz="1400" b="1" dirty="0">
                          <a:effectLst/>
                          <a:latin typeface="Nadeem" pitchFamily="2" charset="-78"/>
                          <a:cs typeface="Nadeem" pitchFamily="2" charset="-78"/>
                        </a:rPr>
                        <a:t>Dataset</a:t>
                      </a:r>
                      <a:endParaRPr lang="en-LB" sz="16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Percentage</a:t>
                      </a:r>
                      <a:endParaRPr lang="en-LB" sz="16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extLst>
                  <a:ext uri="{0D108BD9-81ED-4DB2-BD59-A6C34878D82A}">
                    <a16:rowId xmlns:a16="http://schemas.microsoft.com/office/drawing/2014/main" val="3666730838"/>
                  </a:ext>
                </a:extLst>
              </a:tr>
              <a:tr h="209235">
                <a:tc>
                  <a:txBody>
                    <a:bodyPr/>
                    <a:lstStyle/>
                    <a:p>
                      <a:r>
                        <a:rPr lang="en-LB" sz="1400">
                          <a:effectLst/>
                          <a:latin typeface="Nadeem" pitchFamily="2" charset="-78"/>
                          <a:cs typeface="Nadeem" pitchFamily="2" charset="-78"/>
                        </a:rPr>
                        <a:t>Training set</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70%</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3954533239"/>
                  </a:ext>
                </a:extLst>
              </a:tr>
              <a:tr h="209235">
                <a:tc>
                  <a:txBody>
                    <a:bodyPr/>
                    <a:lstStyle/>
                    <a:p>
                      <a:r>
                        <a:rPr lang="en-LB" sz="1400">
                          <a:effectLst/>
                          <a:latin typeface="Nadeem" pitchFamily="2" charset="-78"/>
                          <a:cs typeface="Nadeem" pitchFamily="2" charset="-78"/>
                        </a:rPr>
                        <a:t>Validation set</a:t>
                      </a:r>
                      <a:endParaRPr lang="en-LB" sz="16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15%</a:t>
                      </a:r>
                      <a:endParaRPr lang="en-LB" sz="16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91838771"/>
                  </a:ext>
                </a:extLst>
              </a:tr>
              <a:tr h="209235">
                <a:tc>
                  <a:txBody>
                    <a:bodyPr/>
                    <a:lstStyle/>
                    <a:p>
                      <a:r>
                        <a:rPr lang="en-LB" sz="1400" dirty="0">
                          <a:effectLst/>
                          <a:latin typeface="Nadeem" pitchFamily="2" charset="-78"/>
                          <a:cs typeface="Nadeem" pitchFamily="2" charset="-78"/>
                        </a:rPr>
                        <a:t>Test set</a:t>
                      </a:r>
                      <a:endParaRPr lang="en-LB" sz="1600" dirty="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dirty="0">
                          <a:effectLst/>
                          <a:latin typeface="Nadeem" pitchFamily="2" charset="-78"/>
                          <a:cs typeface="Nadeem" pitchFamily="2" charset="-78"/>
                        </a:rPr>
                        <a:t>15%</a:t>
                      </a:r>
                      <a:endParaRPr lang="en-LB" sz="1600" dirty="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5932384"/>
                  </a:ext>
                </a:extLst>
              </a:tr>
            </a:tbl>
          </a:graphicData>
        </a:graphic>
      </p:graphicFrame>
      <p:pic>
        <p:nvPicPr>
          <p:cNvPr id="11" name="Picture 10" descr="A black screen with white text&#10;&#10;Description automatically generated">
            <a:extLst>
              <a:ext uri="{FF2B5EF4-FFF2-40B4-BE49-F238E27FC236}">
                <a16:creationId xmlns:a16="http://schemas.microsoft.com/office/drawing/2014/main" id="{4FF7498B-B51F-1535-E143-7E3229B8A948}"/>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r="31517"/>
          <a:stretch/>
        </p:blipFill>
        <p:spPr>
          <a:xfrm>
            <a:off x="223389" y="5178062"/>
            <a:ext cx="4833147" cy="1018632"/>
          </a:xfrm>
          <a:prstGeom prst="rect">
            <a:avLst/>
          </a:prstGeom>
        </p:spPr>
      </p:pic>
      <p:sp>
        <p:nvSpPr>
          <p:cNvPr id="12" name="Title 1">
            <a:extLst>
              <a:ext uri="{FF2B5EF4-FFF2-40B4-BE49-F238E27FC236}">
                <a16:creationId xmlns:a16="http://schemas.microsoft.com/office/drawing/2014/main" id="{E76B4E41-AA38-5402-B1E4-36E5AB0E345F}"/>
              </a:ext>
            </a:extLst>
          </p:cNvPr>
          <p:cNvSpPr txBox="1">
            <a:spLocks/>
          </p:cNvSpPr>
          <p:nvPr/>
        </p:nvSpPr>
        <p:spPr>
          <a:xfrm>
            <a:off x="223389" y="505602"/>
            <a:ext cx="6254205" cy="1833154"/>
          </a:xfrm>
          <a:prstGeom prst="rect">
            <a:avLst/>
          </a:prstGeom>
        </p:spPr>
        <p:txBody>
          <a:bodyPr vert="horz"/>
          <a:lstStyle>
            <a:lvl1pPr algn="r" defTabSz="457200" rtl="0" eaLnBrk="0" fontAlgn="base" hangingPunct="0">
              <a:spcBef>
                <a:spcPct val="0"/>
              </a:spcBef>
              <a:spcAft>
                <a:spcPct val="0"/>
              </a:spcAft>
              <a:buClr>
                <a:srgbClr val="17375E"/>
              </a:buClr>
              <a:buFont typeface="Wingdings" charset="2"/>
              <a:defRPr lang="fr-FR" sz="3200" b="1" i="0" kern="1200" dirty="0">
                <a:solidFill>
                  <a:schemeClr val="tx1"/>
                </a:solidFill>
                <a:latin typeface="Arial" charset="0"/>
                <a:ea typeface="Arial" charset="0"/>
                <a:cs typeface="Arial" charset="0"/>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a:lstStyle>
          <a:p>
            <a:pPr algn="l"/>
            <a:r>
              <a:rPr lang="en-LB" sz="2800" dirty="0">
                <a:solidFill>
                  <a:srgbClr val="0A1C72"/>
                </a:solidFill>
                <a:latin typeface="Nadeem" pitchFamily="2" charset="-78"/>
                <a:cs typeface="Nadeem" pitchFamily="2" charset="-78"/>
              </a:rPr>
              <a:t>From Data </a:t>
            </a:r>
            <a:r>
              <a:rPr lang="en-LB" sz="2800" dirty="0">
                <a:solidFill>
                  <a:srgbClr val="0A1C72"/>
                </a:solidFill>
                <a:latin typeface="Nadeem" pitchFamily="2" charset="-78"/>
                <a:cs typeface="Nadeem" pitchFamily="2" charset="-78"/>
                <a:sym typeface="Wingdings" pitchFamily="2" charset="2"/>
              </a:rPr>
              <a:t> Model</a:t>
            </a:r>
            <a:endParaRPr lang="en-LB" sz="2800" dirty="0">
              <a:solidFill>
                <a:srgbClr val="0A1C72"/>
              </a:solidFill>
              <a:latin typeface="Nadeem" pitchFamily="2" charset="-78"/>
              <a:cs typeface="Nadeem" pitchFamily="2" charset="-78"/>
            </a:endParaRPr>
          </a:p>
        </p:txBody>
      </p:sp>
      <p:pic>
        <p:nvPicPr>
          <p:cNvPr id="13" name="Picture 12" descr="A screen shot of a computer program&#10;&#10;Description automatically generated">
            <a:extLst>
              <a:ext uri="{FF2B5EF4-FFF2-40B4-BE49-F238E27FC236}">
                <a16:creationId xmlns:a16="http://schemas.microsoft.com/office/drawing/2014/main" id="{8057088A-B170-27C6-C575-851B5A1ABE25}"/>
              </a:ext>
            </a:extLst>
          </p:cNvPr>
          <p:cNvPicPr>
            <a:picLocks noChangeAspect="1"/>
          </p:cNvPicPr>
          <p:nvPr/>
        </p:nvPicPr>
        <p:blipFill rotWithShape="1">
          <a:blip r:embed="rId10" cstate="print">
            <a:extLst>
              <a:ext uri="{28A0092B-C50C-407E-A947-70E740481C1C}">
                <a14:useLocalDpi xmlns:a14="http://schemas.microsoft.com/office/drawing/2010/main" val="0"/>
              </a:ext>
            </a:extLst>
          </a:blip>
          <a:srcRect l="405" t="17109" r="37294" b="3055"/>
          <a:stretch/>
        </p:blipFill>
        <p:spPr bwMode="auto">
          <a:xfrm>
            <a:off x="5136636" y="1584958"/>
            <a:ext cx="3730318" cy="3263217"/>
          </a:xfrm>
          <a:prstGeom prst="rect">
            <a:avLst/>
          </a:prstGeom>
          <a:ln>
            <a:noFill/>
          </a:ln>
          <a:extLst>
            <a:ext uri="{53640926-AAD7-44D8-BBD7-CCE9431645EC}">
              <a14:shadowObscured xmlns:a14="http://schemas.microsoft.com/office/drawing/2010/main"/>
            </a:ext>
          </a:extLst>
        </p:spPr>
      </p:pic>
      <p:pic>
        <p:nvPicPr>
          <p:cNvPr id="14" name="Picture 13" descr="A screenshot of a computer&#10;&#10;Description automatically generated">
            <a:extLst>
              <a:ext uri="{FF2B5EF4-FFF2-40B4-BE49-F238E27FC236}">
                <a16:creationId xmlns:a16="http://schemas.microsoft.com/office/drawing/2014/main" id="{DCE675ED-C559-73DB-0419-1BE981135823}"/>
              </a:ext>
            </a:extLst>
          </p:cNvPr>
          <p:cNvPicPr>
            <a:picLocks noChangeAspect="1"/>
          </p:cNvPicPr>
          <p:nvPr/>
        </p:nvPicPr>
        <p:blipFill rotWithShape="1">
          <a:blip r:embed="rId11" cstate="print">
            <a:extLst>
              <a:ext uri="{28A0092B-C50C-407E-A947-70E740481C1C}">
                <a14:useLocalDpi xmlns:a14="http://schemas.microsoft.com/office/drawing/2010/main" val="0"/>
              </a:ext>
            </a:extLst>
          </a:blip>
          <a:srcRect r="30284"/>
          <a:stretch/>
        </p:blipFill>
        <p:spPr>
          <a:xfrm>
            <a:off x="5140712" y="5342593"/>
            <a:ext cx="3824868" cy="850608"/>
          </a:xfrm>
          <a:prstGeom prst="rect">
            <a:avLst/>
          </a:prstGeom>
        </p:spPr>
      </p:pic>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1C78E0D6-9B11-C462-7B57-07583C8161F9}"/>
                  </a:ext>
                </a:extLst>
              </p:cNvPr>
              <p:cNvSpPr txBox="1"/>
              <p:nvPr/>
            </p:nvSpPr>
            <p:spPr>
              <a:xfrm>
                <a:off x="5140712" y="5002578"/>
                <a:ext cx="4572000" cy="307777"/>
              </a:xfrm>
              <a:prstGeom prst="rect">
                <a:avLst/>
              </a:prstGeom>
              <a:noFill/>
            </p:spPr>
            <p:txBody>
              <a:bodyPr wrap="square">
                <a:spAutoFit/>
              </a:bodyPr>
              <a:lstStyle/>
              <a:p>
                <a:pPr marL="285750" indent="-285750">
                  <a:buFont typeface="Arial" panose="020B0604020202020204" pitchFamily="34" charset="0"/>
                  <a:buChar char="•"/>
                </a:pPr>
                <a:r>
                  <a:rPr lang="en-LB" sz="1400" b="1" dirty="0">
                    <a:latin typeface="Nadeem" pitchFamily="2" charset="-78"/>
                    <a:cs typeface="Nadeem" pitchFamily="2" charset="-78"/>
                  </a:rPr>
                  <a:t>Baseline:    </a:t>
                </a:r>
                <a14:m>
                  <m:oMath xmlns:m="http://schemas.openxmlformats.org/officeDocument/2006/math">
                    <m:r>
                      <a:rPr lang="en-LB" sz="1400" i="1" smtClean="0">
                        <a:latin typeface="Cambria Math" panose="02040503050406030204" pitchFamily="18" charset="0"/>
                      </a:rPr>
                      <m:t>𝑠𝑛𝑜</m:t>
                    </m:r>
                    <m:sSub>
                      <m:sSubPr>
                        <m:ctrlPr>
                          <a:rPr lang="en-LB" sz="1400" i="1">
                            <a:solidFill>
                              <a:srgbClr val="836967"/>
                            </a:solidFill>
                            <a:latin typeface="Cambria Math" panose="02040503050406030204" pitchFamily="18" charset="0"/>
                          </a:rPr>
                        </m:ctrlPr>
                      </m:sSubPr>
                      <m:e>
                        <m:r>
                          <a:rPr lang="en-LB" sz="1400" i="1">
                            <a:latin typeface="Cambria Math" panose="02040503050406030204" pitchFamily="18" charset="0"/>
                          </a:rPr>
                          <m:t>𝑤</m:t>
                        </m:r>
                      </m:e>
                      <m:sub>
                        <m:r>
                          <a:rPr lang="en-LB" sz="1400" i="1">
                            <a:latin typeface="Cambria Math" panose="02040503050406030204" pitchFamily="18" charset="0"/>
                          </a:rPr>
                          <m:t>𝑡</m:t>
                        </m:r>
                        <m:r>
                          <a:rPr lang="en-LB" sz="1400" i="0">
                            <a:latin typeface="Cambria Math" panose="02040503050406030204" pitchFamily="18" charset="0"/>
                          </a:rPr>
                          <m:t>+1</m:t>
                        </m:r>
                      </m:sub>
                    </m:sSub>
                    <m:r>
                      <a:rPr lang="en-LB" sz="1400" i="0">
                        <a:latin typeface="Cambria Math" panose="02040503050406030204" pitchFamily="18" charset="0"/>
                      </a:rPr>
                      <m:t> ≈ </m:t>
                    </m:r>
                    <m:r>
                      <a:rPr lang="en-LB" sz="1400" i="1">
                        <a:latin typeface="Cambria Math" panose="02040503050406030204" pitchFamily="18" charset="0"/>
                      </a:rPr>
                      <m:t>𝑠𝑛𝑜</m:t>
                    </m:r>
                    <m:sSub>
                      <m:sSubPr>
                        <m:ctrlPr>
                          <a:rPr lang="en-LB" sz="1400" i="1">
                            <a:solidFill>
                              <a:srgbClr val="836967"/>
                            </a:solidFill>
                            <a:latin typeface="Cambria Math" panose="02040503050406030204" pitchFamily="18" charset="0"/>
                          </a:rPr>
                        </m:ctrlPr>
                      </m:sSubPr>
                      <m:e>
                        <m:r>
                          <a:rPr lang="en-LB" sz="1400" i="1">
                            <a:latin typeface="Cambria Math" panose="02040503050406030204" pitchFamily="18" charset="0"/>
                          </a:rPr>
                          <m:t>𝑤</m:t>
                        </m:r>
                      </m:e>
                      <m:sub>
                        <m:r>
                          <a:rPr lang="en-LB" sz="1400" i="1">
                            <a:latin typeface="Cambria Math" panose="02040503050406030204" pitchFamily="18" charset="0"/>
                          </a:rPr>
                          <m:t>𝑡</m:t>
                        </m:r>
                      </m:sub>
                    </m:sSub>
                  </m:oMath>
                </a14:m>
                <a:endParaRPr lang="en-LB" sz="1400" dirty="0">
                  <a:latin typeface="Nadeem" pitchFamily="2" charset="-78"/>
                  <a:cs typeface="Nadeem" pitchFamily="2" charset="-78"/>
                </a:endParaRPr>
              </a:p>
            </p:txBody>
          </p:sp>
        </mc:Choice>
        <mc:Fallback xmlns="">
          <p:sp>
            <p:nvSpPr>
              <p:cNvPr id="16" name="TextBox 15">
                <a:extLst>
                  <a:ext uri="{FF2B5EF4-FFF2-40B4-BE49-F238E27FC236}">
                    <a16:creationId xmlns:a16="http://schemas.microsoft.com/office/drawing/2014/main" id="{1C78E0D6-9B11-C462-7B57-07583C8161F9}"/>
                  </a:ext>
                </a:extLst>
              </p:cNvPr>
              <p:cNvSpPr txBox="1">
                <a:spLocks noRot="1" noChangeAspect="1" noMove="1" noResize="1" noEditPoints="1" noAdjustHandles="1" noChangeArrowheads="1" noChangeShapeType="1" noTextEdit="1"/>
              </p:cNvSpPr>
              <p:nvPr/>
            </p:nvSpPr>
            <p:spPr>
              <a:xfrm>
                <a:off x="5140712" y="5002578"/>
                <a:ext cx="4572000" cy="307777"/>
              </a:xfrm>
              <a:prstGeom prst="rect">
                <a:avLst/>
              </a:prstGeom>
              <a:blipFill>
                <a:blip r:embed="rId12"/>
                <a:stretch>
                  <a:fillRect l="-277" t="-12000" b="-24000"/>
                </a:stretch>
              </a:blipFill>
            </p:spPr>
            <p:txBody>
              <a:bodyPr/>
              <a:lstStyle/>
              <a:p>
                <a:r>
                  <a:rPr lang="en-LB">
                    <a:noFill/>
                  </a:rPr>
                  <a:t> </a:t>
                </a:r>
              </a:p>
            </p:txBody>
          </p:sp>
        </mc:Fallback>
      </mc:AlternateContent>
      <p:sp>
        <p:nvSpPr>
          <p:cNvPr id="17" name="TextBox 16">
            <a:extLst>
              <a:ext uri="{FF2B5EF4-FFF2-40B4-BE49-F238E27FC236}">
                <a16:creationId xmlns:a16="http://schemas.microsoft.com/office/drawing/2014/main" id="{64F95F5A-9A21-4A02-E8A8-50CD60348318}"/>
              </a:ext>
            </a:extLst>
          </p:cNvPr>
          <p:cNvSpPr txBox="1"/>
          <p:nvPr/>
        </p:nvSpPr>
        <p:spPr>
          <a:xfrm>
            <a:off x="223389" y="3651978"/>
            <a:ext cx="4572000" cy="307777"/>
          </a:xfrm>
          <a:prstGeom prst="rect">
            <a:avLst/>
          </a:prstGeom>
          <a:noFill/>
        </p:spPr>
        <p:txBody>
          <a:bodyPr wrap="square">
            <a:spAutoFit/>
          </a:bodyPr>
          <a:lstStyle/>
          <a:p>
            <a:r>
              <a:rPr lang="en-LB" sz="1400" b="1" dirty="0">
                <a:latin typeface="Nadeem" pitchFamily="2" charset="-78"/>
                <a:cs typeface="Nadeem" pitchFamily="2" charset="-78"/>
              </a:rPr>
              <a:t>Dataset Splitting</a:t>
            </a:r>
          </a:p>
        </p:txBody>
      </p:sp>
      <p:sp>
        <p:nvSpPr>
          <p:cNvPr id="15" name="Date Placeholder 3">
            <a:extLst>
              <a:ext uri="{FF2B5EF4-FFF2-40B4-BE49-F238E27FC236}">
                <a16:creationId xmlns:a16="http://schemas.microsoft.com/office/drawing/2014/main" id="{9AF47D3E-1F8D-D8AD-FDCC-A9225A747BEE}"/>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18" name="Footer Placeholder 4">
            <a:extLst>
              <a:ext uri="{FF2B5EF4-FFF2-40B4-BE49-F238E27FC236}">
                <a16:creationId xmlns:a16="http://schemas.microsoft.com/office/drawing/2014/main" id="{31FF9D35-7144-19A1-BD62-D3C7D7B64FC1}"/>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9" name="Slide Number Placeholder 5">
            <a:extLst>
              <a:ext uri="{FF2B5EF4-FFF2-40B4-BE49-F238E27FC236}">
                <a16:creationId xmlns:a16="http://schemas.microsoft.com/office/drawing/2014/main" id="{1D0329C7-39B3-1910-8E94-5B5CC6BBDFF5}"/>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14</a:t>
            </a:fld>
            <a:endParaRPr lang="fr-FR" altLang="en-US" sz="1000" dirty="0">
              <a:solidFill>
                <a:schemeClr val="bg1"/>
              </a:solidFill>
              <a:latin typeface="+mn-lt"/>
            </a:endParaRPr>
          </a:p>
        </p:txBody>
      </p:sp>
    </p:spTree>
    <p:extLst>
      <p:ext uri="{BB962C8B-B14F-4D97-AF65-F5344CB8AC3E}">
        <p14:creationId xmlns:p14="http://schemas.microsoft.com/office/powerpoint/2010/main" val="3689129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A9525-AAA2-4712-73BE-85DB0C84DBA0}"/>
              </a:ext>
            </a:extLst>
          </p:cNvPr>
          <p:cNvSpPr>
            <a:spLocks noGrp="1"/>
          </p:cNvSpPr>
          <p:nvPr>
            <p:ph type="title"/>
          </p:nvPr>
        </p:nvSpPr>
        <p:spPr>
          <a:xfrm>
            <a:off x="-190005" y="499952"/>
            <a:ext cx="7255824" cy="1833154"/>
          </a:xfrm>
        </p:spPr>
        <p:txBody>
          <a:bodyPr/>
          <a:lstStyle/>
          <a:p>
            <a:r>
              <a:rPr lang="en-LB" dirty="0">
                <a:solidFill>
                  <a:srgbClr val="0A1C72"/>
                </a:solidFill>
                <a:latin typeface="Nadeem" pitchFamily="2" charset="-78"/>
                <a:cs typeface="Nadeem" pitchFamily="2" charset="-78"/>
              </a:rPr>
              <a:t>LSTM Model &amp; Loss Function Design</a:t>
            </a:r>
          </a:p>
        </p:txBody>
      </p:sp>
      <p:pic>
        <p:nvPicPr>
          <p:cNvPr id="6" name="Picture 5" descr="A screen shot of a computer program&#10;&#10;Description automatically generated">
            <a:extLst>
              <a:ext uri="{FF2B5EF4-FFF2-40B4-BE49-F238E27FC236}">
                <a16:creationId xmlns:a16="http://schemas.microsoft.com/office/drawing/2014/main" id="{B6BB1CE1-3FDE-E163-CF13-94F57E177A2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6397" r="38961" b="3055"/>
          <a:stretch/>
        </p:blipFill>
        <p:spPr bwMode="auto">
          <a:xfrm>
            <a:off x="4429496" y="1146175"/>
            <a:ext cx="4453955" cy="4012248"/>
          </a:xfrm>
          <a:prstGeom prst="rect">
            <a:avLst/>
          </a:prstGeom>
          <a:ln>
            <a:noFill/>
          </a:ln>
          <a:extLst>
            <a:ext uri="{53640926-AAD7-44D8-BBD7-CCE9431645EC}">
              <a14:shadowObscured xmlns:a14="http://schemas.microsoft.com/office/drawing/2010/main"/>
            </a:ext>
          </a:extLst>
        </p:spPr>
      </p:pic>
      <p:sp>
        <p:nvSpPr>
          <p:cNvPr id="7" name="Date Placeholder 3">
            <a:extLst>
              <a:ext uri="{FF2B5EF4-FFF2-40B4-BE49-F238E27FC236}">
                <a16:creationId xmlns:a16="http://schemas.microsoft.com/office/drawing/2014/main" id="{91C7D695-859F-D5A3-3E6F-C8228672318F}"/>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8" name="Footer Placeholder 4">
            <a:extLst>
              <a:ext uri="{FF2B5EF4-FFF2-40B4-BE49-F238E27FC236}">
                <a16:creationId xmlns:a16="http://schemas.microsoft.com/office/drawing/2014/main" id="{9A0C1927-83D2-9A6C-8554-2D34447D340A}"/>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9" name="Picture 8" descr="A screen shot of a computer program&#10;&#10;Description automatically generated">
            <a:extLst>
              <a:ext uri="{FF2B5EF4-FFF2-40B4-BE49-F238E27FC236}">
                <a16:creationId xmlns:a16="http://schemas.microsoft.com/office/drawing/2014/main" id="{13CC47B7-528B-D664-58D2-1BC8075D0BB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17539" r="48148"/>
          <a:stretch/>
        </p:blipFill>
        <p:spPr bwMode="auto">
          <a:xfrm>
            <a:off x="262613" y="1146174"/>
            <a:ext cx="4040427" cy="3081441"/>
          </a:xfrm>
          <a:prstGeom prst="rect">
            <a:avLst/>
          </a:prstGeom>
          <a:ln>
            <a:noFill/>
          </a:ln>
          <a:extLst>
            <a:ext uri="{53640926-AAD7-44D8-BBD7-CCE9431645EC}">
              <a14:shadowObscured xmlns:a14="http://schemas.microsoft.com/office/drawing/2010/main"/>
            </a:ext>
          </a:extLst>
        </p:spPr>
      </p:pic>
      <p:sp>
        <p:nvSpPr>
          <p:cNvPr id="10" name="TextBox 9">
            <a:extLst>
              <a:ext uri="{FF2B5EF4-FFF2-40B4-BE49-F238E27FC236}">
                <a16:creationId xmlns:a16="http://schemas.microsoft.com/office/drawing/2014/main" id="{BBA4EC4E-00ED-3D71-85A2-0491729A055A}"/>
              </a:ext>
            </a:extLst>
          </p:cNvPr>
          <p:cNvSpPr txBox="1"/>
          <p:nvPr/>
        </p:nvSpPr>
        <p:spPr>
          <a:xfrm>
            <a:off x="4550146" y="5227349"/>
            <a:ext cx="7493330" cy="1077218"/>
          </a:xfrm>
          <a:prstGeom prst="rect">
            <a:avLst/>
          </a:prstGeom>
          <a:noFill/>
        </p:spPr>
        <p:txBody>
          <a:bodyPr wrap="square">
            <a:spAutoFit/>
          </a:bodyPr>
          <a:lstStyle/>
          <a:p>
            <a:r>
              <a:rPr lang="en-US" sz="1600" b="1" dirty="0">
                <a:latin typeface="Nadeem" pitchFamily="2" charset="-78"/>
                <a:cs typeface="Nadeem" pitchFamily="2" charset="-78"/>
              </a:rPr>
              <a:t>Why LSTM ?</a:t>
            </a:r>
          </a:p>
          <a:p>
            <a:pPr marL="285750" indent="-285750">
              <a:buFont typeface="Arial" panose="020B0604020202020204" pitchFamily="34" charset="0"/>
              <a:buChar char="•"/>
            </a:pPr>
            <a:r>
              <a:rPr lang="en-US" sz="1600" dirty="0">
                <a:latin typeface="Nadeem" pitchFamily="2" charset="-78"/>
                <a:cs typeface="Nadeem" pitchFamily="2" charset="-78"/>
              </a:rPr>
              <a:t>Captures temporal dependencies </a:t>
            </a:r>
          </a:p>
          <a:p>
            <a:pPr marL="285750" indent="-285750">
              <a:buFont typeface="Arial" panose="020B0604020202020204" pitchFamily="34" charset="0"/>
              <a:buChar char="•"/>
            </a:pPr>
            <a:r>
              <a:rPr lang="en-US" sz="1600" dirty="0">
                <a:latin typeface="Nadeem" pitchFamily="2" charset="-78"/>
                <a:cs typeface="Nadeem" pitchFamily="2" charset="-78"/>
              </a:rPr>
              <a:t>Handles sequential environmental data </a:t>
            </a:r>
          </a:p>
          <a:p>
            <a:pPr marL="285750" indent="-285750">
              <a:buFont typeface="Arial" panose="020B0604020202020204" pitchFamily="34" charset="0"/>
              <a:buChar char="•"/>
            </a:pPr>
            <a:r>
              <a:rPr lang="en-US" sz="1600" dirty="0">
                <a:latin typeface="Nadeem" pitchFamily="2" charset="-78"/>
                <a:cs typeface="Nadeem" pitchFamily="2" charset="-78"/>
              </a:rPr>
              <a:t>Learns both short-term &amp; long-term patterns </a:t>
            </a:r>
          </a:p>
        </p:txBody>
      </p:sp>
      <p:sp>
        <p:nvSpPr>
          <p:cNvPr id="12" name="TextBox 11">
            <a:extLst>
              <a:ext uri="{FF2B5EF4-FFF2-40B4-BE49-F238E27FC236}">
                <a16:creationId xmlns:a16="http://schemas.microsoft.com/office/drawing/2014/main" id="{CBDADA10-A7E6-7191-8C98-17B9637EDF79}"/>
              </a:ext>
            </a:extLst>
          </p:cNvPr>
          <p:cNvSpPr txBox="1"/>
          <p:nvPr/>
        </p:nvSpPr>
        <p:spPr>
          <a:xfrm>
            <a:off x="260549" y="4734907"/>
            <a:ext cx="4413529" cy="1569660"/>
          </a:xfrm>
          <a:prstGeom prst="rect">
            <a:avLst/>
          </a:prstGeom>
          <a:noFill/>
        </p:spPr>
        <p:txBody>
          <a:bodyPr wrap="square">
            <a:spAutoFit/>
          </a:bodyPr>
          <a:lstStyle/>
          <a:p>
            <a:r>
              <a:rPr lang="en-US" sz="1600" b="1" dirty="0">
                <a:latin typeface="Nadeem" pitchFamily="2" charset="-78"/>
                <a:cs typeface="Nadeem" pitchFamily="2" charset="-78"/>
              </a:rPr>
              <a:t>Custom Loss Function</a:t>
            </a:r>
          </a:p>
          <a:p>
            <a:pPr marL="285750" indent="-285750">
              <a:buFont typeface="Arial" panose="020B0604020202020204" pitchFamily="34" charset="0"/>
              <a:buChar char="•"/>
            </a:pPr>
            <a:r>
              <a:rPr lang="en-US" sz="1600" dirty="0">
                <a:latin typeface="Nadeem" pitchFamily="2" charset="-78"/>
                <a:cs typeface="Nadeem" pitchFamily="2" charset="-78"/>
              </a:rPr>
              <a:t>Peak-weighted Huber Loss </a:t>
            </a:r>
          </a:p>
          <a:p>
            <a:pPr marL="285750" indent="-285750">
              <a:buFont typeface="Arial" panose="020B0604020202020204" pitchFamily="34" charset="0"/>
              <a:buChar char="•"/>
            </a:pPr>
            <a:r>
              <a:rPr lang="en-US" sz="1600" dirty="0">
                <a:latin typeface="Nadeem" pitchFamily="2" charset="-78"/>
                <a:cs typeface="Nadeem" pitchFamily="2" charset="-78"/>
              </a:rPr>
              <a:t>Combines MAE (robust) + MSE (sensitive) </a:t>
            </a:r>
          </a:p>
          <a:p>
            <a:pPr marL="285750" indent="-285750">
              <a:buFont typeface="Arial" panose="020B0604020202020204" pitchFamily="34" charset="0"/>
              <a:buChar char="•"/>
            </a:pPr>
            <a:r>
              <a:rPr lang="en-US" sz="1600" dirty="0">
                <a:latin typeface="Nadeem" pitchFamily="2" charset="-78"/>
                <a:cs typeface="Nadeem" pitchFamily="2" charset="-78"/>
              </a:rPr>
              <a:t>Higher weight on extreme snow values </a:t>
            </a:r>
          </a:p>
          <a:p>
            <a:br>
              <a:rPr lang="en-US" sz="1600" dirty="0">
                <a:latin typeface="Nadeem" pitchFamily="2" charset="-78"/>
                <a:cs typeface="Nadeem" pitchFamily="2" charset="-78"/>
              </a:rPr>
            </a:br>
            <a:r>
              <a:rPr lang="en-US" sz="1600" dirty="0">
                <a:latin typeface="Nadeem" pitchFamily="2" charset="-78"/>
                <a:cs typeface="Nadeem" pitchFamily="2" charset="-78"/>
                <a:sym typeface="Wingdings" pitchFamily="2" charset="2"/>
              </a:rPr>
              <a:t> </a:t>
            </a:r>
            <a:r>
              <a:rPr lang="en-US" sz="1600" b="1" dirty="0">
                <a:latin typeface="Nadeem" pitchFamily="2" charset="-78"/>
                <a:cs typeface="Nadeem" pitchFamily="2" charset="-78"/>
              </a:rPr>
              <a:t>Improves learning of peak snow events</a:t>
            </a:r>
            <a:endParaRPr lang="en-US" sz="1600" dirty="0">
              <a:latin typeface="Nadeem" pitchFamily="2" charset="-78"/>
              <a:cs typeface="Nadeem" pitchFamily="2" charset="-78"/>
            </a:endParaRPr>
          </a:p>
        </p:txBody>
      </p:sp>
      <p:cxnSp>
        <p:nvCxnSpPr>
          <p:cNvPr id="14" name="Straight Connector 13">
            <a:extLst>
              <a:ext uri="{FF2B5EF4-FFF2-40B4-BE49-F238E27FC236}">
                <a16:creationId xmlns:a16="http://schemas.microsoft.com/office/drawing/2014/main" id="{6CA33B75-8A7A-26F0-E5BF-347846E7882D}"/>
              </a:ext>
            </a:extLst>
          </p:cNvPr>
          <p:cNvCxnSpPr/>
          <p:nvPr/>
        </p:nvCxnSpPr>
        <p:spPr>
          <a:xfrm>
            <a:off x="4429496" y="5403271"/>
            <a:ext cx="0" cy="783772"/>
          </a:xfrm>
          <a:prstGeom prst="line">
            <a:avLst/>
          </a:prstGeom>
          <a:ln w="25400">
            <a:solidFill>
              <a:schemeClr val="bg2">
                <a:lumMod val="75000"/>
              </a:schemeClr>
            </a:solidFill>
          </a:ln>
        </p:spPr>
        <p:style>
          <a:lnRef idx="1">
            <a:schemeClr val="dk1"/>
          </a:lnRef>
          <a:fillRef idx="0">
            <a:schemeClr val="dk1"/>
          </a:fillRef>
          <a:effectRef idx="0">
            <a:schemeClr val="dk1"/>
          </a:effectRef>
          <a:fontRef idx="minor">
            <a:schemeClr val="tx1"/>
          </a:fontRef>
        </p:style>
      </p:cxnSp>
      <p:sp>
        <p:nvSpPr>
          <p:cNvPr id="15" name="Slide Number Placeholder 5">
            <a:extLst>
              <a:ext uri="{FF2B5EF4-FFF2-40B4-BE49-F238E27FC236}">
                <a16:creationId xmlns:a16="http://schemas.microsoft.com/office/drawing/2014/main" id="{71A709A3-A24D-91B6-B327-970D4175C8AC}"/>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15</a:t>
            </a:fld>
            <a:endParaRPr lang="fr-FR" altLang="en-US" sz="1000" dirty="0">
              <a:solidFill>
                <a:schemeClr val="bg1"/>
              </a:solidFill>
              <a:latin typeface="+mn-lt"/>
            </a:endParaRPr>
          </a:p>
        </p:txBody>
      </p:sp>
    </p:spTree>
    <p:extLst>
      <p:ext uri="{BB962C8B-B14F-4D97-AF65-F5344CB8AC3E}">
        <p14:creationId xmlns:p14="http://schemas.microsoft.com/office/powerpoint/2010/main" val="10728903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7F40025E-8A47-7E48-AA2F-82A25E5E3F97}" type="slidenum">
              <a:rPr lang="en-US" altLang="en-US" smtClean="0"/>
              <a:pPr/>
              <a:t>16</a:t>
            </a:fld>
            <a:endParaRPr lang="en-US" altLang="en-US" dirty="0"/>
          </a:p>
        </p:txBody>
      </p:sp>
      <p:sp>
        <p:nvSpPr>
          <p:cNvPr id="9" name="TextBox 8">
            <a:extLst>
              <a:ext uri="{FF2B5EF4-FFF2-40B4-BE49-F238E27FC236}">
                <a16:creationId xmlns:a16="http://schemas.microsoft.com/office/drawing/2014/main" id="{F5A27861-6082-BC0D-34D0-73C8C69DCB20}"/>
              </a:ext>
            </a:extLst>
          </p:cNvPr>
          <p:cNvSpPr txBox="1"/>
          <p:nvPr/>
        </p:nvSpPr>
        <p:spPr>
          <a:xfrm>
            <a:off x="248765" y="5218235"/>
            <a:ext cx="10474036" cy="1169551"/>
          </a:xfrm>
          <a:prstGeom prst="rect">
            <a:avLst/>
          </a:prstGeom>
          <a:noFill/>
        </p:spPr>
        <p:txBody>
          <a:bodyPr wrap="square">
            <a:spAutoFit/>
          </a:bodyPr>
          <a:lstStyle/>
          <a:p>
            <a:r>
              <a:rPr lang="en-US" sz="1400" b="1" dirty="0">
                <a:latin typeface="Nadeem" pitchFamily="2" charset="-78"/>
                <a:cs typeface="Nadeem" pitchFamily="2" charset="-78"/>
              </a:rPr>
              <a:t>Key Observations</a:t>
            </a:r>
          </a:p>
          <a:p>
            <a:pPr marL="285750" indent="-285750">
              <a:buFont typeface="Arial" panose="020B0604020202020204" pitchFamily="34" charset="0"/>
              <a:buChar char="•"/>
            </a:pPr>
            <a:r>
              <a:rPr lang="en-US" sz="1400" dirty="0">
                <a:latin typeface="Nadeem" pitchFamily="2" charset="-78"/>
                <a:cs typeface="Nadeem" pitchFamily="2" charset="-78"/>
              </a:rPr>
              <a:t>LSTM significantly outperforms the baseline model </a:t>
            </a:r>
          </a:p>
          <a:p>
            <a:pPr marL="285750" indent="-285750">
              <a:buFont typeface="Arial" panose="020B0604020202020204" pitchFamily="34" charset="0"/>
              <a:buChar char="•"/>
            </a:pPr>
            <a:r>
              <a:rPr lang="en-US" sz="1400" dirty="0">
                <a:latin typeface="Nadeem" pitchFamily="2" charset="-78"/>
                <a:cs typeface="Nadeem" pitchFamily="2" charset="-78"/>
              </a:rPr>
              <a:t>Improvement is especially clear in RMSE reduction </a:t>
            </a:r>
          </a:p>
          <a:p>
            <a:pPr marL="285750" indent="-285750">
              <a:buFont typeface="Arial" panose="020B0604020202020204" pitchFamily="34" charset="0"/>
              <a:buChar char="•"/>
            </a:pPr>
            <a:r>
              <a:rPr lang="en-US" sz="1400" dirty="0">
                <a:latin typeface="Nadeem" pitchFamily="2" charset="-78"/>
                <a:cs typeface="Nadeem" pitchFamily="2" charset="-78"/>
              </a:rPr>
              <a:t>Model generalizes well on unseen test data </a:t>
            </a:r>
          </a:p>
          <a:p>
            <a:pPr marL="285750" indent="-285750">
              <a:buFont typeface="Arial" panose="020B0604020202020204" pitchFamily="34" charset="0"/>
              <a:buChar char="•"/>
            </a:pPr>
            <a:r>
              <a:rPr lang="en-US" sz="1400" dirty="0">
                <a:latin typeface="Nadeem" pitchFamily="2" charset="-78"/>
                <a:cs typeface="Nadeem" pitchFamily="2" charset="-78"/>
              </a:rPr>
              <a:t>Errors increase slightly on test set due to environmental variability </a:t>
            </a:r>
          </a:p>
        </p:txBody>
      </p:sp>
      <p:sp>
        <p:nvSpPr>
          <p:cNvPr id="11" name="Date Placeholder 3">
            <a:extLst>
              <a:ext uri="{FF2B5EF4-FFF2-40B4-BE49-F238E27FC236}">
                <a16:creationId xmlns:a16="http://schemas.microsoft.com/office/drawing/2014/main" id="{FAF48116-741B-513F-4393-8A2AFBD47067}"/>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40A45077-5111-2585-80EA-2722DFC2B6DB}"/>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3" name="Title 1">
            <a:extLst>
              <a:ext uri="{FF2B5EF4-FFF2-40B4-BE49-F238E27FC236}">
                <a16:creationId xmlns:a16="http://schemas.microsoft.com/office/drawing/2014/main" id="{F896F57F-CE24-27A8-C335-31A73F507855}"/>
              </a:ext>
            </a:extLst>
          </p:cNvPr>
          <p:cNvSpPr txBox="1">
            <a:spLocks/>
          </p:cNvSpPr>
          <p:nvPr/>
        </p:nvSpPr>
        <p:spPr>
          <a:xfrm>
            <a:off x="246960" y="397554"/>
            <a:ext cx="6254205" cy="1833154"/>
          </a:xfrm>
          <a:prstGeom prst="rect">
            <a:avLst/>
          </a:prstGeom>
        </p:spPr>
        <p:txBody>
          <a:bodyPr vert="horz"/>
          <a:lstStyle>
            <a:lvl1pPr algn="r" defTabSz="457200" rtl="0" eaLnBrk="0" fontAlgn="base" hangingPunct="0">
              <a:spcBef>
                <a:spcPct val="0"/>
              </a:spcBef>
              <a:spcAft>
                <a:spcPct val="0"/>
              </a:spcAft>
              <a:buClr>
                <a:srgbClr val="17375E"/>
              </a:buClr>
              <a:buFont typeface="Wingdings" charset="2"/>
              <a:defRPr lang="fr-FR" sz="3200" b="1" i="0" kern="1200" dirty="0">
                <a:solidFill>
                  <a:schemeClr val="tx1"/>
                </a:solidFill>
                <a:latin typeface="Arial" charset="0"/>
                <a:ea typeface="Arial" charset="0"/>
                <a:cs typeface="Arial" charset="0"/>
              </a:defRPr>
            </a:lvl1pPr>
            <a:lvl2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2pPr>
            <a:lvl3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3pPr>
            <a:lvl4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4pPr>
            <a:lvl5pPr algn="l" defTabSz="457200" rtl="0" eaLnBrk="0" fontAlgn="base" hangingPunct="0">
              <a:spcBef>
                <a:spcPct val="0"/>
              </a:spcBef>
              <a:spcAft>
                <a:spcPct val="0"/>
              </a:spcAft>
              <a:buClr>
                <a:srgbClr val="17375E"/>
              </a:buClr>
              <a:buFont typeface="Wingdings" charset="2"/>
              <a:defRPr sz="2800">
                <a:solidFill>
                  <a:schemeClr val="tx1"/>
                </a:solidFill>
                <a:latin typeface="Arial" charset="0"/>
                <a:ea typeface="ＭＳ Ｐゴシック" charset="0"/>
              </a:defRPr>
            </a:lvl5pPr>
            <a:lvl6pPr marL="10287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6pPr>
            <a:lvl7pPr marL="14859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7pPr>
            <a:lvl8pPr marL="19431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8pPr>
            <a:lvl9pPr marL="2400300" indent="-571500" algn="l" defTabSz="457200" rtl="0" fontAlgn="base">
              <a:spcBef>
                <a:spcPct val="0"/>
              </a:spcBef>
              <a:spcAft>
                <a:spcPct val="0"/>
              </a:spcAft>
              <a:buClr>
                <a:srgbClr val="17375E"/>
              </a:buClr>
              <a:buFont typeface="Wingdings" charset="0"/>
              <a:buChar char=""/>
              <a:defRPr sz="3600">
                <a:solidFill>
                  <a:schemeClr val="tx1"/>
                </a:solidFill>
                <a:latin typeface="Arial" charset="0"/>
                <a:ea typeface="ＭＳ Ｐゴシック" charset="0"/>
              </a:defRPr>
            </a:lvl9pPr>
          </a:lstStyle>
          <a:p>
            <a:pPr algn="l"/>
            <a:r>
              <a:rPr lang="en-LB" sz="2800" dirty="0">
                <a:solidFill>
                  <a:srgbClr val="0A1C72"/>
                </a:solidFill>
                <a:latin typeface="Nadeem" pitchFamily="2" charset="-78"/>
                <a:cs typeface="Nadeem" pitchFamily="2" charset="-78"/>
              </a:rPr>
              <a:t>Best Model Example</a:t>
            </a:r>
          </a:p>
        </p:txBody>
      </p:sp>
      <p:pic>
        <p:nvPicPr>
          <p:cNvPr id="17" name="Picture 16" descr="A graph of a graph&#10;&#10;Description automatically generated with medium confidence">
            <a:extLst>
              <a:ext uri="{FF2B5EF4-FFF2-40B4-BE49-F238E27FC236}">
                <a16:creationId xmlns:a16="http://schemas.microsoft.com/office/drawing/2014/main" id="{B57ED1D0-8C60-4B1B-510E-6AB88B8929C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0231" b="6607"/>
          <a:stretch/>
        </p:blipFill>
        <p:spPr>
          <a:xfrm>
            <a:off x="0" y="1287698"/>
            <a:ext cx="8504125" cy="3819978"/>
          </a:xfrm>
          <a:prstGeom prst="rect">
            <a:avLst/>
          </a:prstGeom>
        </p:spPr>
      </p:pic>
      <p:pic>
        <p:nvPicPr>
          <p:cNvPr id="18" name="Picture 17" descr="A graph of a graph&#10;&#10;Description automatically generated with medium confidence">
            <a:extLst>
              <a:ext uri="{FF2B5EF4-FFF2-40B4-BE49-F238E27FC236}">
                <a16:creationId xmlns:a16="http://schemas.microsoft.com/office/drawing/2014/main" id="{4545CC6D-1234-A2F6-06DA-5612BCDD6E90}"/>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74" t="94666" r="44408" b="-540"/>
          <a:stretch/>
        </p:blipFill>
        <p:spPr>
          <a:xfrm>
            <a:off x="3734501" y="1004531"/>
            <a:ext cx="4772613" cy="309600"/>
          </a:xfrm>
          <a:prstGeom prst="rect">
            <a:avLst/>
          </a:prstGeom>
        </p:spPr>
      </p:pic>
      <p:pic>
        <p:nvPicPr>
          <p:cNvPr id="10" name="Picture 9" descr="A black rectangle with white dots&#10;&#10;Description automatically generated">
            <a:extLst>
              <a:ext uri="{FF2B5EF4-FFF2-40B4-BE49-F238E27FC236}">
                <a16:creationId xmlns:a16="http://schemas.microsoft.com/office/drawing/2014/main" id="{CCC03C6C-C3BC-C9CD-EE1D-DDEC38A4792C}"/>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049" t="4669" r="61210" b="724"/>
          <a:stretch/>
        </p:blipFill>
        <p:spPr>
          <a:xfrm>
            <a:off x="6006552" y="5077059"/>
            <a:ext cx="2437748" cy="1403192"/>
          </a:xfrm>
          <a:prstGeom prst="rect">
            <a:avLst/>
          </a:prstGeom>
        </p:spPr>
      </p:pic>
      <p:sp>
        <p:nvSpPr>
          <p:cNvPr id="16" name="TextBox 15">
            <a:extLst>
              <a:ext uri="{FF2B5EF4-FFF2-40B4-BE49-F238E27FC236}">
                <a16:creationId xmlns:a16="http://schemas.microsoft.com/office/drawing/2014/main" id="{C6F74C2B-5FB5-AA56-0BC1-6BCE3623645E}"/>
              </a:ext>
            </a:extLst>
          </p:cNvPr>
          <p:cNvSpPr txBox="1"/>
          <p:nvPr/>
        </p:nvSpPr>
        <p:spPr>
          <a:xfrm>
            <a:off x="278212" y="807748"/>
            <a:ext cx="2909899" cy="307777"/>
          </a:xfrm>
          <a:prstGeom prst="rect">
            <a:avLst/>
          </a:prstGeom>
          <a:noFill/>
        </p:spPr>
        <p:txBody>
          <a:bodyPr wrap="none" rtlCol="0">
            <a:spAutoFit/>
          </a:bodyPr>
          <a:lstStyle/>
          <a:p>
            <a:r>
              <a:rPr lang="en-LB" sz="1400" b="1" dirty="0">
                <a:latin typeface="Nadeem" pitchFamily="2" charset="-78"/>
                <a:cs typeface="Nadeem" pitchFamily="2" charset="-78"/>
              </a:rPr>
              <a:t>For a sequence length of 8-week:</a:t>
            </a:r>
          </a:p>
        </p:txBody>
      </p:sp>
      <p:pic>
        <p:nvPicPr>
          <p:cNvPr id="19" name="Picture 18" descr="A graph of a graph&#10;&#10;Description automatically generated with medium confidence">
            <a:extLst>
              <a:ext uri="{FF2B5EF4-FFF2-40B4-BE49-F238E27FC236}">
                <a16:creationId xmlns:a16="http://schemas.microsoft.com/office/drawing/2014/main" id="{C458B79A-8C50-120A-832D-462CE93A1A2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658" t="1414" r="61061" b="94177"/>
          <a:stretch/>
        </p:blipFill>
        <p:spPr>
          <a:xfrm>
            <a:off x="268641" y="1086727"/>
            <a:ext cx="2744982" cy="193861"/>
          </a:xfrm>
          <a:prstGeom prst="rect">
            <a:avLst/>
          </a:prstGeom>
        </p:spPr>
      </p:pic>
    </p:spTree>
    <p:extLst>
      <p:ext uri="{BB962C8B-B14F-4D97-AF65-F5344CB8AC3E}">
        <p14:creationId xmlns:p14="http://schemas.microsoft.com/office/powerpoint/2010/main" val="2278961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D0AD-7655-BBBF-D9CC-3FD70D328F1A}"/>
              </a:ext>
            </a:extLst>
          </p:cNvPr>
          <p:cNvSpPr>
            <a:spLocks noGrp="1"/>
          </p:cNvSpPr>
          <p:nvPr>
            <p:ph type="title"/>
          </p:nvPr>
        </p:nvSpPr>
        <p:spPr>
          <a:xfrm>
            <a:off x="274321" y="511827"/>
            <a:ext cx="8646656" cy="1833154"/>
          </a:xfrm>
        </p:spPr>
        <p:txBody>
          <a:bodyPr/>
          <a:lstStyle/>
          <a:p>
            <a:pPr algn="l"/>
            <a:r>
              <a:rPr lang="en-LB" sz="2400" dirty="0">
                <a:solidFill>
                  <a:srgbClr val="0A1C72"/>
                </a:solidFill>
                <a:latin typeface="Nadeem" pitchFamily="2" charset="-78"/>
                <a:cs typeface="Nadeem" pitchFamily="2" charset="-78"/>
              </a:rPr>
              <a:t>Results of Sequence Length Experiments &amp; Trade-Off</a:t>
            </a:r>
          </a:p>
        </p:txBody>
      </p:sp>
      <p:pic>
        <p:nvPicPr>
          <p:cNvPr id="5" name="Picture 4" descr="A graph showing the growth of a company&#10;&#10;Description automatically generated with medium confidence">
            <a:extLst>
              <a:ext uri="{FF2B5EF4-FFF2-40B4-BE49-F238E27FC236}">
                <a16:creationId xmlns:a16="http://schemas.microsoft.com/office/drawing/2014/main" id="{45BD5F36-B583-53CB-B727-1C54596146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4125" y="912718"/>
            <a:ext cx="6650468" cy="3555177"/>
          </a:xfrm>
          <a:prstGeom prst="rect">
            <a:avLst/>
          </a:prstGeom>
        </p:spPr>
      </p:pic>
      <p:sp>
        <p:nvSpPr>
          <p:cNvPr id="6" name="Date Placeholder 3">
            <a:extLst>
              <a:ext uri="{FF2B5EF4-FFF2-40B4-BE49-F238E27FC236}">
                <a16:creationId xmlns:a16="http://schemas.microsoft.com/office/drawing/2014/main" id="{F10C710F-D118-C930-D575-256398C93A16}"/>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7" name="Footer Placeholder 4">
            <a:extLst>
              <a:ext uri="{FF2B5EF4-FFF2-40B4-BE49-F238E27FC236}">
                <a16:creationId xmlns:a16="http://schemas.microsoft.com/office/drawing/2014/main" id="{C64D8119-6261-3A54-9615-0E8F32F9DDD0}"/>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graphicFrame>
        <p:nvGraphicFramePr>
          <p:cNvPr id="8" name="Table 7">
            <a:extLst>
              <a:ext uri="{FF2B5EF4-FFF2-40B4-BE49-F238E27FC236}">
                <a16:creationId xmlns:a16="http://schemas.microsoft.com/office/drawing/2014/main" id="{EF8C0621-F44A-B435-D031-DE6719496C54}"/>
              </a:ext>
            </a:extLst>
          </p:cNvPr>
          <p:cNvGraphicFramePr>
            <a:graphicFrameLocks noGrp="1"/>
          </p:cNvGraphicFramePr>
          <p:nvPr>
            <p:extLst>
              <p:ext uri="{D42A27DB-BD31-4B8C-83A1-F6EECF244321}">
                <p14:modId xmlns:p14="http://schemas.microsoft.com/office/powerpoint/2010/main" val="1764816566"/>
              </p:ext>
            </p:extLst>
          </p:nvPr>
        </p:nvGraphicFramePr>
        <p:xfrm>
          <a:off x="6466917" y="2988303"/>
          <a:ext cx="2192175" cy="1219200"/>
        </p:xfrm>
        <a:graphic>
          <a:graphicData uri="http://schemas.openxmlformats.org/drawingml/2006/table">
            <a:tbl>
              <a:tblPr/>
              <a:tblGrid>
                <a:gridCol w="798831">
                  <a:extLst>
                    <a:ext uri="{9D8B030D-6E8A-4147-A177-3AD203B41FA5}">
                      <a16:colId xmlns:a16="http://schemas.microsoft.com/office/drawing/2014/main" val="1732751158"/>
                    </a:ext>
                  </a:extLst>
                </a:gridCol>
                <a:gridCol w="1393344">
                  <a:extLst>
                    <a:ext uri="{9D8B030D-6E8A-4147-A177-3AD203B41FA5}">
                      <a16:colId xmlns:a16="http://schemas.microsoft.com/office/drawing/2014/main" val="1606769148"/>
                    </a:ext>
                  </a:extLst>
                </a:gridCol>
              </a:tblGrid>
              <a:tr h="234312">
                <a:tc>
                  <a:txBody>
                    <a:bodyPr/>
                    <a:lstStyle/>
                    <a:p>
                      <a:r>
                        <a:rPr lang="en-US" sz="1400" b="1" dirty="0">
                          <a:latin typeface="Nadeem" pitchFamily="2" charset="-78"/>
                          <a:cs typeface="Nadeem" pitchFamily="2" charset="-78"/>
                        </a:rPr>
                        <a:t>Weeks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r>
                        <a:rPr lang="en-US" sz="1400" b="1" dirty="0">
                          <a:latin typeface="Nadeem" pitchFamily="2" charset="-78"/>
                          <a:cs typeface="Nadeem" pitchFamily="2" charset="-78"/>
                        </a:rPr>
                        <a:t>MAE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251109485"/>
                  </a:ext>
                </a:extLst>
              </a:tr>
              <a:tr h="234312">
                <a:tc>
                  <a:txBody>
                    <a:bodyPr/>
                    <a:lstStyle/>
                    <a:p>
                      <a:r>
                        <a:rPr lang="en-LB" sz="1400">
                          <a:latin typeface="Nadeem" pitchFamily="2" charset="-78"/>
                          <a:cs typeface="Nadeem" pitchFamily="2" charset="-78"/>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Nadeem" pitchFamily="2" charset="-78"/>
                          <a:cs typeface="Nadeem" pitchFamily="2" charset="-78"/>
                        </a:rPr>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4506347"/>
                  </a:ext>
                </a:extLst>
              </a:tr>
              <a:tr h="234312">
                <a:tc>
                  <a:txBody>
                    <a:bodyPr/>
                    <a:lstStyle/>
                    <a:p>
                      <a:r>
                        <a:rPr lang="en-LB" sz="1400">
                          <a:latin typeface="Nadeem" pitchFamily="2" charset="-78"/>
                          <a:cs typeface="Nadeem" pitchFamily="2" charset="-78"/>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1" dirty="0">
                          <a:latin typeface="Nadeem" pitchFamily="2" charset="-78"/>
                          <a:cs typeface="Nadeem" pitchFamily="2" charset="-78"/>
                        </a:rPr>
                        <a:t>best</a:t>
                      </a:r>
                      <a:endParaRPr lang="en-US" sz="1400" dirty="0">
                        <a:latin typeface="Nadeem" pitchFamily="2" charset="-78"/>
                        <a:cs typeface="Nadeem" pitchFamily="2" charset="-7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4747629"/>
                  </a:ext>
                </a:extLst>
              </a:tr>
              <a:tr h="234312">
                <a:tc>
                  <a:txBody>
                    <a:bodyPr/>
                    <a:lstStyle/>
                    <a:p>
                      <a:r>
                        <a:rPr lang="en-LB" sz="1400">
                          <a:latin typeface="Nadeem" pitchFamily="2" charset="-78"/>
                          <a:cs typeface="Nadeem" pitchFamily="2" charset="-78"/>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latin typeface="Nadeem" pitchFamily="2" charset="-78"/>
                          <a:cs typeface="Nadeem" pitchFamily="2" charset="-78"/>
                        </a:rPr>
                        <a:t>slightly worse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1812952"/>
                  </a:ext>
                </a:extLst>
              </a:tr>
            </a:tbl>
          </a:graphicData>
        </a:graphic>
      </p:graphicFrame>
      <p:graphicFrame>
        <p:nvGraphicFramePr>
          <p:cNvPr id="9" name="Table 8">
            <a:extLst>
              <a:ext uri="{FF2B5EF4-FFF2-40B4-BE49-F238E27FC236}">
                <a16:creationId xmlns:a16="http://schemas.microsoft.com/office/drawing/2014/main" id="{BBD5D00B-536B-9E13-DDB7-663FDD92799E}"/>
              </a:ext>
            </a:extLst>
          </p:cNvPr>
          <p:cNvGraphicFramePr>
            <a:graphicFrameLocks noGrp="1"/>
          </p:cNvGraphicFramePr>
          <p:nvPr>
            <p:extLst>
              <p:ext uri="{D42A27DB-BD31-4B8C-83A1-F6EECF244321}">
                <p14:modId xmlns:p14="http://schemas.microsoft.com/office/powerpoint/2010/main" val="4102030861"/>
              </p:ext>
            </p:extLst>
          </p:nvPr>
        </p:nvGraphicFramePr>
        <p:xfrm>
          <a:off x="484907" y="4638790"/>
          <a:ext cx="8174185" cy="1731990"/>
        </p:xfrm>
        <a:graphic>
          <a:graphicData uri="http://schemas.openxmlformats.org/drawingml/2006/table">
            <a:tbl>
              <a:tblPr firstRow="1" firstCol="1" bandRow="1">
                <a:tableStyleId>{5940675A-B579-460E-94D1-54222C63F5DA}</a:tableStyleId>
              </a:tblPr>
              <a:tblGrid>
                <a:gridCol w="1634837">
                  <a:extLst>
                    <a:ext uri="{9D8B030D-6E8A-4147-A177-3AD203B41FA5}">
                      <a16:colId xmlns:a16="http://schemas.microsoft.com/office/drawing/2014/main" val="3192644953"/>
                    </a:ext>
                  </a:extLst>
                </a:gridCol>
                <a:gridCol w="1634837">
                  <a:extLst>
                    <a:ext uri="{9D8B030D-6E8A-4147-A177-3AD203B41FA5}">
                      <a16:colId xmlns:a16="http://schemas.microsoft.com/office/drawing/2014/main" val="3722352858"/>
                    </a:ext>
                  </a:extLst>
                </a:gridCol>
                <a:gridCol w="1634837">
                  <a:extLst>
                    <a:ext uri="{9D8B030D-6E8A-4147-A177-3AD203B41FA5}">
                      <a16:colId xmlns:a16="http://schemas.microsoft.com/office/drawing/2014/main" val="1017941235"/>
                    </a:ext>
                  </a:extLst>
                </a:gridCol>
                <a:gridCol w="1634837">
                  <a:extLst>
                    <a:ext uri="{9D8B030D-6E8A-4147-A177-3AD203B41FA5}">
                      <a16:colId xmlns:a16="http://schemas.microsoft.com/office/drawing/2014/main" val="1880849247"/>
                    </a:ext>
                  </a:extLst>
                </a:gridCol>
                <a:gridCol w="1634837">
                  <a:extLst>
                    <a:ext uri="{9D8B030D-6E8A-4147-A177-3AD203B41FA5}">
                      <a16:colId xmlns:a16="http://schemas.microsoft.com/office/drawing/2014/main" val="2701620642"/>
                    </a:ext>
                  </a:extLst>
                </a:gridCol>
              </a:tblGrid>
              <a:tr h="238470">
                <a:tc>
                  <a:txBody>
                    <a:bodyPr/>
                    <a:lstStyle/>
                    <a:p>
                      <a:pPr algn="ctr"/>
                      <a:r>
                        <a:rPr lang="en-LB" sz="1400" b="1" dirty="0">
                          <a:effectLst/>
                          <a:latin typeface="Nadeem" pitchFamily="2" charset="-78"/>
                          <a:cs typeface="Nadeem" pitchFamily="2" charset="-78"/>
                        </a:rPr>
                        <a:t>Sequence (weeks)</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MAE (mean)</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MAE (std)</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RMSE (mean)</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tc>
                  <a:txBody>
                    <a:bodyPr/>
                    <a:lstStyle/>
                    <a:p>
                      <a:pPr algn="ctr"/>
                      <a:r>
                        <a:rPr lang="en-LB" sz="1400" b="1" dirty="0">
                          <a:effectLst/>
                          <a:latin typeface="Nadeem" pitchFamily="2" charset="-78"/>
                          <a:cs typeface="Nadeem" pitchFamily="2" charset="-78"/>
                        </a:rPr>
                        <a:t>RMSE (std)</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1">
                        <a:lumMod val="20000"/>
                        <a:lumOff val="80000"/>
                      </a:schemeClr>
                    </a:solidFill>
                  </a:tcPr>
                </a:tc>
                <a:extLst>
                  <a:ext uri="{0D108BD9-81ED-4DB2-BD59-A6C34878D82A}">
                    <a16:rowId xmlns:a16="http://schemas.microsoft.com/office/drawing/2014/main" val="2232751062"/>
                  </a:ext>
                </a:extLst>
              </a:tr>
              <a:tr h="168706">
                <a:tc>
                  <a:txBody>
                    <a:bodyPr/>
                    <a:lstStyle/>
                    <a:p>
                      <a:r>
                        <a:rPr lang="en-LB" sz="1400">
                          <a:effectLst/>
                          <a:latin typeface="Nadeem" pitchFamily="2" charset="-78"/>
                          <a:cs typeface="Nadeem" pitchFamily="2" charset="-78"/>
                        </a:rPr>
                        <a:t>1</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0.530</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0.011</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0.811</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0.010</a:t>
                      </a:r>
                      <a:endParaRPr lang="en-LB" sz="14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4237304994"/>
                  </a:ext>
                </a:extLst>
              </a:tr>
              <a:tr h="179613">
                <a:tc>
                  <a:txBody>
                    <a:bodyPr/>
                    <a:lstStyle/>
                    <a:p>
                      <a:r>
                        <a:rPr lang="en-LB" sz="1400">
                          <a:effectLst/>
                          <a:latin typeface="Nadeem" pitchFamily="2" charset="-78"/>
                          <a:cs typeface="Nadeem" pitchFamily="2" charset="-78"/>
                        </a:rPr>
                        <a:t>2</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0.514</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0.014</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0.813</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0.014</a:t>
                      </a:r>
                      <a:endParaRPr lang="en-LB" sz="14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726250157"/>
                  </a:ext>
                </a:extLst>
              </a:tr>
              <a:tr h="179613">
                <a:tc>
                  <a:txBody>
                    <a:bodyPr/>
                    <a:lstStyle/>
                    <a:p>
                      <a:r>
                        <a:rPr lang="en-LB" sz="1400">
                          <a:effectLst/>
                          <a:latin typeface="Nadeem" pitchFamily="2" charset="-78"/>
                          <a:cs typeface="Nadeem" pitchFamily="2" charset="-78"/>
                        </a:rPr>
                        <a:t>4</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0.454</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0.018</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0.715</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0.018</a:t>
                      </a:r>
                      <a:endParaRPr lang="en-LB" sz="14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1909231331"/>
                  </a:ext>
                </a:extLst>
              </a:tr>
              <a:tr h="168706">
                <a:tc>
                  <a:txBody>
                    <a:bodyPr/>
                    <a:lstStyle/>
                    <a:p>
                      <a:r>
                        <a:rPr lang="en-LB" sz="1400" b="1" dirty="0">
                          <a:effectLst/>
                          <a:latin typeface="Nadeem" pitchFamily="2" charset="-78"/>
                          <a:cs typeface="Nadeem" pitchFamily="2" charset="-78"/>
                        </a:rPr>
                        <a:t>6</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b="1" dirty="0">
                          <a:effectLst/>
                          <a:latin typeface="Nadeem" pitchFamily="2" charset="-78"/>
                          <a:cs typeface="Nadeem" pitchFamily="2" charset="-78"/>
                        </a:rPr>
                        <a:t>0.380</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b="1" dirty="0">
                          <a:effectLst/>
                          <a:latin typeface="Nadeem" pitchFamily="2" charset="-78"/>
                          <a:cs typeface="Nadeem" pitchFamily="2" charset="-78"/>
                        </a:rPr>
                        <a:t>0.012</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b="1" dirty="0">
                          <a:effectLst/>
                          <a:latin typeface="Nadeem" pitchFamily="2" charset="-78"/>
                          <a:cs typeface="Nadeem" pitchFamily="2" charset="-78"/>
                        </a:rPr>
                        <a:t>0.616</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b="1" dirty="0">
                          <a:effectLst/>
                          <a:latin typeface="Nadeem" pitchFamily="2" charset="-78"/>
                          <a:cs typeface="Nadeem" pitchFamily="2" charset="-78"/>
                        </a:rPr>
                        <a:t>0.015</a:t>
                      </a:r>
                      <a:endParaRPr lang="en-LB" sz="1400" b="1"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extLst>
                  <a:ext uri="{0D108BD9-81ED-4DB2-BD59-A6C34878D82A}">
                    <a16:rowId xmlns:a16="http://schemas.microsoft.com/office/drawing/2014/main" val="3025410885"/>
                  </a:ext>
                </a:extLst>
              </a:tr>
              <a:tr h="179613">
                <a:tc>
                  <a:txBody>
                    <a:bodyPr/>
                    <a:lstStyle/>
                    <a:p>
                      <a:r>
                        <a:rPr lang="en-LB" sz="1400" dirty="0">
                          <a:effectLst/>
                          <a:latin typeface="Nadeem" pitchFamily="2" charset="-78"/>
                          <a:cs typeface="Nadeem" pitchFamily="2" charset="-78"/>
                        </a:rPr>
                        <a:t>8</a:t>
                      </a:r>
                      <a:endParaRPr lang="en-LB" sz="1400"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dirty="0">
                          <a:effectLst/>
                          <a:latin typeface="Nadeem" pitchFamily="2" charset="-78"/>
                          <a:cs typeface="Nadeem" pitchFamily="2" charset="-78"/>
                        </a:rPr>
                        <a:t>0.438</a:t>
                      </a:r>
                      <a:endParaRPr lang="en-LB" sz="1400"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dirty="0">
                          <a:effectLst/>
                          <a:latin typeface="Nadeem" pitchFamily="2" charset="-78"/>
                          <a:cs typeface="Nadeem" pitchFamily="2" charset="-78"/>
                        </a:rPr>
                        <a:t>0.046</a:t>
                      </a:r>
                      <a:endParaRPr lang="en-LB" sz="1400"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a:effectLst/>
                          <a:latin typeface="Nadeem" pitchFamily="2" charset="-78"/>
                          <a:cs typeface="Nadeem" pitchFamily="2" charset="-78"/>
                        </a:rPr>
                        <a:t>0.673</a:t>
                      </a:r>
                      <a:endParaRPr lang="en-LB" sz="140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tc>
                  <a:txBody>
                    <a:bodyPr/>
                    <a:lstStyle/>
                    <a:p>
                      <a:r>
                        <a:rPr lang="en-LB" sz="1400" dirty="0">
                          <a:effectLst/>
                          <a:latin typeface="Nadeem" pitchFamily="2" charset="-78"/>
                          <a:cs typeface="Nadeem" pitchFamily="2" charset="-78"/>
                        </a:rPr>
                        <a:t>0.047</a:t>
                      </a:r>
                      <a:endParaRPr lang="en-LB" sz="1400" dirty="0">
                        <a:effectLst/>
                        <a:latin typeface="Nadeem" pitchFamily="2" charset="-78"/>
                        <a:ea typeface="Times New Roman" panose="02020603050405020304" pitchFamily="18" charset="0"/>
                        <a:cs typeface="Nadeem" pitchFamily="2" charset="-78"/>
                      </a:endParaRPr>
                    </a:p>
                  </a:txBody>
                  <a:tcPr marL="68580" marR="68580" marT="0" marB="0">
                    <a:solidFill>
                      <a:schemeClr val="accent3">
                        <a:lumMod val="20000"/>
                        <a:lumOff val="80000"/>
                      </a:schemeClr>
                    </a:solidFill>
                  </a:tcPr>
                </a:tc>
                <a:extLst>
                  <a:ext uri="{0D108BD9-81ED-4DB2-BD59-A6C34878D82A}">
                    <a16:rowId xmlns:a16="http://schemas.microsoft.com/office/drawing/2014/main" val="2721783120"/>
                  </a:ext>
                </a:extLst>
              </a:tr>
              <a:tr h="179613">
                <a:tc>
                  <a:txBody>
                    <a:bodyPr/>
                    <a:lstStyle/>
                    <a:p>
                      <a:r>
                        <a:rPr lang="en-LB" sz="1400" dirty="0">
                          <a:effectLst/>
                          <a:latin typeface="Nadeem" pitchFamily="2" charset="-78"/>
                          <a:cs typeface="Nadeem" pitchFamily="2" charset="-78"/>
                        </a:rPr>
                        <a:t>10</a:t>
                      </a:r>
                      <a:endParaRPr lang="en-LB" sz="1400" dirty="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0.452</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0.046</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0.687</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0.048</a:t>
                      </a:r>
                      <a:endParaRPr lang="en-LB" sz="140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2923304737"/>
                  </a:ext>
                </a:extLst>
              </a:tr>
              <a:tr h="168706">
                <a:tc>
                  <a:txBody>
                    <a:bodyPr/>
                    <a:lstStyle/>
                    <a:p>
                      <a:r>
                        <a:rPr lang="en-LB" sz="1400">
                          <a:effectLst/>
                          <a:latin typeface="Nadeem" pitchFamily="2" charset="-78"/>
                          <a:cs typeface="Nadeem" pitchFamily="2" charset="-78"/>
                        </a:rPr>
                        <a:t>12</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dirty="0">
                          <a:effectLst/>
                          <a:latin typeface="Nadeem" pitchFamily="2" charset="-78"/>
                          <a:cs typeface="Nadeem" pitchFamily="2" charset="-78"/>
                        </a:rPr>
                        <a:t>0.474</a:t>
                      </a:r>
                      <a:endParaRPr lang="en-LB" sz="1400" dirty="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0.057</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a:effectLst/>
                          <a:latin typeface="Nadeem" pitchFamily="2" charset="-78"/>
                          <a:cs typeface="Nadeem" pitchFamily="2" charset="-78"/>
                        </a:rPr>
                        <a:t>0.702</a:t>
                      </a:r>
                      <a:endParaRPr lang="en-LB" sz="1400">
                        <a:effectLst/>
                        <a:latin typeface="Nadeem" pitchFamily="2" charset="-78"/>
                        <a:ea typeface="Times New Roman" panose="02020603050405020304" pitchFamily="18" charset="0"/>
                        <a:cs typeface="Nadeem" pitchFamily="2" charset="-78"/>
                      </a:endParaRPr>
                    </a:p>
                  </a:txBody>
                  <a:tcPr marL="68580" marR="68580" marT="0" marB="0"/>
                </a:tc>
                <a:tc>
                  <a:txBody>
                    <a:bodyPr/>
                    <a:lstStyle/>
                    <a:p>
                      <a:r>
                        <a:rPr lang="en-LB" sz="1400" dirty="0">
                          <a:effectLst/>
                          <a:latin typeface="Nadeem" pitchFamily="2" charset="-78"/>
                          <a:cs typeface="Nadeem" pitchFamily="2" charset="-78"/>
                        </a:rPr>
                        <a:t>0.058</a:t>
                      </a:r>
                      <a:endParaRPr lang="en-LB" sz="1400" dirty="0">
                        <a:effectLst/>
                        <a:latin typeface="Nadeem" pitchFamily="2" charset="-78"/>
                        <a:ea typeface="Times New Roman" panose="02020603050405020304" pitchFamily="18" charset="0"/>
                        <a:cs typeface="Nadeem" pitchFamily="2" charset="-78"/>
                      </a:endParaRPr>
                    </a:p>
                  </a:txBody>
                  <a:tcPr marL="68580" marR="68580" marT="0" marB="0"/>
                </a:tc>
                <a:extLst>
                  <a:ext uri="{0D108BD9-81ED-4DB2-BD59-A6C34878D82A}">
                    <a16:rowId xmlns:a16="http://schemas.microsoft.com/office/drawing/2014/main" val="3881802061"/>
                  </a:ext>
                </a:extLst>
              </a:tr>
            </a:tbl>
          </a:graphicData>
        </a:graphic>
      </p:graphicFrame>
      <p:sp>
        <p:nvSpPr>
          <p:cNvPr id="10" name="Slide Number Placeholder 5">
            <a:extLst>
              <a:ext uri="{FF2B5EF4-FFF2-40B4-BE49-F238E27FC236}">
                <a16:creationId xmlns:a16="http://schemas.microsoft.com/office/drawing/2014/main" id="{11BCF693-DD6A-FAC2-F77C-B21A7A02442D}"/>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17</a:t>
            </a:fld>
            <a:endParaRPr lang="fr-FR" altLang="en-US" sz="1000" dirty="0">
              <a:solidFill>
                <a:schemeClr val="bg1"/>
              </a:solidFill>
              <a:latin typeface="+mn-lt"/>
            </a:endParaRPr>
          </a:p>
        </p:txBody>
      </p:sp>
    </p:spTree>
    <p:extLst>
      <p:ext uri="{BB962C8B-B14F-4D97-AF65-F5344CB8AC3E}">
        <p14:creationId xmlns:p14="http://schemas.microsoft.com/office/powerpoint/2010/main" val="2641255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DD0AD-7655-BBBF-D9CC-3FD70D328F1A}"/>
              </a:ext>
            </a:extLst>
          </p:cNvPr>
          <p:cNvSpPr>
            <a:spLocks noGrp="1"/>
          </p:cNvSpPr>
          <p:nvPr>
            <p:ph type="title"/>
          </p:nvPr>
        </p:nvSpPr>
        <p:spPr>
          <a:xfrm>
            <a:off x="274321" y="511827"/>
            <a:ext cx="8646656" cy="1833154"/>
          </a:xfrm>
        </p:spPr>
        <p:txBody>
          <a:bodyPr/>
          <a:lstStyle/>
          <a:p>
            <a:pPr algn="l"/>
            <a:r>
              <a:rPr lang="en-LB" sz="2400" dirty="0">
                <a:solidFill>
                  <a:srgbClr val="0A1C72"/>
                </a:solidFill>
                <a:latin typeface="Nadeem" pitchFamily="2" charset="-78"/>
                <a:cs typeface="Nadeem" pitchFamily="2" charset="-78"/>
              </a:rPr>
              <a:t>Results of Sequence Length Experiments &amp; Trade-Off</a:t>
            </a:r>
          </a:p>
        </p:txBody>
      </p:sp>
      <p:sp>
        <p:nvSpPr>
          <p:cNvPr id="6" name="Date Placeholder 3">
            <a:extLst>
              <a:ext uri="{FF2B5EF4-FFF2-40B4-BE49-F238E27FC236}">
                <a16:creationId xmlns:a16="http://schemas.microsoft.com/office/drawing/2014/main" id="{F10C710F-D118-C930-D575-256398C93A16}"/>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7" name="Footer Placeholder 4">
            <a:extLst>
              <a:ext uri="{FF2B5EF4-FFF2-40B4-BE49-F238E27FC236}">
                <a16:creationId xmlns:a16="http://schemas.microsoft.com/office/drawing/2014/main" id="{C64D8119-6261-3A54-9615-0E8F32F9DDD0}"/>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0" name="Picture 9" descr="A graph of a graph&#10;&#10;Description automatically generated with medium confidence">
            <a:extLst>
              <a:ext uri="{FF2B5EF4-FFF2-40B4-BE49-F238E27FC236}">
                <a16:creationId xmlns:a16="http://schemas.microsoft.com/office/drawing/2014/main" id="{8F3E01BF-C7D5-0116-5CFB-4CCBE36B94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023461"/>
            <a:ext cx="4790192" cy="2763247"/>
          </a:xfrm>
          <a:prstGeom prst="rect">
            <a:avLst/>
          </a:prstGeom>
        </p:spPr>
      </p:pic>
      <p:pic>
        <p:nvPicPr>
          <p:cNvPr id="11" name="Picture 10" descr="A graph of a graph&#10;&#10;Description automatically generated with medium confidence">
            <a:extLst>
              <a:ext uri="{FF2B5EF4-FFF2-40B4-BE49-F238E27FC236}">
                <a16:creationId xmlns:a16="http://schemas.microsoft.com/office/drawing/2014/main" id="{C4D9B0CA-2AFD-040F-0F68-4119A66BE32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11" y="3801877"/>
            <a:ext cx="4800696" cy="2763247"/>
          </a:xfrm>
          <a:prstGeom prst="rect">
            <a:avLst/>
          </a:prstGeom>
        </p:spPr>
      </p:pic>
      <p:pic>
        <p:nvPicPr>
          <p:cNvPr id="12" name="Picture 11" descr="A graph of different colored lines&#10;&#10;Description automatically generated">
            <a:extLst>
              <a:ext uri="{FF2B5EF4-FFF2-40B4-BE49-F238E27FC236}">
                <a16:creationId xmlns:a16="http://schemas.microsoft.com/office/drawing/2014/main" id="{F17E317B-4A59-682C-6C1E-607F529253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21382" y="1023462"/>
            <a:ext cx="4236604" cy="2763246"/>
          </a:xfrm>
          <a:prstGeom prst="rect">
            <a:avLst/>
          </a:prstGeom>
        </p:spPr>
      </p:pic>
      <p:pic>
        <p:nvPicPr>
          <p:cNvPr id="13" name="Picture 12" descr="A graph of a graph&#10;&#10;Description automatically generated with medium confidence">
            <a:extLst>
              <a:ext uri="{FF2B5EF4-FFF2-40B4-BE49-F238E27FC236}">
                <a16:creationId xmlns:a16="http://schemas.microsoft.com/office/drawing/2014/main" id="{053D46DD-1E62-DF0B-9D62-14BA7178732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03407" y="3812394"/>
            <a:ext cx="4272554" cy="2778416"/>
          </a:xfrm>
          <a:prstGeom prst="rect">
            <a:avLst/>
          </a:prstGeom>
        </p:spPr>
      </p:pic>
      <p:sp>
        <p:nvSpPr>
          <p:cNvPr id="14" name="Slide Number Placeholder 5">
            <a:extLst>
              <a:ext uri="{FF2B5EF4-FFF2-40B4-BE49-F238E27FC236}">
                <a16:creationId xmlns:a16="http://schemas.microsoft.com/office/drawing/2014/main" id="{3E3ABF4C-FBAD-2843-0C8E-B11A4568B606}"/>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18</a:t>
            </a:fld>
            <a:endParaRPr lang="fr-FR" altLang="en-US" sz="1000" dirty="0">
              <a:solidFill>
                <a:schemeClr val="bg1"/>
              </a:solidFill>
              <a:latin typeface="+mn-lt"/>
            </a:endParaRPr>
          </a:p>
        </p:txBody>
      </p:sp>
    </p:spTree>
    <p:extLst>
      <p:ext uri="{BB962C8B-B14F-4D97-AF65-F5344CB8AC3E}">
        <p14:creationId xmlns:p14="http://schemas.microsoft.com/office/powerpoint/2010/main" val="22096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60E962-66C0-B9B5-DC13-53C3F434C601}"/>
              </a:ext>
            </a:extLst>
          </p:cNvPr>
          <p:cNvSpPr txBox="1"/>
          <p:nvPr/>
        </p:nvSpPr>
        <p:spPr>
          <a:xfrm>
            <a:off x="255619" y="353645"/>
            <a:ext cx="5589596" cy="830997"/>
          </a:xfrm>
          <a:prstGeom prst="rect">
            <a:avLst/>
          </a:prstGeom>
          <a:noFill/>
        </p:spPr>
        <p:txBody>
          <a:bodyPr wrap="square">
            <a:spAutoFit/>
          </a:bodyPr>
          <a:lstStyle/>
          <a:p>
            <a:r>
              <a:rPr lang="en-US" b="1" dirty="0">
                <a:solidFill>
                  <a:srgbClr val="0A1C72"/>
                </a:solidFill>
                <a:latin typeface="Nadeem" pitchFamily="2" charset="-78"/>
                <a:cs typeface="Nadeem" pitchFamily="2" charset="-78"/>
              </a:rPr>
              <a:t>Long-Term Forecasting Experiment (MODIS 25-Years Dataset)</a:t>
            </a:r>
            <a:endParaRPr lang="en-LB" b="1" dirty="0">
              <a:solidFill>
                <a:srgbClr val="0A1C72"/>
              </a:solidFill>
              <a:latin typeface="Nadeem" pitchFamily="2" charset="-78"/>
              <a:cs typeface="Nadeem" pitchFamily="2" charset="-78"/>
            </a:endParaRPr>
          </a:p>
        </p:txBody>
      </p:sp>
      <p:pic>
        <p:nvPicPr>
          <p:cNvPr id="7" name="Picture 6" descr="A graph showing different colored lines&#10;&#10;Description automatically generated">
            <a:extLst>
              <a:ext uri="{FF2B5EF4-FFF2-40B4-BE49-F238E27FC236}">
                <a16:creationId xmlns:a16="http://schemas.microsoft.com/office/drawing/2014/main" id="{0B5EF459-F4CB-08BB-212C-8C591B52D68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9026" b="6135"/>
          <a:stretch/>
        </p:blipFill>
        <p:spPr>
          <a:xfrm>
            <a:off x="73742" y="1182231"/>
            <a:ext cx="6024015" cy="2776781"/>
          </a:xfrm>
          <a:prstGeom prst="rect">
            <a:avLst/>
          </a:prstGeom>
        </p:spPr>
      </p:pic>
      <p:pic>
        <p:nvPicPr>
          <p:cNvPr id="8" name="Picture 7" descr="A graph showing different colored lines&#10;&#10;Description automatically generated">
            <a:extLst>
              <a:ext uri="{FF2B5EF4-FFF2-40B4-BE49-F238E27FC236}">
                <a16:creationId xmlns:a16="http://schemas.microsoft.com/office/drawing/2014/main" id="{0971E3A0-E35C-A351-D9DA-15511EF889C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t="6744" b="7728"/>
          <a:stretch/>
        </p:blipFill>
        <p:spPr>
          <a:xfrm>
            <a:off x="73743" y="3821167"/>
            <a:ext cx="6024014" cy="2683188"/>
          </a:xfrm>
          <a:prstGeom prst="rect">
            <a:avLst/>
          </a:prstGeom>
        </p:spPr>
      </p:pic>
      <p:sp>
        <p:nvSpPr>
          <p:cNvPr id="9" name="Date Placeholder 3">
            <a:extLst>
              <a:ext uri="{FF2B5EF4-FFF2-40B4-BE49-F238E27FC236}">
                <a16:creationId xmlns:a16="http://schemas.microsoft.com/office/drawing/2014/main" id="{66C6E41E-6977-9F51-FE89-A33A1644160C}"/>
              </a:ext>
            </a:extLst>
          </p:cNvPr>
          <p:cNvSpPr txBox="1">
            <a:spLocks/>
          </p:cNvSpPr>
          <p:nvPr/>
        </p:nvSpPr>
        <p:spPr>
          <a:xfrm>
            <a:off x="164125" y="6590810"/>
            <a:ext cx="1071153" cy="365125"/>
          </a:xfrm>
          <a:prstGeom prst="rect">
            <a:avLst/>
          </a:prstGeom>
        </p:spPr>
        <p:txBody>
          <a:bodyPr vert="horz" wrap="square" lIns="91440" tIns="45720" rIns="91440" bIns="45720" numCol="1" anchor="t" anchorCtr="0" compatLnSpc="1">
            <a:prstTxWarp prst="textNoShape">
              <a:avLst/>
            </a:prstTxWarp>
            <a:normAutofit/>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spcAft>
                <a:spcPts val="600"/>
              </a:spcAft>
            </a:pPr>
            <a:r>
              <a:rPr lang="en-US" altLang="en-US" sz="1000" dirty="0">
                <a:solidFill>
                  <a:schemeClr val="bg1"/>
                </a:solidFill>
                <a:latin typeface="+mn-lt"/>
              </a:rPr>
              <a:t>MDP26-19</a:t>
            </a:r>
            <a:endParaRPr lang="fr-FR" altLang="en-US" sz="1000" dirty="0">
              <a:solidFill>
                <a:schemeClr val="bg1"/>
              </a:solidFill>
              <a:latin typeface="+mn-lt"/>
            </a:endParaRPr>
          </a:p>
        </p:txBody>
      </p:sp>
      <p:sp>
        <p:nvSpPr>
          <p:cNvPr id="10" name="Footer Placeholder 4">
            <a:extLst>
              <a:ext uri="{FF2B5EF4-FFF2-40B4-BE49-F238E27FC236}">
                <a16:creationId xmlns:a16="http://schemas.microsoft.com/office/drawing/2014/main" id="{521B5574-4F31-9BDA-8857-90F6AEDE2E6D}"/>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2" name="TextBox 11">
            <a:extLst>
              <a:ext uri="{FF2B5EF4-FFF2-40B4-BE49-F238E27FC236}">
                <a16:creationId xmlns:a16="http://schemas.microsoft.com/office/drawing/2014/main" id="{1AAEF734-E4B8-BB3C-B30B-56BD1D6D3092}"/>
              </a:ext>
            </a:extLst>
          </p:cNvPr>
          <p:cNvSpPr txBox="1"/>
          <p:nvPr/>
        </p:nvSpPr>
        <p:spPr>
          <a:xfrm>
            <a:off x="6097758" y="1322740"/>
            <a:ext cx="2972499" cy="3600986"/>
          </a:xfrm>
          <a:prstGeom prst="rect">
            <a:avLst/>
          </a:prstGeom>
          <a:noFill/>
        </p:spPr>
        <p:txBody>
          <a:bodyPr wrap="square">
            <a:spAutoFit/>
          </a:bodyPr>
          <a:lstStyle/>
          <a:p>
            <a:r>
              <a:rPr lang="en-US" sz="1400" b="1" dirty="0">
                <a:latin typeface="Nadeem" pitchFamily="2" charset="-78"/>
                <a:cs typeface="Nadeem" pitchFamily="2" charset="-78"/>
              </a:rPr>
              <a:t>Objective</a:t>
            </a:r>
          </a:p>
          <a:p>
            <a:pPr marL="285750" indent="-285750">
              <a:buFont typeface="Arial" panose="020B0604020202020204" pitchFamily="34" charset="0"/>
              <a:buChar char="•"/>
            </a:pPr>
            <a:r>
              <a:rPr lang="en-US" sz="1400" dirty="0">
                <a:latin typeface="Nadeem" pitchFamily="2" charset="-78"/>
                <a:cs typeface="Nadeem" pitchFamily="2" charset="-78"/>
              </a:rPr>
              <a:t>Test whether more historical data improves performance</a:t>
            </a:r>
          </a:p>
          <a:p>
            <a:r>
              <a:rPr lang="en-US" sz="1400" dirty="0">
                <a:latin typeface="Nadeem" pitchFamily="2" charset="-78"/>
                <a:cs typeface="Nadeem" pitchFamily="2" charset="-78"/>
              </a:rPr>
              <a:t> </a:t>
            </a:r>
          </a:p>
          <a:p>
            <a:r>
              <a:rPr lang="en-US" sz="1400" b="1" dirty="0">
                <a:latin typeface="Nadeem" pitchFamily="2" charset="-78"/>
                <a:cs typeface="Nadeem" pitchFamily="2" charset="-78"/>
              </a:rPr>
              <a:t>Observations</a:t>
            </a:r>
          </a:p>
          <a:p>
            <a:pPr marL="285750" indent="-285750">
              <a:buFont typeface="Arial" panose="020B0604020202020204" pitchFamily="34" charset="0"/>
              <a:buChar char="•"/>
            </a:pPr>
            <a:r>
              <a:rPr lang="en-US" sz="1400" dirty="0">
                <a:latin typeface="Nadeem" pitchFamily="2" charset="-78"/>
                <a:cs typeface="Nadeem" pitchFamily="2" charset="-78"/>
              </a:rPr>
              <a:t>Smoother long-term trends </a:t>
            </a:r>
          </a:p>
          <a:p>
            <a:pPr marL="285750" indent="-285750">
              <a:buFont typeface="Arial" panose="020B0604020202020204" pitchFamily="34" charset="0"/>
              <a:buChar char="•"/>
            </a:pPr>
            <a:r>
              <a:rPr lang="en-US" sz="1400" dirty="0">
                <a:latin typeface="Nadeem" pitchFamily="2" charset="-78"/>
                <a:cs typeface="Nadeem" pitchFamily="2" charset="-78"/>
              </a:rPr>
              <a:t>Better seasonal consistency </a:t>
            </a:r>
          </a:p>
          <a:p>
            <a:pPr marL="285750" indent="-285750">
              <a:buFont typeface="Arial" panose="020B0604020202020204" pitchFamily="34" charset="0"/>
              <a:buChar char="•"/>
            </a:pPr>
            <a:r>
              <a:rPr lang="en-US" sz="1400" dirty="0">
                <a:latin typeface="Nadeem" pitchFamily="2" charset="-78"/>
                <a:cs typeface="Nadeem" pitchFamily="2" charset="-78"/>
              </a:rPr>
              <a:t>Still noticeable prediction errors ( </a:t>
            </a:r>
            <a:r>
              <a:rPr lang="en-LB" sz="1400" dirty="0">
                <a:latin typeface="Nadeem" pitchFamily="2" charset="-78"/>
                <a:cs typeface="Nadeem" pitchFamily="2" charset="-78"/>
              </a:rPr>
              <a:t>RMSE ≈ 0.6 )</a:t>
            </a:r>
            <a:r>
              <a:rPr lang="en-US" sz="1400" dirty="0">
                <a:latin typeface="Nadeem" pitchFamily="2" charset="-78"/>
                <a:cs typeface="Nadeem" pitchFamily="2" charset="-78"/>
              </a:rPr>
              <a:t> </a:t>
            </a:r>
          </a:p>
          <a:p>
            <a:endParaRPr lang="en-US" sz="1400" i="1" dirty="0">
              <a:latin typeface="Nadeem" pitchFamily="2" charset="-78"/>
              <a:cs typeface="Nadeem" pitchFamily="2" charset="-78"/>
            </a:endParaRPr>
          </a:p>
          <a:p>
            <a:endParaRPr lang="en-US" sz="1400" i="1" dirty="0">
              <a:latin typeface="Nadeem" pitchFamily="2" charset="-78"/>
              <a:cs typeface="Nadeem" pitchFamily="2" charset="-78"/>
            </a:endParaRPr>
          </a:p>
          <a:p>
            <a:endParaRPr lang="en-US" sz="1400" i="1" dirty="0">
              <a:latin typeface="Nadeem" pitchFamily="2" charset="-78"/>
              <a:cs typeface="Nadeem" pitchFamily="2" charset="-78"/>
            </a:endParaRPr>
          </a:p>
          <a:p>
            <a:endParaRPr lang="en-US" sz="1400" i="1" dirty="0">
              <a:latin typeface="Nadeem" pitchFamily="2" charset="-78"/>
              <a:cs typeface="Nadeem" pitchFamily="2" charset="-78"/>
            </a:endParaRPr>
          </a:p>
          <a:p>
            <a:r>
              <a:rPr lang="en-US" sz="1400" i="1" dirty="0">
                <a:latin typeface="Nadeem" pitchFamily="2" charset="-78"/>
                <a:cs typeface="Nadeem" pitchFamily="2" charset="-78"/>
                <a:sym typeface="Wingdings" pitchFamily="2" charset="2"/>
              </a:rPr>
              <a:t> </a:t>
            </a:r>
            <a:r>
              <a:rPr lang="en-US" sz="1400" i="1" dirty="0">
                <a:latin typeface="Nadeem" pitchFamily="2" charset="-78"/>
                <a:cs typeface="Nadeem" pitchFamily="2" charset="-78"/>
              </a:rPr>
              <a:t>More data improves stability, but does NOT eliminate forecasting errors</a:t>
            </a:r>
            <a:endParaRPr lang="en-US" sz="1400" dirty="0">
              <a:latin typeface="Nadeem" pitchFamily="2" charset="-78"/>
              <a:cs typeface="Nadeem" pitchFamily="2" charset="-78"/>
            </a:endParaRPr>
          </a:p>
        </p:txBody>
      </p:sp>
      <p:sp>
        <p:nvSpPr>
          <p:cNvPr id="11" name="Slide Number Placeholder 5">
            <a:extLst>
              <a:ext uri="{FF2B5EF4-FFF2-40B4-BE49-F238E27FC236}">
                <a16:creationId xmlns:a16="http://schemas.microsoft.com/office/drawing/2014/main" id="{283AF78A-7A93-AC3E-9E73-50324B7F8256}"/>
              </a:ext>
            </a:extLst>
          </p:cNvPr>
          <p:cNvSpPr txBox="1">
            <a:spLocks/>
          </p:cNvSpPr>
          <p:nvPr/>
        </p:nvSpPr>
        <p:spPr>
          <a:xfrm>
            <a:off x="7908724" y="6590810"/>
            <a:ext cx="1071152" cy="365125"/>
          </a:xfrm>
          <a:prstGeom prst="rect">
            <a:avLst/>
          </a:prstGeom>
        </p:spPr>
        <p:txBody>
          <a:bodyPr/>
          <a:lstStyle>
            <a:defPPr>
              <a:defRPr lang="fr-FR"/>
            </a:defPPr>
            <a:lvl1pPr algn="l" defTabSz="457200" rtl="0" fontAlgn="base">
              <a:spcBef>
                <a:spcPct val="0"/>
              </a:spcBef>
              <a:spcAft>
                <a:spcPct val="0"/>
              </a:spcAft>
              <a:defRPr sz="2400" kern="1200">
                <a:solidFill>
                  <a:schemeClr val="tx1"/>
                </a:solidFill>
                <a:latin typeface="Calibri" charset="0"/>
                <a:ea typeface="ＭＳ Ｐゴシック" charset="-128"/>
                <a:cs typeface="+mn-cs"/>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pPr algn="r"/>
            <a:fld id="{7F40025E-8A47-7E48-AA2F-82A25E5E3F97}" type="slidenum">
              <a:rPr lang="fr-FR" altLang="en-US" sz="1000" smtClean="0">
                <a:solidFill>
                  <a:schemeClr val="bg1"/>
                </a:solidFill>
                <a:latin typeface="+mn-lt"/>
              </a:rPr>
              <a:pPr algn="r"/>
              <a:t>19</a:t>
            </a:fld>
            <a:endParaRPr lang="fr-FR" altLang="en-US" sz="1000" dirty="0">
              <a:solidFill>
                <a:schemeClr val="bg1"/>
              </a:solidFill>
              <a:latin typeface="+mn-lt"/>
            </a:endParaRPr>
          </a:p>
        </p:txBody>
      </p:sp>
    </p:spTree>
    <p:extLst>
      <p:ext uri="{BB962C8B-B14F-4D97-AF65-F5344CB8AC3E}">
        <p14:creationId xmlns:p14="http://schemas.microsoft.com/office/powerpoint/2010/main" val="1635085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701" y="457894"/>
            <a:ext cx="8229599" cy="747713"/>
          </a:xfrm>
        </p:spPr>
        <p:txBody>
          <a:bodyPr/>
          <a:lstStyle/>
          <a:p>
            <a:r>
              <a:rPr lang="en-US" dirty="0">
                <a:solidFill>
                  <a:srgbClr val="0A1C72"/>
                </a:solidFill>
                <a:latin typeface="Nadeem" pitchFamily="2" charset="-78"/>
                <a:ea typeface="ＭＳ Ｐゴシック" charset="-128"/>
                <a:cs typeface="Nadeem" pitchFamily="2" charset="-78"/>
              </a:rPr>
              <a:t>Testing, Evaluation and Iterative improvements</a:t>
            </a:r>
          </a:p>
        </p:txBody>
      </p:sp>
      <p:sp>
        <p:nvSpPr>
          <p:cNvPr id="6" name="Slide Number Placeholder 5"/>
          <p:cNvSpPr>
            <a:spLocks noGrp="1"/>
          </p:cNvSpPr>
          <p:nvPr>
            <p:ph type="sldNum" sz="quarter" idx="12"/>
          </p:nvPr>
        </p:nvSpPr>
        <p:spPr/>
        <p:txBody>
          <a:bodyPr/>
          <a:lstStyle/>
          <a:p>
            <a:fld id="{7F40025E-8A47-7E48-AA2F-82A25E5E3F97}" type="slidenum">
              <a:rPr lang="en-US" altLang="en-US" smtClean="0"/>
              <a:pPr/>
              <a:t>20</a:t>
            </a:fld>
            <a:endParaRPr lang="en-US" altLang="en-US" dirty="0"/>
          </a:p>
        </p:txBody>
      </p:sp>
      <p:sp>
        <p:nvSpPr>
          <p:cNvPr id="11" name="Date Placeholder 3">
            <a:extLst>
              <a:ext uri="{FF2B5EF4-FFF2-40B4-BE49-F238E27FC236}">
                <a16:creationId xmlns:a16="http://schemas.microsoft.com/office/drawing/2014/main" id="{8E4D2D96-F957-61EF-C4AD-908A75AB8078}"/>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C6F9999F-8C10-EC86-BCF0-14819B3A15B5}"/>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graphicFrame>
        <p:nvGraphicFramePr>
          <p:cNvPr id="13" name="Diagram 12">
            <a:extLst>
              <a:ext uri="{FF2B5EF4-FFF2-40B4-BE49-F238E27FC236}">
                <a16:creationId xmlns:a16="http://schemas.microsoft.com/office/drawing/2014/main" id="{BFA4581F-2551-BB4E-56B1-1B1E412B0BE5}"/>
              </a:ext>
            </a:extLst>
          </p:cNvPr>
          <p:cNvGraphicFramePr/>
          <p:nvPr>
            <p:extLst>
              <p:ext uri="{D42A27DB-BD31-4B8C-83A1-F6EECF244321}">
                <p14:modId xmlns:p14="http://schemas.microsoft.com/office/powerpoint/2010/main" val="3463876091"/>
              </p:ext>
            </p:extLst>
          </p:nvPr>
        </p:nvGraphicFramePr>
        <p:xfrm>
          <a:off x="897933" y="997357"/>
          <a:ext cx="7285512" cy="53247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7AC969C1-A0FC-3F4D-2A49-792DFEABB502}"/>
              </a:ext>
            </a:extLst>
          </p:cNvPr>
          <p:cNvSpPr txBox="1"/>
          <p:nvPr/>
        </p:nvSpPr>
        <p:spPr>
          <a:xfrm>
            <a:off x="5949583" y="1249729"/>
            <a:ext cx="3520042" cy="523220"/>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Persistence model</a:t>
            </a:r>
          </a:p>
          <a:p>
            <a:pPr marL="285750" indent="-285750">
              <a:buFont typeface="Arial" panose="020B0604020202020204" pitchFamily="34" charset="0"/>
              <a:buChar char="•"/>
            </a:pPr>
            <a:r>
              <a:rPr lang="en-LB" sz="1400" dirty="0">
                <a:latin typeface="Nadeem" pitchFamily="2" charset="-78"/>
                <a:cs typeface="Nadeem" pitchFamily="2" charset="-78"/>
              </a:rPr>
              <a:t>Establish minimum performance</a:t>
            </a:r>
          </a:p>
        </p:txBody>
      </p:sp>
      <p:sp>
        <p:nvSpPr>
          <p:cNvPr id="9" name="TextBox 8">
            <a:extLst>
              <a:ext uri="{FF2B5EF4-FFF2-40B4-BE49-F238E27FC236}">
                <a16:creationId xmlns:a16="http://schemas.microsoft.com/office/drawing/2014/main" id="{187F8505-E241-42A4-41AE-80BA164B346F}"/>
              </a:ext>
            </a:extLst>
          </p:cNvPr>
          <p:cNvSpPr txBox="1"/>
          <p:nvPr/>
        </p:nvSpPr>
        <p:spPr>
          <a:xfrm>
            <a:off x="7376117" y="2769239"/>
            <a:ext cx="1733803" cy="738664"/>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Varying sequence length</a:t>
            </a:r>
          </a:p>
          <a:p>
            <a:pPr marL="285750" indent="-285750">
              <a:buFont typeface="Arial" panose="020B0604020202020204" pitchFamily="34" charset="0"/>
              <a:buChar char="•"/>
            </a:pPr>
            <a:r>
              <a:rPr lang="en-LB" sz="1400" dirty="0">
                <a:latin typeface="Nadeem" pitchFamily="2" charset="-78"/>
                <a:cs typeface="Nadeem" pitchFamily="2" charset="-78"/>
              </a:rPr>
              <a:t>1</a:t>
            </a:r>
            <a:r>
              <a:rPr lang="en-LB" sz="1400" dirty="0">
                <a:latin typeface="Nadeem" pitchFamily="2" charset="-78"/>
                <a:cs typeface="Nadeem" pitchFamily="2" charset="-78"/>
                <a:sym typeface="Wingdings" pitchFamily="2" charset="2"/>
              </a:rPr>
              <a:t>  12 weeks</a:t>
            </a:r>
            <a:endParaRPr lang="en-LB" sz="1400" dirty="0">
              <a:latin typeface="Nadeem" pitchFamily="2" charset="-78"/>
              <a:cs typeface="Nadeem" pitchFamily="2" charset="-78"/>
            </a:endParaRPr>
          </a:p>
        </p:txBody>
      </p:sp>
      <p:sp>
        <p:nvSpPr>
          <p:cNvPr id="14" name="TextBox 13">
            <a:extLst>
              <a:ext uri="{FF2B5EF4-FFF2-40B4-BE49-F238E27FC236}">
                <a16:creationId xmlns:a16="http://schemas.microsoft.com/office/drawing/2014/main" id="{0DB2DDF7-939B-F3DB-FDE4-F6906C7096C7}"/>
              </a:ext>
            </a:extLst>
          </p:cNvPr>
          <p:cNvSpPr txBox="1"/>
          <p:nvPr/>
        </p:nvSpPr>
        <p:spPr>
          <a:xfrm>
            <a:off x="6684279" y="5104877"/>
            <a:ext cx="3520042" cy="523220"/>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MAE (overall error)</a:t>
            </a:r>
          </a:p>
          <a:p>
            <a:pPr marL="285750" indent="-285750">
              <a:buFont typeface="Arial" panose="020B0604020202020204" pitchFamily="34" charset="0"/>
              <a:buChar char="•"/>
            </a:pPr>
            <a:r>
              <a:rPr lang="en-LB" sz="1400" dirty="0">
                <a:latin typeface="Nadeem" pitchFamily="2" charset="-78"/>
                <a:cs typeface="Nadeem" pitchFamily="2" charset="-78"/>
              </a:rPr>
              <a:t>RMSE (peak sensitivity)</a:t>
            </a:r>
          </a:p>
        </p:txBody>
      </p:sp>
      <p:sp>
        <p:nvSpPr>
          <p:cNvPr id="15" name="TextBox 14">
            <a:extLst>
              <a:ext uri="{FF2B5EF4-FFF2-40B4-BE49-F238E27FC236}">
                <a16:creationId xmlns:a16="http://schemas.microsoft.com/office/drawing/2014/main" id="{8F03B41B-85F0-92C7-7AE9-5CA7F9EA5C0D}"/>
              </a:ext>
            </a:extLst>
          </p:cNvPr>
          <p:cNvSpPr txBox="1"/>
          <p:nvPr/>
        </p:nvSpPr>
        <p:spPr>
          <a:xfrm>
            <a:off x="960555" y="5417406"/>
            <a:ext cx="3537276" cy="738664"/>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Peak amplitude </a:t>
            </a:r>
          </a:p>
          <a:p>
            <a:pPr marL="285750" indent="-285750">
              <a:buFont typeface="Arial" panose="020B0604020202020204" pitchFamily="34" charset="0"/>
              <a:buChar char="•"/>
            </a:pPr>
            <a:r>
              <a:rPr lang="en-LB" sz="1400" dirty="0">
                <a:latin typeface="Nadeem" pitchFamily="2" charset="-78"/>
                <a:cs typeface="Nadeem" pitchFamily="2" charset="-78"/>
              </a:rPr>
              <a:t>Temporal alignment</a:t>
            </a:r>
          </a:p>
          <a:p>
            <a:pPr marL="285750" indent="-285750">
              <a:buFont typeface="Arial" panose="020B0604020202020204" pitchFamily="34" charset="0"/>
              <a:buChar char="•"/>
            </a:pPr>
            <a:r>
              <a:rPr lang="en-LB" sz="1400" dirty="0">
                <a:latin typeface="Nadeem" pitchFamily="2" charset="-78"/>
                <a:cs typeface="Nadeem" pitchFamily="2" charset="-78"/>
              </a:rPr>
              <a:t>Seasonal patterns</a:t>
            </a:r>
          </a:p>
        </p:txBody>
      </p:sp>
      <p:sp>
        <p:nvSpPr>
          <p:cNvPr id="16" name="TextBox 15">
            <a:extLst>
              <a:ext uri="{FF2B5EF4-FFF2-40B4-BE49-F238E27FC236}">
                <a16:creationId xmlns:a16="http://schemas.microsoft.com/office/drawing/2014/main" id="{C85C469A-57D7-7F75-0930-1F7CAF6DCC9F}"/>
              </a:ext>
            </a:extLst>
          </p:cNvPr>
          <p:cNvSpPr txBox="1"/>
          <p:nvPr/>
        </p:nvSpPr>
        <p:spPr>
          <a:xfrm>
            <a:off x="69190" y="3394532"/>
            <a:ext cx="2332176" cy="738664"/>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Compare all configurations</a:t>
            </a:r>
          </a:p>
          <a:p>
            <a:pPr marL="285750" indent="-285750">
              <a:buFont typeface="Arial" panose="020B0604020202020204" pitchFamily="34" charset="0"/>
              <a:buChar char="•"/>
            </a:pPr>
            <a:r>
              <a:rPr lang="en-LB" sz="1400" dirty="0">
                <a:latin typeface="Nadeem" pitchFamily="2" charset="-78"/>
                <a:cs typeface="Nadeem" pitchFamily="2" charset="-78"/>
              </a:rPr>
              <a:t>Numerical vs visual</a:t>
            </a:r>
          </a:p>
        </p:txBody>
      </p:sp>
      <p:sp>
        <p:nvSpPr>
          <p:cNvPr id="17" name="TextBox 16">
            <a:extLst>
              <a:ext uri="{FF2B5EF4-FFF2-40B4-BE49-F238E27FC236}">
                <a16:creationId xmlns:a16="http://schemas.microsoft.com/office/drawing/2014/main" id="{EB2E2C20-C68D-50E8-9044-EF5AF5276A38}"/>
              </a:ext>
            </a:extLst>
          </p:cNvPr>
          <p:cNvSpPr txBox="1"/>
          <p:nvPr/>
        </p:nvSpPr>
        <p:spPr>
          <a:xfrm>
            <a:off x="69190" y="1620804"/>
            <a:ext cx="3520042" cy="523220"/>
          </a:xfrm>
          <a:prstGeom prst="rect">
            <a:avLst/>
          </a:prstGeom>
          <a:noFill/>
        </p:spPr>
        <p:txBody>
          <a:bodyPr wrap="square" rtlCol="0">
            <a:spAutoFit/>
          </a:bodyPr>
          <a:lstStyle/>
          <a:p>
            <a:pPr marL="285750" indent="-285750">
              <a:buFont typeface="Arial" panose="020B0604020202020204" pitchFamily="34" charset="0"/>
              <a:buChar char="•"/>
            </a:pPr>
            <a:r>
              <a:rPr lang="en-LB" sz="1400" dirty="0">
                <a:latin typeface="Nadeem" pitchFamily="2" charset="-78"/>
                <a:cs typeface="Nadeem" pitchFamily="2" charset="-78"/>
              </a:rPr>
              <a:t>Optimal window: 6-8 weeks</a:t>
            </a:r>
          </a:p>
          <a:p>
            <a:pPr marL="285750" indent="-285750">
              <a:buFont typeface="Arial" panose="020B0604020202020204" pitchFamily="34" charset="0"/>
              <a:buChar char="•"/>
            </a:pPr>
            <a:r>
              <a:rPr lang="en-LB" sz="1400" dirty="0">
                <a:latin typeface="Nadeem" pitchFamily="2" charset="-78"/>
                <a:cs typeface="Nadeem" pitchFamily="2" charset="-78"/>
              </a:rPr>
              <a:t>Balance stability &amp; realism</a:t>
            </a:r>
          </a:p>
        </p:txBody>
      </p:sp>
      <p:cxnSp>
        <p:nvCxnSpPr>
          <p:cNvPr id="7" name="Straight Connector 6">
            <a:extLst>
              <a:ext uri="{FF2B5EF4-FFF2-40B4-BE49-F238E27FC236}">
                <a16:creationId xmlns:a16="http://schemas.microsoft.com/office/drawing/2014/main" id="{FE827552-E8BC-66AD-5F1B-D62CF084AB86}"/>
              </a:ext>
            </a:extLst>
          </p:cNvPr>
          <p:cNvCxnSpPr>
            <a:cxnSpLocks/>
          </p:cNvCxnSpPr>
          <p:nvPr/>
        </p:nvCxnSpPr>
        <p:spPr>
          <a:xfrm>
            <a:off x="5409255" y="1205607"/>
            <a:ext cx="230034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655556A2-EDCF-5FFF-E7FB-AECFCF01E5D2}"/>
              </a:ext>
            </a:extLst>
          </p:cNvPr>
          <p:cNvCxnSpPr>
            <a:cxnSpLocks/>
          </p:cNvCxnSpPr>
          <p:nvPr/>
        </p:nvCxnSpPr>
        <p:spPr>
          <a:xfrm>
            <a:off x="7383089" y="2709381"/>
            <a:ext cx="1600711"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EB6B64BA-E5A5-FBA2-5CB1-FE27043DAC19}"/>
              </a:ext>
            </a:extLst>
          </p:cNvPr>
          <p:cNvCxnSpPr>
            <a:cxnSpLocks/>
          </p:cNvCxnSpPr>
          <p:nvPr/>
        </p:nvCxnSpPr>
        <p:spPr>
          <a:xfrm>
            <a:off x="7410197" y="4926108"/>
            <a:ext cx="1387439"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D437B083-2517-6378-511C-611E50EBDB18}"/>
              </a:ext>
            </a:extLst>
          </p:cNvPr>
          <p:cNvCxnSpPr>
            <a:cxnSpLocks/>
          </p:cNvCxnSpPr>
          <p:nvPr/>
        </p:nvCxnSpPr>
        <p:spPr>
          <a:xfrm>
            <a:off x="318655" y="2335308"/>
            <a:ext cx="1351246"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23" name="Straight Connector 22">
            <a:extLst>
              <a:ext uri="{FF2B5EF4-FFF2-40B4-BE49-F238E27FC236}">
                <a16:creationId xmlns:a16="http://schemas.microsoft.com/office/drawing/2014/main" id="{99074D18-E568-4D21-6377-D8E0BEE0D569}"/>
              </a:ext>
            </a:extLst>
          </p:cNvPr>
          <p:cNvCxnSpPr>
            <a:cxnSpLocks/>
          </p:cNvCxnSpPr>
          <p:nvPr/>
        </p:nvCxnSpPr>
        <p:spPr>
          <a:xfrm>
            <a:off x="228556" y="4288799"/>
            <a:ext cx="1386010" cy="0"/>
          </a:xfrm>
          <a:prstGeom prst="line">
            <a:avLst/>
          </a:prstGeom>
          <a:ln w="25400"/>
        </p:spPr>
        <p:style>
          <a:lnRef idx="1">
            <a:schemeClr val="dk1"/>
          </a:lnRef>
          <a:fillRef idx="0">
            <a:schemeClr val="dk1"/>
          </a:fillRef>
          <a:effectRef idx="0">
            <a:schemeClr val="dk1"/>
          </a:effectRef>
          <a:fontRef idx="minor">
            <a:schemeClr val="tx1"/>
          </a:fontRef>
        </p:style>
      </p:cxnSp>
      <p:cxnSp>
        <p:nvCxnSpPr>
          <p:cNvPr id="25" name="Straight Connector 24">
            <a:extLst>
              <a:ext uri="{FF2B5EF4-FFF2-40B4-BE49-F238E27FC236}">
                <a16:creationId xmlns:a16="http://schemas.microsoft.com/office/drawing/2014/main" id="{DCA172DC-25BD-B964-7C29-51BD89DA3AD9}"/>
              </a:ext>
            </a:extLst>
          </p:cNvPr>
          <p:cNvCxnSpPr>
            <a:cxnSpLocks/>
          </p:cNvCxnSpPr>
          <p:nvPr/>
        </p:nvCxnSpPr>
        <p:spPr>
          <a:xfrm>
            <a:off x="1042418" y="6173017"/>
            <a:ext cx="2602234" cy="0"/>
          </a:xfrm>
          <a:prstGeom prst="line">
            <a:avLst/>
          </a:prstGeom>
          <a:ln w="254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094073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0A1C72"/>
                </a:solidFill>
                <a:latin typeface="Nadeem" pitchFamily="2" charset="-78"/>
                <a:ea typeface="ＭＳ Ｐゴシック" charset="-128"/>
                <a:cs typeface="Nadeem" pitchFamily="2" charset="-78"/>
              </a:rPr>
              <a:t>Solution Impact </a:t>
            </a:r>
          </a:p>
        </p:txBody>
      </p:sp>
      <p:sp>
        <p:nvSpPr>
          <p:cNvPr id="6" name="Slide Number Placeholder 5"/>
          <p:cNvSpPr>
            <a:spLocks noGrp="1"/>
          </p:cNvSpPr>
          <p:nvPr>
            <p:ph type="sldNum" sz="quarter" idx="12"/>
          </p:nvPr>
        </p:nvSpPr>
        <p:spPr/>
        <p:txBody>
          <a:bodyPr/>
          <a:lstStyle/>
          <a:p>
            <a:fld id="{7F40025E-8A47-7E48-AA2F-82A25E5E3F97}" type="slidenum">
              <a:rPr lang="en-US" altLang="en-US" smtClean="0"/>
              <a:pPr/>
              <a:t>21</a:t>
            </a:fld>
            <a:endParaRPr lang="en-US" altLang="en-US" dirty="0"/>
          </a:p>
        </p:txBody>
      </p:sp>
      <p:sp>
        <p:nvSpPr>
          <p:cNvPr id="10" name="TextBox 9">
            <a:extLst>
              <a:ext uri="{FF2B5EF4-FFF2-40B4-BE49-F238E27FC236}">
                <a16:creationId xmlns:a16="http://schemas.microsoft.com/office/drawing/2014/main" id="{8E866995-B07C-DFEB-4070-E5ED581CCCEF}"/>
              </a:ext>
            </a:extLst>
          </p:cNvPr>
          <p:cNvSpPr txBox="1"/>
          <p:nvPr/>
        </p:nvSpPr>
        <p:spPr>
          <a:xfrm>
            <a:off x="1914151" y="1255713"/>
            <a:ext cx="8140535" cy="4801314"/>
          </a:xfrm>
          <a:prstGeom prst="rect">
            <a:avLst/>
          </a:prstGeom>
          <a:noFill/>
        </p:spPr>
        <p:txBody>
          <a:bodyPr wrap="square">
            <a:spAutoFit/>
          </a:bodyPr>
          <a:lstStyle/>
          <a:p>
            <a:r>
              <a:rPr lang="en-US" sz="1800" b="1" dirty="0">
                <a:latin typeface="Nadeem" pitchFamily="2" charset="-78"/>
                <a:cs typeface="Nadeem" pitchFamily="2" charset="-78"/>
              </a:rPr>
              <a:t>Environmental Impact</a:t>
            </a:r>
          </a:p>
          <a:p>
            <a:pPr marL="285750" indent="-285750">
              <a:buFont typeface="Arial" panose="020B0604020202020204" pitchFamily="34" charset="0"/>
              <a:buChar char="•"/>
            </a:pPr>
            <a:r>
              <a:rPr lang="en-US" sz="1800" dirty="0">
                <a:latin typeface="Nadeem" pitchFamily="2" charset="-78"/>
                <a:cs typeface="Nadeem" pitchFamily="2" charset="-78"/>
              </a:rPr>
              <a:t>Improved monitoring of snow cover dynamics </a:t>
            </a:r>
          </a:p>
          <a:p>
            <a:pPr marL="285750" indent="-285750">
              <a:buFont typeface="Arial" panose="020B0604020202020204" pitchFamily="34" charset="0"/>
              <a:buChar char="•"/>
            </a:pPr>
            <a:r>
              <a:rPr lang="en-US" sz="1800" dirty="0">
                <a:latin typeface="Nadeem" pitchFamily="2" charset="-78"/>
                <a:cs typeface="Nadeem" pitchFamily="2" charset="-78"/>
              </a:rPr>
              <a:t>Better understanding of water resources availability </a:t>
            </a:r>
          </a:p>
          <a:p>
            <a:pPr marL="285750" indent="-285750">
              <a:buFont typeface="Arial" panose="020B0604020202020204" pitchFamily="34" charset="0"/>
              <a:buChar char="•"/>
            </a:pPr>
            <a:r>
              <a:rPr lang="en-US" sz="1800" dirty="0">
                <a:latin typeface="Nadeem" pitchFamily="2" charset="-78"/>
                <a:cs typeface="Nadeem" pitchFamily="2" charset="-78"/>
              </a:rPr>
              <a:t>Supports climate change analysis in Lebanon </a:t>
            </a:r>
          </a:p>
          <a:p>
            <a:pPr>
              <a:buFont typeface="Arial" panose="020B0604020202020204" pitchFamily="34" charset="0"/>
              <a:buChar char="•"/>
            </a:pPr>
            <a:endParaRPr lang="en-US" sz="1800" dirty="0">
              <a:latin typeface="Nadeem" pitchFamily="2" charset="-78"/>
              <a:cs typeface="Nadeem" pitchFamily="2" charset="-78"/>
            </a:endParaRPr>
          </a:p>
          <a:p>
            <a:endParaRPr lang="en-US" sz="1800" dirty="0">
              <a:latin typeface="Nadeem" pitchFamily="2" charset="-78"/>
              <a:cs typeface="Nadeem" pitchFamily="2" charset="-78"/>
            </a:endParaRPr>
          </a:p>
          <a:p>
            <a:r>
              <a:rPr lang="en-US" sz="1800" b="1" dirty="0">
                <a:latin typeface="Nadeem" pitchFamily="2" charset="-78"/>
                <a:cs typeface="Nadeem" pitchFamily="2" charset="-78"/>
              </a:rPr>
              <a:t>Societal Impact</a:t>
            </a:r>
          </a:p>
          <a:p>
            <a:pPr marL="285750" indent="-285750">
              <a:buFont typeface="Arial" panose="020B0604020202020204" pitchFamily="34" charset="0"/>
              <a:buChar char="•"/>
            </a:pPr>
            <a:r>
              <a:rPr lang="en-US" sz="1800" dirty="0">
                <a:latin typeface="Nadeem" pitchFamily="2" charset="-78"/>
                <a:cs typeface="Nadeem" pitchFamily="2" charset="-78"/>
              </a:rPr>
              <a:t>Better preparedness for snowfall events </a:t>
            </a:r>
          </a:p>
          <a:p>
            <a:pPr marL="285750" indent="-285750">
              <a:buFont typeface="Arial" panose="020B0604020202020204" pitchFamily="34" charset="0"/>
              <a:buChar char="•"/>
            </a:pPr>
            <a:r>
              <a:rPr lang="en-US" sz="1800" dirty="0">
                <a:latin typeface="Nadeem" pitchFamily="2" charset="-78"/>
                <a:cs typeface="Nadeem" pitchFamily="2" charset="-78"/>
              </a:rPr>
              <a:t>Supports road safety &amp; accessibility </a:t>
            </a:r>
          </a:p>
          <a:p>
            <a:pPr marL="285750" indent="-285750">
              <a:buFont typeface="Arial" panose="020B0604020202020204" pitchFamily="34" charset="0"/>
              <a:buChar char="•"/>
            </a:pPr>
            <a:r>
              <a:rPr lang="en-US" sz="1800" dirty="0">
                <a:latin typeface="Nadeem" pitchFamily="2" charset="-78"/>
                <a:cs typeface="Nadeem" pitchFamily="2" charset="-78"/>
              </a:rPr>
              <a:t>Helps authorities in decision-making </a:t>
            </a:r>
          </a:p>
          <a:p>
            <a:endParaRPr lang="en-US" sz="1800" b="1" dirty="0">
              <a:latin typeface="Nadeem" pitchFamily="2" charset="-78"/>
              <a:cs typeface="Nadeem" pitchFamily="2" charset="-78"/>
            </a:endParaRPr>
          </a:p>
          <a:p>
            <a:endParaRPr lang="en-US" sz="1800" b="1" dirty="0">
              <a:latin typeface="Nadeem" pitchFamily="2" charset="-78"/>
              <a:cs typeface="Nadeem" pitchFamily="2" charset="-78"/>
            </a:endParaRPr>
          </a:p>
          <a:p>
            <a:r>
              <a:rPr lang="en-US" sz="1800" b="1" dirty="0">
                <a:latin typeface="Nadeem" pitchFamily="2" charset="-78"/>
                <a:cs typeface="Nadeem" pitchFamily="2" charset="-78"/>
              </a:rPr>
              <a:t>Economic Impact</a:t>
            </a:r>
          </a:p>
          <a:p>
            <a:pPr marL="285750" indent="-285750">
              <a:buFont typeface="Arial" panose="020B0604020202020204" pitchFamily="34" charset="0"/>
              <a:buChar char="•"/>
            </a:pPr>
            <a:r>
              <a:rPr lang="en-US" sz="1800" dirty="0">
                <a:latin typeface="Nadeem" pitchFamily="2" charset="-78"/>
                <a:cs typeface="Nadeem" pitchFamily="2" charset="-78"/>
              </a:rPr>
              <a:t>Supports winter tourism (ski resorts) </a:t>
            </a:r>
          </a:p>
          <a:p>
            <a:pPr marL="285750" indent="-285750">
              <a:buFont typeface="Arial" panose="020B0604020202020204" pitchFamily="34" charset="0"/>
              <a:buChar char="•"/>
            </a:pPr>
            <a:r>
              <a:rPr lang="en-US" sz="1800" dirty="0">
                <a:latin typeface="Nadeem" pitchFamily="2" charset="-78"/>
                <a:cs typeface="Nadeem" pitchFamily="2" charset="-78"/>
              </a:rPr>
              <a:t>Helps agriculture planning (water from snowmelt) </a:t>
            </a:r>
          </a:p>
          <a:p>
            <a:pPr marL="285750" indent="-285750">
              <a:buFont typeface="Arial" panose="020B0604020202020204" pitchFamily="34" charset="0"/>
              <a:buChar char="•"/>
            </a:pPr>
            <a:r>
              <a:rPr lang="en-US" sz="1800" dirty="0">
                <a:latin typeface="Nadeem" pitchFamily="2" charset="-78"/>
                <a:cs typeface="Nadeem" pitchFamily="2" charset="-78"/>
              </a:rPr>
              <a:t>Reduces uncertainty in resource management </a:t>
            </a:r>
          </a:p>
          <a:p>
            <a:endParaRPr lang="en-US" sz="1800" dirty="0">
              <a:latin typeface="Nadeem" pitchFamily="2" charset="-78"/>
              <a:cs typeface="Nadeem" pitchFamily="2" charset="-78"/>
            </a:endParaRPr>
          </a:p>
        </p:txBody>
      </p:sp>
      <p:sp>
        <p:nvSpPr>
          <p:cNvPr id="11" name="Date Placeholder 3">
            <a:extLst>
              <a:ext uri="{FF2B5EF4-FFF2-40B4-BE49-F238E27FC236}">
                <a16:creationId xmlns:a16="http://schemas.microsoft.com/office/drawing/2014/main" id="{63599F89-4E1A-00D5-A46F-8A09CB5AC72B}"/>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A99924B0-E59B-ECDF-4438-E2B07EAC8F82}"/>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1026" name="Picture 2" descr="Black And White Earth Clipart | Design Bundles">
            <a:extLst>
              <a:ext uri="{FF2B5EF4-FFF2-40B4-BE49-F238E27FC236}">
                <a16:creationId xmlns:a16="http://schemas.microsoft.com/office/drawing/2014/main" id="{7FEB94A5-ADB6-C8D8-D582-C1B56CA031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273" t="2083" r="9091" b="2083"/>
          <a:stretch/>
        </p:blipFill>
        <p:spPr bwMode="auto">
          <a:xfrm>
            <a:off x="716334" y="1345177"/>
            <a:ext cx="906872" cy="9104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771 Community Organization Clip Art High Res Illustrations - Getty Images">
            <a:extLst>
              <a:ext uri="{FF2B5EF4-FFF2-40B4-BE49-F238E27FC236}">
                <a16:creationId xmlns:a16="http://schemas.microsoft.com/office/drawing/2014/main" id="{8468771C-A726-65CB-B158-5244688B18E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768" t="9697" r="56060" b="57575"/>
          <a:stretch/>
        </p:blipFill>
        <p:spPr bwMode="auto">
          <a:xfrm>
            <a:off x="622054" y="3031245"/>
            <a:ext cx="1030398" cy="90719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conomics Black White: Over 45,456 Royalty-Free Licensable Stock  Illustrations &amp; Drawings | Shutterstock">
            <a:extLst>
              <a:ext uri="{FF2B5EF4-FFF2-40B4-BE49-F238E27FC236}">
                <a16:creationId xmlns:a16="http://schemas.microsoft.com/office/drawing/2014/main" id="{1391D4B4-E04F-47D8-936B-DB1A8D37121A}"/>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2692" t="13182" r="56923" b="19804"/>
          <a:stretch/>
        </p:blipFill>
        <p:spPr bwMode="auto">
          <a:xfrm>
            <a:off x="719039" y="4583687"/>
            <a:ext cx="904167" cy="10737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2225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680017"/>
            <a:ext cx="8229599" cy="747713"/>
          </a:xfrm>
        </p:spPr>
        <p:txBody>
          <a:bodyPr/>
          <a:lstStyle/>
          <a:p>
            <a:r>
              <a:rPr lang="en-US" sz="3600" dirty="0">
                <a:solidFill>
                  <a:srgbClr val="0A1C72"/>
                </a:solidFill>
                <a:latin typeface="Nadeem" pitchFamily="2" charset="-78"/>
                <a:ea typeface="ＭＳ Ｐゴシック" charset="-128"/>
                <a:cs typeface="Nadeem" pitchFamily="2" charset="-78"/>
              </a:rPr>
              <a:t>Limitations &amp; Future Work</a:t>
            </a:r>
          </a:p>
        </p:txBody>
      </p:sp>
      <p:sp>
        <p:nvSpPr>
          <p:cNvPr id="6" name="Slide Number Placeholder 5"/>
          <p:cNvSpPr>
            <a:spLocks noGrp="1"/>
          </p:cNvSpPr>
          <p:nvPr>
            <p:ph type="sldNum" sz="quarter" idx="12"/>
          </p:nvPr>
        </p:nvSpPr>
        <p:spPr/>
        <p:txBody>
          <a:bodyPr/>
          <a:lstStyle/>
          <a:p>
            <a:fld id="{7F40025E-8A47-7E48-AA2F-82A25E5E3F97}" type="slidenum">
              <a:rPr lang="en-US" altLang="en-US" smtClean="0"/>
              <a:pPr/>
              <a:t>22</a:t>
            </a:fld>
            <a:endParaRPr lang="en-US" altLang="en-US" dirty="0"/>
          </a:p>
        </p:txBody>
      </p:sp>
      <p:sp>
        <p:nvSpPr>
          <p:cNvPr id="10" name="TextBox 9">
            <a:extLst>
              <a:ext uri="{FF2B5EF4-FFF2-40B4-BE49-F238E27FC236}">
                <a16:creationId xmlns:a16="http://schemas.microsoft.com/office/drawing/2014/main" id="{8E866995-B07C-DFEB-4070-E5ED581CCCEF}"/>
              </a:ext>
            </a:extLst>
          </p:cNvPr>
          <p:cNvSpPr txBox="1"/>
          <p:nvPr/>
        </p:nvSpPr>
        <p:spPr>
          <a:xfrm>
            <a:off x="273349" y="1867671"/>
            <a:ext cx="4128011" cy="3339376"/>
          </a:xfrm>
          <a:prstGeom prst="rect">
            <a:avLst/>
          </a:prstGeom>
          <a:noFill/>
        </p:spPr>
        <p:txBody>
          <a:bodyPr wrap="square">
            <a:spAutoFit/>
          </a:bodyPr>
          <a:lstStyle/>
          <a:p>
            <a:r>
              <a:rPr lang="en-US" sz="2800" b="1" dirty="0">
                <a:latin typeface="Nadeem" pitchFamily="2" charset="-78"/>
                <a:cs typeface="Nadeem" pitchFamily="2" charset="-78"/>
              </a:rPr>
              <a:t>              </a:t>
            </a:r>
            <a:r>
              <a:rPr lang="en-US" sz="2800" b="1" dirty="0">
                <a:solidFill>
                  <a:srgbClr val="C00000"/>
                </a:solidFill>
                <a:latin typeface="Nadeem" pitchFamily="2" charset="-78"/>
                <a:cs typeface="Nadeem" pitchFamily="2" charset="-78"/>
              </a:rPr>
              <a:t>Limitations</a:t>
            </a:r>
            <a:r>
              <a:rPr lang="en-US" sz="2800" b="1" dirty="0">
                <a:latin typeface="Nadeem" pitchFamily="2" charset="-78"/>
                <a:cs typeface="Nadeem" pitchFamily="2" charset="-78"/>
              </a:rPr>
              <a:t> </a:t>
            </a:r>
          </a:p>
          <a:p>
            <a:endParaRPr lang="en-US" sz="1800" b="1" i="1" dirty="0">
              <a:latin typeface="Nadeem" pitchFamily="2" charset="-78"/>
              <a:cs typeface="Nadeem" pitchFamily="2" charset="-78"/>
            </a:endParaRPr>
          </a:p>
          <a:p>
            <a:endParaRPr lang="en-US" sz="1050" b="1" i="1" dirty="0">
              <a:latin typeface="Nadeem" pitchFamily="2" charset="-78"/>
              <a:cs typeface="Nadeem" pitchFamily="2" charset="-78"/>
            </a:endParaRPr>
          </a:p>
          <a:p>
            <a:endParaRPr lang="en-US" sz="1050" b="1" i="1" dirty="0">
              <a:latin typeface="Nadeem" pitchFamily="2" charset="-78"/>
              <a:cs typeface="Nadeem" pitchFamily="2" charset="-78"/>
            </a:endParaRPr>
          </a:p>
          <a:p>
            <a:pPr marL="285750" indent="-285750">
              <a:buFont typeface="Arial" panose="020B0604020202020204" pitchFamily="34" charset="0"/>
              <a:buChar char="•"/>
            </a:pPr>
            <a:r>
              <a:rPr lang="en-US" sz="1800" dirty="0">
                <a:latin typeface="Nadeem" pitchFamily="2" charset="-78"/>
                <a:cs typeface="Nadeem" pitchFamily="2" charset="-78"/>
              </a:rPr>
              <a:t>Trade-off between sequence lengths (6 vs 8 weeks) </a:t>
            </a:r>
          </a:p>
          <a:p>
            <a:pPr marL="285750" indent="-285750">
              <a:buFont typeface="Arial" panose="020B0604020202020204" pitchFamily="34" charset="0"/>
              <a:buChar char="•"/>
            </a:pPr>
            <a:r>
              <a:rPr lang="en-US" sz="1800" dirty="0">
                <a:latin typeface="Nadeem" pitchFamily="2" charset="-78"/>
                <a:cs typeface="Nadeem" pitchFamily="2" charset="-78"/>
              </a:rPr>
              <a:t>Limited temporal coverage of Sentinel-2 data </a:t>
            </a:r>
          </a:p>
          <a:p>
            <a:pPr marL="285750" indent="-285750">
              <a:buFont typeface="Arial" panose="020B0604020202020204" pitchFamily="34" charset="0"/>
              <a:buChar char="•"/>
            </a:pPr>
            <a:r>
              <a:rPr lang="en-US" sz="1800" dirty="0">
                <a:latin typeface="Nadeem" pitchFamily="2" charset="-78"/>
                <a:cs typeface="Nadeem" pitchFamily="2" charset="-78"/>
              </a:rPr>
              <a:t>Difficulty capturing extreme snow peaks </a:t>
            </a:r>
          </a:p>
          <a:p>
            <a:pPr marL="285750" indent="-285750">
              <a:buFont typeface="Arial" panose="020B0604020202020204" pitchFamily="34" charset="0"/>
              <a:buChar char="•"/>
            </a:pPr>
            <a:r>
              <a:rPr lang="en-US" sz="1800" dirty="0">
                <a:latin typeface="Nadeem" pitchFamily="2" charset="-78"/>
                <a:cs typeface="Nadeem" pitchFamily="2" charset="-78"/>
              </a:rPr>
              <a:t>Evaluation focused on MAE &amp; RMSE</a:t>
            </a:r>
          </a:p>
          <a:p>
            <a:pPr marL="285750" indent="-285750">
              <a:buFont typeface="Arial" panose="020B0604020202020204" pitchFamily="34" charset="0"/>
              <a:buChar char="•"/>
            </a:pPr>
            <a:r>
              <a:rPr lang="en-US" sz="1800" dirty="0">
                <a:latin typeface="Nadeem" pitchFamily="2" charset="-78"/>
                <a:cs typeface="Nadeem" pitchFamily="2" charset="-78"/>
              </a:rPr>
              <a:t>Project scope constrained by time</a:t>
            </a:r>
          </a:p>
        </p:txBody>
      </p:sp>
      <p:sp>
        <p:nvSpPr>
          <p:cNvPr id="11" name="Date Placeholder 3">
            <a:extLst>
              <a:ext uri="{FF2B5EF4-FFF2-40B4-BE49-F238E27FC236}">
                <a16:creationId xmlns:a16="http://schemas.microsoft.com/office/drawing/2014/main" id="{63599F89-4E1A-00D5-A46F-8A09CB5AC72B}"/>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A99924B0-E59B-ECDF-4438-E2B07EAC8F82}"/>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sp>
        <p:nvSpPr>
          <p:cNvPr id="13" name="TextBox 12">
            <a:extLst>
              <a:ext uri="{FF2B5EF4-FFF2-40B4-BE49-F238E27FC236}">
                <a16:creationId xmlns:a16="http://schemas.microsoft.com/office/drawing/2014/main" id="{F18362FA-7D8D-D6F8-0B88-D1D1D71A5076}"/>
              </a:ext>
            </a:extLst>
          </p:cNvPr>
          <p:cNvSpPr txBox="1"/>
          <p:nvPr/>
        </p:nvSpPr>
        <p:spPr>
          <a:xfrm>
            <a:off x="4755850" y="1867671"/>
            <a:ext cx="4114801" cy="3300904"/>
          </a:xfrm>
          <a:prstGeom prst="rect">
            <a:avLst/>
          </a:prstGeom>
          <a:noFill/>
        </p:spPr>
        <p:txBody>
          <a:bodyPr wrap="square">
            <a:spAutoFit/>
          </a:bodyPr>
          <a:lstStyle/>
          <a:p>
            <a:r>
              <a:rPr lang="en-US" sz="2800" b="1" dirty="0">
                <a:latin typeface="Nadeem" pitchFamily="2" charset="-78"/>
                <a:cs typeface="Nadeem" pitchFamily="2" charset="-78"/>
              </a:rPr>
              <a:t>               </a:t>
            </a:r>
            <a:r>
              <a:rPr lang="en-US" sz="2800" b="1" dirty="0">
                <a:solidFill>
                  <a:schemeClr val="accent3">
                    <a:lumMod val="75000"/>
                  </a:schemeClr>
                </a:solidFill>
                <a:latin typeface="Nadeem" pitchFamily="2" charset="-78"/>
                <a:cs typeface="Nadeem" pitchFamily="2" charset="-78"/>
              </a:rPr>
              <a:t>Future Work</a:t>
            </a:r>
          </a:p>
          <a:p>
            <a:endParaRPr lang="en-US" sz="1050" b="1" dirty="0">
              <a:latin typeface="Nadeem" pitchFamily="2" charset="-78"/>
              <a:cs typeface="Nadeem" pitchFamily="2" charset="-78"/>
            </a:endParaRPr>
          </a:p>
          <a:p>
            <a:endParaRPr lang="en-US" sz="1400" b="1" dirty="0">
              <a:latin typeface="Nadeem" pitchFamily="2" charset="-78"/>
              <a:cs typeface="Nadeem" pitchFamily="2" charset="-78"/>
            </a:endParaRPr>
          </a:p>
          <a:p>
            <a:endParaRPr lang="en-US" sz="1200" b="1" dirty="0">
              <a:latin typeface="Nadeem" pitchFamily="2" charset="-78"/>
              <a:cs typeface="Nadeem" pitchFamily="2" charset="-78"/>
            </a:endParaRPr>
          </a:p>
          <a:p>
            <a:pPr marL="285750" indent="-285750">
              <a:buFont typeface="Arial" panose="020B0604020202020204" pitchFamily="34" charset="0"/>
              <a:buChar char="•"/>
            </a:pPr>
            <a:r>
              <a:rPr lang="en-US" sz="1800" dirty="0">
                <a:latin typeface="Nadeem" pitchFamily="2" charset="-78"/>
                <a:cs typeface="Nadeem" pitchFamily="2" charset="-78"/>
              </a:rPr>
              <a:t>Hybrid model combining Sentinel-2 + MODIS </a:t>
            </a:r>
          </a:p>
          <a:p>
            <a:pPr marL="285750" indent="-285750">
              <a:buFont typeface="Arial" panose="020B0604020202020204" pitchFamily="34" charset="0"/>
              <a:buChar char="•"/>
            </a:pPr>
            <a:r>
              <a:rPr lang="en-US" sz="1800" dirty="0">
                <a:latin typeface="Nadeem" pitchFamily="2" charset="-78"/>
                <a:cs typeface="Nadeem" pitchFamily="2" charset="-78"/>
              </a:rPr>
              <a:t>Advanced architectures (Attention / Transformers) </a:t>
            </a:r>
          </a:p>
          <a:p>
            <a:pPr marL="285750" indent="-285750">
              <a:buFont typeface="Arial" panose="020B0604020202020204" pitchFamily="34" charset="0"/>
              <a:buChar char="•"/>
            </a:pPr>
            <a:r>
              <a:rPr lang="en-US" sz="1800" dirty="0">
                <a:latin typeface="Nadeem" pitchFamily="2" charset="-78"/>
                <a:cs typeface="Nadeem" pitchFamily="2" charset="-78"/>
              </a:rPr>
              <a:t>Additional evaluation metrics </a:t>
            </a:r>
          </a:p>
          <a:p>
            <a:pPr marL="285750" indent="-285750">
              <a:buFont typeface="Arial" panose="020B0604020202020204" pitchFamily="34" charset="0"/>
              <a:buChar char="•"/>
            </a:pPr>
            <a:r>
              <a:rPr lang="en-US" sz="1800" dirty="0">
                <a:latin typeface="Nadeem" pitchFamily="2" charset="-78"/>
                <a:cs typeface="Nadeem" pitchFamily="2" charset="-78"/>
              </a:rPr>
              <a:t>Extend dataset </a:t>
            </a:r>
          </a:p>
          <a:p>
            <a:pPr marL="285750" indent="-285750">
              <a:buFont typeface="Arial" panose="020B0604020202020204" pitchFamily="34" charset="0"/>
              <a:buChar char="•"/>
            </a:pPr>
            <a:r>
              <a:rPr lang="en-US" sz="1800" dirty="0">
                <a:latin typeface="Nadeem" pitchFamily="2" charset="-78"/>
                <a:cs typeface="Nadeem" pitchFamily="2" charset="-78"/>
              </a:rPr>
              <a:t>Integrate physical constraints into ML models </a:t>
            </a:r>
          </a:p>
        </p:txBody>
      </p:sp>
      <p:cxnSp>
        <p:nvCxnSpPr>
          <p:cNvPr id="5" name="Straight Connector 4">
            <a:extLst>
              <a:ext uri="{FF2B5EF4-FFF2-40B4-BE49-F238E27FC236}">
                <a16:creationId xmlns:a16="http://schemas.microsoft.com/office/drawing/2014/main" id="{0E08B0E3-B3A4-6C86-0F70-01DC292A845C}"/>
              </a:ext>
            </a:extLst>
          </p:cNvPr>
          <p:cNvCxnSpPr>
            <a:cxnSpLocks/>
          </p:cNvCxnSpPr>
          <p:nvPr/>
        </p:nvCxnSpPr>
        <p:spPr>
          <a:xfrm>
            <a:off x="4571999" y="2923309"/>
            <a:ext cx="0" cy="2245266"/>
          </a:xfrm>
          <a:prstGeom prst="line">
            <a:avLst/>
          </a:prstGeom>
          <a:ln w="19050">
            <a:solidFill>
              <a:schemeClr val="bg2">
                <a:lumMod val="75000"/>
              </a:schemeClr>
            </a:solidFill>
          </a:ln>
        </p:spPr>
        <p:style>
          <a:lnRef idx="1">
            <a:schemeClr val="dk1"/>
          </a:lnRef>
          <a:fillRef idx="0">
            <a:schemeClr val="dk1"/>
          </a:fillRef>
          <a:effectRef idx="0">
            <a:schemeClr val="dk1"/>
          </a:effectRef>
          <a:fontRef idx="minor">
            <a:schemeClr val="tx1"/>
          </a:fontRef>
        </p:style>
      </p:cxnSp>
      <p:pic>
        <p:nvPicPr>
          <p:cNvPr id="4098" name="Picture 2" descr="261,400+ Attention Stock Illustrations, Royalty-Free Vector Graphics &amp; Clip  Art - iStock | Paying attention, Attention please, Focus">
            <a:extLst>
              <a:ext uri="{FF2B5EF4-FFF2-40B4-BE49-F238E27FC236}">
                <a16:creationId xmlns:a16="http://schemas.microsoft.com/office/drawing/2014/main" id="{C65AF966-D27F-6487-2E11-1195CD228C6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303" t="24647" r="20537" b="22217"/>
          <a:stretch/>
        </p:blipFill>
        <p:spPr bwMode="auto">
          <a:xfrm>
            <a:off x="528696" y="1602087"/>
            <a:ext cx="811644" cy="729007"/>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Rocket launch vector Black and White Stock Photos &amp; Images - Page 3 - Alamy">
            <a:extLst>
              <a:ext uri="{FF2B5EF4-FFF2-40B4-BE49-F238E27FC236}">
                <a16:creationId xmlns:a16="http://schemas.microsoft.com/office/drawing/2014/main" id="{9F43938A-0626-B586-8E89-2DC969B9327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3509" t="9856" r="18788" b="22789"/>
          <a:stretch/>
        </p:blipFill>
        <p:spPr bwMode="auto">
          <a:xfrm>
            <a:off x="4866184" y="1629797"/>
            <a:ext cx="1203185" cy="7477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7181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3200" dirty="0">
                <a:solidFill>
                  <a:srgbClr val="0A1C72"/>
                </a:solidFill>
                <a:latin typeface="Nadeem" pitchFamily="2" charset="-78"/>
                <a:ea typeface="ＭＳ Ｐゴシック" charset="-128"/>
                <a:cs typeface="Nadeem" pitchFamily="2" charset="-78"/>
              </a:rPr>
              <a:t>Conclusion</a:t>
            </a:r>
          </a:p>
        </p:txBody>
      </p:sp>
      <p:sp>
        <p:nvSpPr>
          <p:cNvPr id="6" name="Slide Number Placeholder 5"/>
          <p:cNvSpPr>
            <a:spLocks noGrp="1"/>
          </p:cNvSpPr>
          <p:nvPr>
            <p:ph type="sldNum" sz="quarter" idx="12"/>
          </p:nvPr>
        </p:nvSpPr>
        <p:spPr/>
        <p:txBody>
          <a:bodyPr/>
          <a:lstStyle/>
          <a:p>
            <a:fld id="{7F40025E-8A47-7E48-AA2F-82A25E5E3F97}" type="slidenum">
              <a:rPr lang="fr-FR" altLang="en-US" smtClean="0"/>
              <a:pPr/>
              <a:t>23</a:t>
            </a:fld>
            <a:endParaRPr lang="fr-FR" altLang="en-US"/>
          </a:p>
        </p:txBody>
      </p:sp>
      <p:sp>
        <p:nvSpPr>
          <p:cNvPr id="10" name="TextBox 9">
            <a:extLst>
              <a:ext uri="{FF2B5EF4-FFF2-40B4-BE49-F238E27FC236}">
                <a16:creationId xmlns:a16="http://schemas.microsoft.com/office/drawing/2014/main" id="{CC47EBD0-2090-41F5-8730-AB6C2657940C}"/>
              </a:ext>
            </a:extLst>
          </p:cNvPr>
          <p:cNvSpPr txBox="1"/>
          <p:nvPr/>
        </p:nvSpPr>
        <p:spPr>
          <a:xfrm>
            <a:off x="1675224" y="1200968"/>
            <a:ext cx="8033657" cy="5182188"/>
          </a:xfrm>
          <a:prstGeom prst="rect">
            <a:avLst/>
          </a:prstGeom>
          <a:noFill/>
        </p:spPr>
        <p:txBody>
          <a:bodyPr wrap="square">
            <a:spAutoFit/>
          </a:bodyPr>
          <a:lstStyle/>
          <a:p>
            <a:pPr>
              <a:lnSpc>
                <a:spcPct val="150000"/>
              </a:lnSpc>
            </a:pPr>
            <a:r>
              <a:rPr lang="en-US" sz="1800" b="1" dirty="0">
                <a:latin typeface="Nadeem" pitchFamily="2" charset="-78"/>
                <a:cs typeface="Nadeem" pitchFamily="2" charset="-78"/>
              </a:rPr>
              <a:t>Key Achievements</a:t>
            </a:r>
          </a:p>
          <a:p>
            <a:pPr marL="285750" indent="-285750">
              <a:lnSpc>
                <a:spcPct val="150000"/>
              </a:lnSpc>
              <a:buFont typeface="Arial" panose="020B0604020202020204" pitchFamily="34" charset="0"/>
              <a:buChar char="•"/>
            </a:pPr>
            <a:r>
              <a:rPr lang="en-US" sz="1800" dirty="0">
                <a:latin typeface="Nadeem" pitchFamily="2" charset="-78"/>
                <a:cs typeface="Nadeem" pitchFamily="2" charset="-78"/>
              </a:rPr>
              <a:t>Built a complete snow forecasting pipeline </a:t>
            </a:r>
          </a:p>
          <a:p>
            <a:pPr marL="285750" indent="-285750">
              <a:lnSpc>
                <a:spcPct val="150000"/>
              </a:lnSpc>
              <a:buFont typeface="Arial" panose="020B0604020202020204" pitchFamily="34" charset="0"/>
              <a:buChar char="•"/>
            </a:pPr>
            <a:r>
              <a:rPr lang="en-US" sz="1800" dirty="0">
                <a:latin typeface="Nadeem" pitchFamily="2" charset="-78"/>
                <a:cs typeface="Nadeem" pitchFamily="2" charset="-78"/>
              </a:rPr>
              <a:t>Integrated multi-source data (Sentinel-2, MODIS, ERA5) </a:t>
            </a:r>
          </a:p>
          <a:p>
            <a:pPr marL="285750" indent="-285750">
              <a:lnSpc>
                <a:spcPct val="150000"/>
              </a:lnSpc>
              <a:buFont typeface="Arial" panose="020B0604020202020204" pitchFamily="34" charset="0"/>
              <a:buChar char="•"/>
            </a:pPr>
            <a:r>
              <a:rPr lang="en-US" sz="1800" dirty="0">
                <a:latin typeface="Nadeem" pitchFamily="2" charset="-78"/>
                <a:cs typeface="Nadeem" pitchFamily="2" charset="-78"/>
              </a:rPr>
              <a:t>Developed and optimized an LSTM model </a:t>
            </a:r>
          </a:p>
          <a:p>
            <a:pPr marL="285750" indent="-285750">
              <a:lnSpc>
                <a:spcPct val="150000"/>
              </a:lnSpc>
              <a:buFont typeface="Arial" panose="020B0604020202020204" pitchFamily="34" charset="0"/>
              <a:buChar char="•"/>
            </a:pPr>
            <a:r>
              <a:rPr lang="en-US" sz="1800" dirty="0">
                <a:latin typeface="Nadeem" pitchFamily="2" charset="-78"/>
                <a:cs typeface="Nadeem" pitchFamily="2" charset="-78"/>
              </a:rPr>
              <a:t>Outperformed baseline methods </a:t>
            </a:r>
          </a:p>
          <a:p>
            <a:pPr>
              <a:lnSpc>
                <a:spcPct val="150000"/>
              </a:lnSpc>
            </a:pPr>
            <a:endParaRPr lang="en-US" sz="1200" b="1" dirty="0">
              <a:latin typeface="Nadeem" pitchFamily="2" charset="-78"/>
              <a:cs typeface="Nadeem" pitchFamily="2" charset="-78"/>
            </a:endParaRPr>
          </a:p>
          <a:p>
            <a:pPr>
              <a:lnSpc>
                <a:spcPct val="150000"/>
              </a:lnSpc>
            </a:pPr>
            <a:endParaRPr lang="en-US" sz="1800" b="1" dirty="0">
              <a:latin typeface="Nadeem" pitchFamily="2" charset="-78"/>
              <a:cs typeface="Nadeem" pitchFamily="2" charset="-78"/>
            </a:endParaRPr>
          </a:p>
          <a:p>
            <a:pPr>
              <a:lnSpc>
                <a:spcPct val="150000"/>
              </a:lnSpc>
            </a:pPr>
            <a:r>
              <a:rPr lang="en-US" sz="1800" b="1" dirty="0">
                <a:latin typeface="Nadeem" pitchFamily="2" charset="-78"/>
                <a:cs typeface="Nadeem" pitchFamily="2" charset="-78"/>
              </a:rPr>
              <a:t>Main Findings</a:t>
            </a:r>
          </a:p>
          <a:p>
            <a:pPr marL="285750" indent="-285750">
              <a:lnSpc>
                <a:spcPct val="150000"/>
              </a:lnSpc>
              <a:buFont typeface="Arial" panose="020B0604020202020204" pitchFamily="34" charset="0"/>
              <a:buChar char="•"/>
            </a:pPr>
            <a:r>
              <a:rPr lang="en-US" sz="1800" dirty="0">
                <a:latin typeface="Nadeem" pitchFamily="2" charset="-78"/>
                <a:cs typeface="Nadeem" pitchFamily="2" charset="-78"/>
              </a:rPr>
              <a:t>Snow dynamics are complex and nonlinear </a:t>
            </a:r>
          </a:p>
          <a:p>
            <a:pPr marL="285750" indent="-285750">
              <a:lnSpc>
                <a:spcPct val="150000"/>
              </a:lnSpc>
              <a:buFont typeface="Arial" panose="020B0604020202020204" pitchFamily="34" charset="0"/>
              <a:buChar char="•"/>
            </a:pPr>
            <a:r>
              <a:rPr lang="en-US" sz="1800" dirty="0">
                <a:latin typeface="Nadeem" pitchFamily="2" charset="-78"/>
                <a:cs typeface="Nadeem" pitchFamily="2" charset="-78"/>
              </a:rPr>
              <a:t>Trade-off between accuracy and realism </a:t>
            </a:r>
          </a:p>
          <a:p>
            <a:pPr marL="285750" indent="-285750">
              <a:lnSpc>
                <a:spcPct val="150000"/>
              </a:lnSpc>
              <a:buFont typeface="Arial" panose="020B0604020202020204" pitchFamily="34" charset="0"/>
              <a:buChar char="•"/>
            </a:pPr>
            <a:r>
              <a:rPr lang="en-US" sz="1800" dirty="0">
                <a:latin typeface="Nadeem" pitchFamily="2" charset="-78"/>
                <a:cs typeface="Nadeem" pitchFamily="2" charset="-78"/>
              </a:rPr>
              <a:t>Performance depends on model design, not only data quantity</a:t>
            </a:r>
          </a:p>
          <a:p>
            <a:pPr>
              <a:lnSpc>
                <a:spcPct val="150000"/>
              </a:lnSpc>
              <a:buFont typeface="Arial" panose="020B0604020202020204" pitchFamily="34" charset="0"/>
              <a:buChar char="•"/>
            </a:pPr>
            <a:endParaRPr lang="en-US" sz="1200" dirty="0">
              <a:latin typeface="Nadeem" pitchFamily="2" charset="-78"/>
              <a:cs typeface="Nadeem" pitchFamily="2" charset="-78"/>
            </a:endParaRPr>
          </a:p>
          <a:p>
            <a:pPr>
              <a:lnSpc>
                <a:spcPct val="150000"/>
              </a:lnSpc>
            </a:pPr>
            <a:endParaRPr lang="en-US" sz="1800" dirty="0">
              <a:latin typeface="Nadeem" pitchFamily="2" charset="-78"/>
              <a:cs typeface="Nadeem" pitchFamily="2" charset="-78"/>
            </a:endParaRPr>
          </a:p>
        </p:txBody>
      </p:sp>
      <p:sp>
        <p:nvSpPr>
          <p:cNvPr id="11" name="Date Placeholder 3">
            <a:extLst>
              <a:ext uri="{FF2B5EF4-FFF2-40B4-BE49-F238E27FC236}">
                <a16:creationId xmlns:a16="http://schemas.microsoft.com/office/drawing/2014/main" id="{8509CD44-6CAE-885C-3D23-B95AE92CECA7}"/>
              </a:ext>
            </a:extLst>
          </p:cNvPr>
          <p:cNvSpPr>
            <a:spLocks noGrp="1"/>
          </p:cNvSpPr>
          <p:nvPr>
            <p:ph type="dt" sz="half" idx="10"/>
          </p:nvPr>
        </p:nvSpPr>
        <p:spPr>
          <a:xfrm>
            <a:off x="164125" y="6590810"/>
            <a:ext cx="1071153" cy="365125"/>
          </a:xfrm>
        </p:spPr>
        <p:txBody>
          <a:bodyPr vert="horz" wrap="square" lIns="91440" tIns="45720" rIns="91440" bIns="45720" numCol="1" anchor="t" anchorCtr="0" compatLnSpc="1">
            <a:prstTxWarp prst="textNoShape">
              <a:avLst/>
            </a:prstTxWarp>
            <a:normAutofit/>
          </a:bodyPr>
          <a:lstStyle/>
          <a:p>
            <a:pPr>
              <a:spcAft>
                <a:spcPts val="600"/>
              </a:spcAft>
            </a:pPr>
            <a:r>
              <a:rPr lang="en-US" altLang="en-US" dirty="0"/>
              <a:t>MDP26-19</a:t>
            </a:r>
            <a:endParaRPr lang="fr-FR" altLang="en-US" dirty="0"/>
          </a:p>
        </p:txBody>
      </p:sp>
      <p:sp>
        <p:nvSpPr>
          <p:cNvPr id="12" name="Footer Placeholder 4">
            <a:extLst>
              <a:ext uri="{FF2B5EF4-FFF2-40B4-BE49-F238E27FC236}">
                <a16:creationId xmlns:a16="http://schemas.microsoft.com/office/drawing/2014/main" id="{2EA68DA6-EA80-29D9-094A-0A638A45B975}"/>
              </a:ext>
            </a:extLst>
          </p:cNvPr>
          <p:cNvSpPr txBox="1">
            <a:spLocks/>
          </p:cNvSpPr>
          <p:nvPr/>
        </p:nvSpPr>
        <p:spPr>
          <a:xfrm>
            <a:off x="1487499" y="6590810"/>
            <a:ext cx="5721532" cy="365125"/>
          </a:xfrm>
          <a:prstGeom prst="rect">
            <a:avLst/>
          </a:prstGeom>
        </p:spPr>
        <p:txBody>
          <a:bodyPr/>
          <a:lstStyle>
            <a:defPPr>
              <a:defRPr lang="fr-FR"/>
            </a:defPPr>
            <a:lvl1pPr algn="ctr" defTabSz="457200" rtl="0" fontAlgn="base">
              <a:spcBef>
                <a:spcPct val="0"/>
              </a:spcBef>
              <a:spcAft>
                <a:spcPct val="0"/>
              </a:spcAft>
              <a:defRPr sz="1000" b="0" i="0" kern="1200" dirty="0">
                <a:solidFill>
                  <a:schemeClr val="bg1"/>
                </a:solidFill>
                <a:latin typeface="+mn-lt"/>
                <a:ea typeface="Linux Libertine" charset="0"/>
                <a:cs typeface="Linux Libertine" charset="0"/>
              </a:defRPr>
            </a:lvl1pPr>
            <a:lvl2pPr marL="457200" algn="l" defTabSz="457200" rtl="0" fontAlgn="base">
              <a:spcBef>
                <a:spcPct val="0"/>
              </a:spcBef>
              <a:spcAft>
                <a:spcPct val="0"/>
              </a:spcAft>
              <a:defRPr sz="2400" kern="1200">
                <a:solidFill>
                  <a:schemeClr val="tx1"/>
                </a:solidFill>
                <a:latin typeface="Calibri" charset="0"/>
                <a:ea typeface="ＭＳ Ｐゴシック" charset="-128"/>
                <a:cs typeface="+mn-cs"/>
              </a:defRPr>
            </a:lvl2pPr>
            <a:lvl3pPr marL="914400" algn="l" defTabSz="457200" rtl="0" fontAlgn="base">
              <a:spcBef>
                <a:spcPct val="0"/>
              </a:spcBef>
              <a:spcAft>
                <a:spcPct val="0"/>
              </a:spcAft>
              <a:defRPr sz="2400" kern="1200">
                <a:solidFill>
                  <a:schemeClr val="tx1"/>
                </a:solidFill>
                <a:latin typeface="Calibri" charset="0"/>
                <a:ea typeface="ＭＳ Ｐゴシック" charset="-128"/>
                <a:cs typeface="+mn-cs"/>
              </a:defRPr>
            </a:lvl3pPr>
            <a:lvl4pPr marL="1371600" algn="l" defTabSz="457200" rtl="0" fontAlgn="base">
              <a:spcBef>
                <a:spcPct val="0"/>
              </a:spcBef>
              <a:spcAft>
                <a:spcPct val="0"/>
              </a:spcAft>
              <a:defRPr sz="2400" kern="1200">
                <a:solidFill>
                  <a:schemeClr val="tx1"/>
                </a:solidFill>
                <a:latin typeface="Calibri" charset="0"/>
                <a:ea typeface="ＭＳ Ｐゴシック" charset="-128"/>
                <a:cs typeface="+mn-cs"/>
              </a:defRPr>
            </a:lvl4pPr>
            <a:lvl5pPr marL="1828800" algn="l" defTabSz="457200" rtl="0" fontAlgn="base">
              <a:spcBef>
                <a:spcPct val="0"/>
              </a:spcBef>
              <a:spcAft>
                <a:spcPct val="0"/>
              </a:spcAft>
              <a:defRPr sz="2400" kern="1200">
                <a:solidFill>
                  <a:schemeClr val="tx1"/>
                </a:solidFill>
                <a:latin typeface="Calibri" charset="0"/>
                <a:ea typeface="ＭＳ Ｐゴシック" charset="-128"/>
                <a:cs typeface="+mn-cs"/>
              </a:defRPr>
            </a:lvl5pPr>
            <a:lvl6pPr marL="2286000" algn="l" defTabSz="914400" rtl="0" eaLnBrk="1" latinLnBrk="0" hangingPunct="1">
              <a:defRPr sz="2400" kern="1200">
                <a:solidFill>
                  <a:schemeClr val="tx1"/>
                </a:solidFill>
                <a:latin typeface="Calibri" charset="0"/>
                <a:ea typeface="ＭＳ Ｐゴシック" charset="-128"/>
                <a:cs typeface="+mn-cs"/>
              </a:defRPr>
            </a:lvl6pPr>
            <a:lvl7pPr marL="2743200" algn="l" defTabSz="914400" rtl="0" eaLnBrk="1" latinLnBrk="0" hangingPunct="1">
              <a:defRPr sz="2400" kern="1200">
                <a:solidFill>
                  <a:schemeClr val="tx1"/>
                </a:solidFill>
                <a:latin typeface="Calibri" charset="0"/>
                <a:ea typeface="ＭＳ Ｐゴシック" charset="-128"/>
                <a:cs typeface="+mn-cs"/>
              </a:defRPr>
            </a:lvl7pPr>
            <a:lvl8pPr marL="3200400" algn="l" defTabSz="914400" rtl="0" eaLnBrk="1" latinLnBrk="0" hangingPunct="1">
              <a:defRPr sz="2400" kern="1200">
                <a:solidFill>
                  <a:schemeClr val="tx1"/>
                </a:solidFill>
                <a:latin typeface="Calibri" charset="0"/>
                <a:ea typeface="ＭＳ Ｐゴシック" charset="-128"/>
                <a:cs typeface="+mn-cs"/>
              </a:defRPr>
            </a:lvl8pPr>
            <a:lvl9pPr marL="3657600" algn="l" defTabSz="914400" rtl="0" eaLnBrk="1" latinLnBrk="0" hangingPunct="1">
              <a:defRPr sz="2400" kern="1200">
                <a:solidFill>
                  <a:schemeClr val="tx1"/>
                </a:solidFill>
                <a:latin typeface="Calibri" charset="0"/>
                <a:ea typeface="ＭＳ Ｐゴシック" charset="-128"/>
                <a:cs typeface="+mn-cs"/>
              </a:defRPr>
            </a:lvl9pPr>
          </a:lstStyle>
          <a:p>
            <a:r>
              <a:rPr lang="fr-FR" dirty="0" err="1"/>
              <a:t>SnowFLOWS</a:t>
            </a:r>
            <a:r>
              <a:rPr lang="fr-FR" dirty="0"/>
              <a:t>: </a:t>
            </a:r>
            <a:r>
              <a:rPr lang="fr-FR" dirty="0" err="1"/>
              <a:t>Spatio-Temporal</a:t>
            </a:r>
            <a:r>
              <a:rPr lang="fr-FR" dirty="0"/>
              <a:t> Snow </a:t>
            </a:r>
            <a:r>
              <a:rPr lang="fr-FR" dirty="0" err="1"/>
              <a:t>Forecasting</a:t>
            </a:r>
            <a:r>
              <a:rPr lang="fr-FR" dirty="0"/>
              <a:t> </a:t>
            </a:r>
            <a:r>
              <a:rPr lang="fr-FR" dirty="0" err="1"/>
              <a:t>using</a:t>
            </a:r>
            <a:r>
              <a:rPr lang="fr-FR" dirty="0"/>
              <a:t> Satellite Data</a:t>
            </a:r>
          </a:p>
        </p:txBody>
      </p:sp>
      <p:pic>
        <p:nvPicPr>
          <p:cNvPr id="2050" name="Picture 2" descr="quality badge meda achievement icon outline style black isolated on white  background vector 25785709 Vector Art at Vecteezy">
            <a:extLst>
              <a:ext uri="{FF2B5EF4-FFF2-40B4-BE49-F238E27FC236}">
                <a16:creationId xmlns:a16="http://schemas.microsoft.com/office/drawing/2014/main" id="{3B9EA709-D756-9159-A52F-4C3AED61078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737" t="13131" r="23737" b="14748"/>
          <a:stretch/>
        </p:blipFill>
        <p:spPr bwMode="auto">
          <a:xfrm>
            <a:off x="650696" y="1302447"/>
            <a:ext cx="737655" cy="1012857"/>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Find Out Vector PNG, Vector, PSD, and Clipart With Transparent Background  for Free Download | Pngtree">
            <a:extLst>
              <a:ext uri="{FF2B5EF4-FFF2-40B4-BE49-F238E27FC236}">
                <a16:creationId xmlns:a16="http://schemas.microsoft.com/office/drawing/2014/main" id="{E35E18BF-2255-B932-0A87-049F70E5D1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59" y="4030433"/>
            <a:ext cx="1024528" cy="10245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9305893"/>
      </p:ext>
    </p:extLst>
  </p:cSld>
  <p:clrMapOvr>
    <a:masterClrMapping/>
  </p:clrMapOvr>
</p:sld>
</file>

<file path=ppt/theme/theme1.xml><?xml version="1.0" encoding="utf-8"?>
<a:theme xmlns:a="http://schemas.openxmlformats.org/drawingml/2006/main" name="TemplateDiaporamaIRISA-2016">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echnique">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ゴシック"/>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CAB8970-251B-EF4F-A843-A0A9B55A2F08}" vid="{D267E1DF-F52E-864C-B975-AD389E50AD0D}"/>
    </a:ext>
  </a:extLst>
</a:theme>
</file>

<file path=ppt/theme/theme2.xml><?xml version="1.0" encoding="utf-8"?>
<a:theme xmlns:a="http://schemas.openxmlformats.org/drawingml/2006/main" name="3.page de contenu">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que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CAB8970-251B-EF4F-A843-A0A9B55A2F08}" vid="{39F98AB3-B756-0948-8617-7882C5E0CBEA}"/>
    </a:ext>
  </a:extLst>
</a:theme>
</file>

<file path=ppt/theme/theme3.xml><?xml version="1.0" encoding="utf-8"?>
<a:theme xmlns:a="http://schemas.openxmlformats.org/drawingml/2006/main" name="1_3.page de contenu">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que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CAB8970-251B-EF4F-A843-A0A9B55A2F08}" vid="{04512780-95F0-6B48-83B2-3E88901B3141}"/>
    </a:ext>
  </a:extLst>
</a:theme>
</file>

<file path=ppt/theme/theme4.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Thème Office">
  <a:themeElements>
    <a:clrScheme name="Bureau">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TemplateDiaporamaIRISA-2016</Template>
  <TotalTime>2052</TotalTime>
  <Words>3950</Words>
  <Application>Microsoft Macintosh PowerPoint</Application>
  <PresentationFormat>On-screen Show (4:3)</PresentationFormat>
  <Paragraphs>591</Paragraphs>
  <Slides>23</Slides>
  <Notes>23</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23</vt:i4>
      </vt:variant>
    </vt:vector>
  </HeadingPairs>
  <TitlesOfParts>
    <vt:vector size="35" baseType="lpstr">
      <vt:lpstr>Arial</vt:lpstr>
      <vt:lpstr>Calibri</vt:lpstr>
      <vt:lpstr>Cambria Math</vt:lpstr>
      <vt:lpstr>Courier New</vt:lpstr>
      <vt:lpstr>Myriad Pro Light</vt:lpstr>
      <vt:lpstr>Nadeem</vt:lpstr>
      <vt:lpstr>Symbol</vt:lpstr>
      <vt:lpstr>Times New Roman</vt:lpstr>
      <vt:lpstr>Wingdings</vt:lpstr>
      <vt:lpstr>TemplateDiaporamaIRISA-2016</vt:lpstr>
      <vt:lpstr>3.page de contenu</vt:lpstr>
      <vt:lpstr>1_3.page de contenu</vt:lpstr>
      <vt:lpstr>SnowFLOWS:  Generative Spatio‑Temporal Modelling  of Snow Cover Dynamics  Using Satellite Imagery </vt:lpstr>
      <vt:lpstr>Introduction .Spatio-Temporal Snow Forecasting using Deep Learning and Satellite Data</vt:lpstr>
      <vt:lpstr>Project Objectives and Outcomes</vt:lpstr>
      <vt:lpstr>Project Functional Requirements</vt:lpstr>
      <vt:lpstr>Project Constraints</vt:lpstr>
      <vt:lpstr>Related Works</vt:lpstr>
      <vt:lpstr>Solution Design  Overview</vt:lpstr>
      <vt:lpstr>PowerPoint Presentation</vt:lpstr>
      <vt:lpstr>Project Management</vt:lpstr>
      <vt:lpstr>Solution Implementation Study Area &amp; Data Sources</vt:lpstr>
      <vt:lpstr>Time Series (MODIS/Senti-2)</vt:lpstr>
      <vt:lpstr>Data  Understanding</vt:lpstr>
      <vt:lpstr>PowerPoint Presentation</vt:lpstr>
      <vt:lpstr>PowerPoint Presentation</vt:lpstr>
      <vt:lpstr>LSTM Model &amp; Loss Function Design</vt:lpstr>
      <vt:lpstr>PowerPoint Presentation</vt:lpstr>
      <vt:lpstr>Results of Sequence Length Experiments &amp; Trade-Off</vt:lpstr>
      <vt:lpstr>Results of Sequence Length Experiments &amp; Trade-Off</vt:lpstr>
      <vt:lpstr>PowerPoint Presentation</vt:lpstr>
      <vt:lpstr>Testing, Evaluation and Iterative improvements</vt:lpstr>
      <vt:lpstr>Solution Impact </vt:lpstr>
      <vt:lpstr>Limitations &amp; Future Work</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Samer Lahoud</dc:creator>
  <cp:lastModifiedBy>Reina Taher</cp:lastModifiedBy>
  <cp:revision>28</cp:revision>
  <cp:lastPrinted>2016-08-01T06:28:00Z</cp:lastPrinted>
  <dcterms:created xsi:type="dcterms:W3CDTF">2019-05-04T08:15:08Z</dcterms:created>
  <dcterms:modified xsi:type="dcterms:W3CDTF">2026-04-28T21:18:17Z</dcterms:modified>
</cp:coreProperties>
</file>